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19.jpg" ContentType="image/pn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25"/>
  </p:notesMasterIdLst>
  <p:sldIdLst>
    <p:sldId id="256" r:id="rId2"/>
    <p:sldId id="257" r:id="rId3"/>
    <p:sldId id="259" r:id="rId4"/>
    <p:sldId id="307" r:id="rId5"/>
    <p:sldId id="303" r:id="rId6"/>
    <p:sldId id="284" r:id="rId7"/>
    <p:sldId id="308" r:id="rId8"/>
    <p:sldId id="264" r:id="rId9"/>
    <p:sldId id="288" r:id="rId10"/>
    <p:sldId id="291" r:id="rId11"/>
    <p:sldId id="290" r:id="rId12"/>
    <p:sldId id="294" r:id="rId13"/>
    <p:sldId id="311" r:id="rId14"/>
    <p:sldId id="296" r:id="rId15"/>
    <p:sldId id="297" r:id="rId16"/>
    <p:sldId id="309" r:id="rId17"/>
    <p:sldId id="298" r:id="rId18"/>
    <p:sldId id="299" r:id="rId19"/>
    <p:sldId id="310" r:id="rId20"/>
    <p:sldId id="300" r:id="rId21"/>
    <p:sldId id="304" r:id="rId22"/>
    <p:sldId id="305" r:id="rId23"/>
    <p:sldId id="274" r:id="rId24"/>
  </p:sldIdLst>
  <p:sldSz cx="9144000" cy="5143500" type="screen16x9"/>
  <p:notesSz cx="6858000" cy="9144000"/>
  <p:embeddedFontLst>
    <p:embeddedFont>
      <p:font typeface="Merriweather" panose="020B0600070205080204" charset="0"/>
      <p:regular r:id="rId26"/>
      <p:bold r:id="rId27"/>
      <p:italic r:id="rId28"/>
      <p:boldItalic r:id="rId29"/>
    </p:embeddedFont>
    <p:embeddedFont>
      <p:font typeface="Verdana" panose="020B0604030504040204" pitchFamily="34" charset="0"/>
      <p:regular r:id="rId30"/>
      <p:bold r:id="rId31"/>
      <p:italic r:id="rId32"/>
      <p:boldItalic r:id="rId33"/>
    </p:embeddedFont>
    <p:embeddedFont>
      <p:font typeface="Calibri Light" panose="020F0302020204030204" pitchFamily="34" charset="0"/>
      <p:regular r:id="rId34"/>
      <p:italic r:id="rId35"/>
    </p:embeddedFont>
    <p:embeddedFont>
      <p:font typeface="Merriweather Sans" panose="020B0600070205080204" charset="0"/>
      <p:regular r:id="rId36"/>
      <p:bold r:id="rId37"/>
      <p:italic r:id="rId38"/>
      <p:boldItalic r:id="rId39"/>
    </p:embeddedFont>
    <p:embeddedFont>
      <p:font typeface="Calibri" panose="020F050202020403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02f5639baf_0_6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6" name="Google Shape;66;g102f5639baf_0_6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10303640f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g110303640f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02f5639baf_0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g102f5639baf_0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6579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2623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3544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276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9037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4363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28241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556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02f5639baf_0_7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02f5639baf_0_7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4067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9231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02381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4032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5081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380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118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02f5639baf_0_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02f5639baf_0_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02863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102f5639baf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g102f5639baf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a:spLocks noGrp="1"/>
          </p:cNvSpPr>
          <p:nvPr>
            <p:ph type="pic" idx="2"/>
          </p:nvPr>
        </p:nvSpPr>
        <p:spPr>
          <a:xfrm>
            <a:off x="0" y="-75"/>
            <a:ext cx="9144000" cy="3100500"/>
          </a:xfrm>
          <a:prstGeom prst="rect">
            <a:avLst/>
          </a:prstGeom>
          <a:noFill/>
          <a:ln>
            <a:noFill/>
          </a:ln>
        </p:spPr>
      </p:sp>
      <p:sp>
        <p:nvSpPr>
          <p:cNvPr id="11" name="Google Shape;11;p2"/>
          <p:cNvSpPr/>
          <p:nvPr/>
        </p:nvSpPr>
        <p:spPr>
          <a:xfrm>
            <a:off x="6589508" y="3100347"/>
            <a:ext cx="2554500" cy="2043300"/>
          </a:xfrm>
          <a:prstGeom prst="rect">
            <a:avLst/>
          </a:prstGeom>
          <a:solidFill>
            <a:srgbClr val="587B69"/>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2" name="Google Shape;12;p2"/>
          <p:cNvSpPr/>
          <p:nvPr/>
        </p:nvSpPr>
        <p:spPr>
          <a:xfrm>
            <a:off x="8221680" y="4545380"/>
            <a:ext cx="408000" cy="83700"/>
          </a:xfrm>
          <a:prstGeom prst="rect">
            <a:avLst/>
          </a:prstGeom>
          <a:solidFill>
            <a:srgbClr val="CBD4C5"/>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514350" y="3439300"/>
            <a:ext cx="5155800" cy="1310700"/>
          </a:xfrm>
          <a:prstGeom prst="rect">
            <a:avLst/>
          </a:prstGeom>
        </p:spPr>
        <p:txBody>
          <a:bodyPr spcFirstLastPara="1" wrap="square" lIns="0" tIns="0" rIns="0" bIns="0" anchor="b" anchorCtr="0">
            <a:noAutofit/>
          </a:bodyPr>
          <a:lstStyle>
            <a:lvl1pPr lvl="0" rtl="0">
              <a:spcBef>
                <a:spcPts val="0"/>
              </a:spcBef>
              <a:spcAft>
                <a:spcPts val="0"/>
              </a:spcAft>
              <a:buSzPts val="4500"/>
              <a:buFont typeface="Merriweather"/>
              <a:buNone/>
              <a:defRPr sz="4500">
                <a:latin typeface="Merriweather"/>
                <a:ea typeface="Merriweather"/>
                <a:cs typeface="Merriweather"/>
                <a:sym typeface="Merriweather"/>
              </a:defRPr>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
        <p:cNvGrpSpPr/>
        <p:nvPr/>
      </p:nvGrpSpPr>
      <p:grpSpPr>
        <a:xfrm>
          <a:off x="0" y="0"/>
          <a:ext cx="0" cy="0"/>
          <a:chOff x="0" y="0"/>
          <a:chExt cx="0" cy="0"/>
        </a:xfrm>
      </p:grpSpPr>
      <p:sp>
        <p:nvSpPr>
          <p:cNvPr id="33" name="Google Shape;33;p6"/>
          <p:cNvSpPr/>
          <p:nvPr/>
        </p:nvSpPr>
        <p:spPr>
          <a:xfrm>
            <a:off x="0" y="1998176"/>
            <a:ext cx="9144000" cy="3192975"/>
          </a:xfrm>
          <a:prstGeom prst="rect">
            <a:avLst/>
          </a:prstGeom>
          <a:solidFill>
            <a:srgbClr val="CBD4C5"/>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 name="Google Shape;34;p6"/>
          <p:cNvSpPr/>
          <p:nvPr/>
        </p:nvSpPr>
        <p:spPr>
          <a:xfrm>
            <a:off x="0" y="1998176"/>
            <a:ext cx="4572000" cy="3192975"/>
          </a:xfrm>
          <a:prstGeom prst="rect">
            <a:avLst/>
          </a:prstGeom>
          <a:solidFill>
            <a:srgbClr val="EDECED"/>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body" idx="1"/>
          </p:nvPr>
        </p:nvSpPr>
        <p:spPr>
          <a:xfrm>
            <a:off x="549438" y="2227950"/>
            <a:ext cx="3473100" cy="3418200"/>
          </a:xfrm>
          <a:prstGeom prst="rect">
            <a:avLst/>
          </a:prstGeom>
        </p:spPr>
        <p:txBody>
          <a:bodyPr spcFirstLastPara="1" wrap="square" lIns="0" tIns="0" rIns="0" bIns="0" anchor="t" anchorCtr="0">
            <a:noAutofit/>
          </a:bodyPr>
          <a:lstStyle>
            <a:lvl1pPr marL="457200" lvl="0" indent="-336550" rtl="0">
              <a:spcBef>
                <a:spcPts val="0"/>
              </a:spcBef>
              <a:spcAft>
                <a:spcPts val="0"/>
              </a:spcAft>
              <a:buClr>
                <a:schemeClr val="lt2"/>
              </a:buClr>
              <a:buSzPts val="1700"/>
              <a:buFont typeface="Merriweather"/>
              <a:buChar char="●"/>
              <a:defRPr sz="1700">
                <a:latin typeface="Merriweather"/>
                <a:ea typeface="Merriweather"/>
                <a:cs typeface="Merriweather"/>
                <a:sym typeface="Merriweather"/>
              </a:defRPr>
            </a:lvl1pPr>
            <a:lvl2pPr marL="914400" lvl="1"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2pPr>
            <a:lvl3pPr marL="1371600" lvl="2"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3pPr>
            <a:lvl4pPr marL="1828800" lvl="3"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4pPr>
            <a:lvl5pPr marL="2286000" lvl="4"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5pPr>
            <a:lvl6pPr marL="2743200" lvl="5"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6pPr>
            <a:lvl7pPr marL="3200400" lvl="6"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7pPr>
            <a:lvl8pPr marL="3657600" lvl="7"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8pPr>
            <a:lvl9pPr marL="4114800" lvl="8" indent="-336550" rtl="0">
              <a:spcBef>
                <a:spcPts val="800"/>
              </a:spcBef>
              <a:spcAft>
                <a:spcPts val="800"/>
              </a:spcAft>
              <a:buClr>
                <a:schemeClr val="lt2"/>
              </a:buClr>
              <a:buSzPts val="1700"/>
              <a:buFont typeface="Merriweather"/>
              <a:buChar char="■"/>
              <a:defRPr sz="1700">
                <a:latin typeface="Merriweather"/>
                <a:ea typeface="Merriweather"/>
                <a:cs typeface="Merriweather"/>
                <a:sym typeface="Merriweather"/>
              </a:defRPr>
            </a:lvl9pPr>
          </a:lstStyle>
          <a:p>
            <a:endParaRPr/>
          </a:p>
        </p:txBody>
      </p:sp>
      <p:sp>
        <p:nvSpPr>
          <p:cNvPr id="36" name="Google Shape;36;p6"/>
          <p:cNvSpPr txBox="1">
            <a:spLocks noGrp="1"/>
          </p:cNvSpPr>
          <p:nvPr>
            <p:ph type="body" idx="2"/>
          </p:nvPr>
        </p:nvSpPr>
        <p:spPr>
          <a:xfrm>
            <a:off x="5183822" y="2227950"/>
            <a:ext cx="3473100" cy="3418200"/>
          </a:xfrm>
          <a:prstGeom prst="rect">
            <a:avLst/>
          </a:prstGeom>
        </p:spPr>
        <p:txBody>
          <a:bodyPr spcFirstLastPara="1" wrap="square" lIns="0" tIns="0" rIns="0" bIns="0" anchor="t" anchorCtr="0">
            <a:noAutofit/>
          </a:bodyPr>
          <a:lstStyle>
            <a:lvl1pPr marL="457200" lvl="0" indent="-336550" rtl="0">
              <a:spcBef>
                <a:spcPts val="0"/>
              </a:spcBef>
              <a:spcAft>
                <a:spcPts val="0"/>
              </a:spcAft>
              <a:buClr>
                <a:schemeClr val="lt2"/>
              </a:buClr>
              <a:buSzPts val="1700"/>
              <a:buFont typeface="Merriweather"/>
              <a:buChar char="●"/>
              <a:defRPr sz="1700">
                <a:latin typeface="Merriweather"/>
                <a:ea typeface="Merriweather"/>
                <a:cs typeface="Merriweather"/>
                <a:sym typeface="Merriweather"/>
              </a:defRPr>
            </a:lvl1pPr>
            <a:lvl2pPr marL="914400" lvl="1" indent="-336550" rtl="0">
              <a:spcBef>
                <a:spcPts val="800"/>
              </a:spcBef>
              <a:spcAft>
                <a:spcPts val="0"/>
              </a:spcAft>
              <a:buSzPts val="1700"/>
              <a:buFont typeface="Merriweather"/>
              <a:buChar char="○"/>
              <a:defRPr sz="1700">
                <a:latin typeface="Merriweather"/>
                <a:ea typeface="Merriweather"/>
                <a:cs typeface="Merriweather"/>
                <a:sym typeface="Merriweather"/>
              </a:defRPr>
            </a:lvl2pPr>
            <a:lvl3pPr marL="1371600" lvl="2"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3pPr>
            <a:lvl4pPr marL="1828800" lvl="3"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4pPr>
            <a:lvl5pPr marL="2286000" lvl="4"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5pPr>
            <a:lvl6pPr marL="2743200" lvl="5"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6pPr>
            <a:lvl7pPr marL="3200400" lvl="6"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7pPr>
            <a:lvl8pPr marL="3657600" lvl="7" indent="-336550" rtl="0">
              <a:spcBef>
                <a:spcPts val="800"/>
              </a:spcBef>
              <a:spcAft>
                <a:spcPts val="0"/>
              </a:spcAft>
              <a:buClr>
                <a:schemeClr val="lt2"/>
              </a:buClr>
              <a:buSzPts val="1700"/>
              <a:buFont typeface="Merriweather"/>
              <a:buChar char="○"/>
              <a:defRPr sz="1700">
                <a:latin typeface="Merriweather"/>
                <a:ea typeface="Merriweather"/>
                <a:cs typeface="Merriweather"/>
                <a:sym typeface="Merriweather"/>
              </a:defRPr>
            </a:lvl8pPr>
            <a:lvl9pPr marL="4114800" lvl="8" indent="-336550" rtl="0">
              <a:spcBef>
                <a:spcPts val="800"/>
              </a:spcBef>
              <a:spcAft>
                <a:spcPts val="800"/>
              </a:spcAft>
              <a:buClr>
                <a:schemeClr val="lt2"/>
              </a:buClr>
              <a:buSzPts val="1700"/>
              <a:buFont typeface="Merriweather"/>
              <a:buChar char="■"/>
              <a:defRPr sz="1700">
                <a:latin typeface="Merriweather"/>
                <a:ea typeface="Merriweather"/>
                <a:cs typeface="Merriweather"/>
                <a:sym typeface="Merriweather"/>
              </a:defRPr>
            </a:lvl9pPr>
          </a:lstStyle>
          <a:p>
            <a:endParaRPr/>
          </a:p>
        </p:txBody>
      </p:sp>
      <p:sp>
        <p:nvSpPr>
          <p:cNvPr id="37" name="Google Shape;37;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8" name="Google Shape;38;p6"/>
          <p:cNvSpPr txBox="1"/>
          <p:nvPr/>
        </p:nvSpPr>
        <p:spPr>
          <a:xfrm>
            <a:off x="1038150" y="820200"/>
            <a:ext cx="7067700" cy="5850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 sz="3800" b="1">
                <a:latin typeface="Merriweather"/>
                <a:ea typeface="Merriweather"/>
                <a:cs typeface="Merriweather"/>
                <a:sym typeface="Merriweather"/>
              </a:rPr>
              <a:t>Click to edit theme title style</a:t>
            </a:r>
            <a:endParaRPr sz="700" b="1">
              <a:latin typeface="Merriweather"/>
              <a:ea typeface="Merriweather"/>
              <a:cs typeface="Merriweather"/>
              <a:sym typeface="Merriweathe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9"/>
        <p:cNvGrpSpPr/>
        <p:nvPr/>
      </p:nvGrpSpPr>
      <p:grpSpPr>
        <a:xfrm>
          <a:off x="0" y="0"/>
          <a:ext cx="0" cy="0"/>
          <a:chOff x="0" y="0"/>
          <a:chExt cx="0" cy="0"/>
        </a:xfrm>
      </p:grpSpPr>
      <p:grpSp>
        <p:nvGrpSpPr>
          <p:cNvPr id="40" name="Google Shape;40;p7"/>
          <p:cNvGrpSpPr/>
          <p:nvPr/>
        </p:nvGrpSpPr>
        <p:grpSpPr>
          <a:xfrm>
            <a:off x="6121109" y="1757336"/>
            <a:ext cx="2508525" cy="2871788"/>
            <a:chOff x="0" y="0"/>
            <a:chExt cx="6689400" cy="7658100"/>
          </a:xfrm>
        </p:grpSpPr>
        <p:sp>
          <p:nvSpPr>
            <p:cNvPr id="41" name="Google Shape;41;p7"/>
            <p:cNvSpPr/>
            <p:nvPr/>
          </p:nvSpPr>
          <p:spPr>
            <a:xfrm>
              <a:off x="0" y="0"/>
              <a:ext cx="6689400" cy="7658100"/>
            </a:xfrm>
            <a:prstGeom prst="rect">
              <a:avLst/>
            </a:prstGeom>
            <a:solidFill>
              <a:schemeClr val="dk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 name="Google Shape;42;p7"/>
            <p:cNvSpPr/>
            <p:nvPr/>
          </p:nvSpPr>
          <p:spPr>
            <a:xfrm>
              <a:off x="0" y="0"/>
              <a:ext cx="2046600" cy="21717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grpSp>
        <p:nvGrpSpPr>
          <p:cNvPr id="43" name="Google Shape;43;p7"/>
          <p:cNvGrpSpPr/>
          <p:nvPr/>
        </p:nvGrpSpPr>
        <p:grpSpPr>
          <a:xfrm>
            <a:off x="514350" y="1757336"/>
            <a:ext cx="2508525" cy="2871788"/>
            <a:chOff x="0" y="0"/>
            <a:chExt cx="6689400" cy="7658100"/>
          </a:xfrm>
        </p:grpSpPr>
        <p:sp>
          <p:nvSpPr>
            <p:cNvPr id="44" name="Google Shape;44;p7"/>
            <p:cNvSpPr/>
            <p:nvPr/>
          </p:nvSpPr>
          <p:spPr>
            <a:xfrm>
              <a:off x="0" y="0"/>
              <a:ext cx="6689400" cy="7658100"/>
            </a:xfrm>
            <a:prstGeom prst="rect">
              <a:avLst/>
            </a:prstGeom>
            <a:solidFill>
              <a:schemeClr val="dk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 name="Google Shape;45;p7"/>
            <p:cNvSpPr/>
            <p:nvPr/>
          </p:nvSpPr>
          <p:spPr>
            <a:xfrm>
              <a:off x="0" y="0"/>
              <a:ext cx="2046600" cy="21717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grpSp>
        <p:nvGrpSpPr>
          <p:cNvPr id="46" name="Google Shape;46;p7"/>
          <p:cNvGrpSpPr/>
          <p:nvPr/>
        </p:nvGrpSpPr>
        <p:grpSpPr>
          <a:xfrm>
            <a:off x="3317729" y="1757336"/>
            <a:ext cx="2508525" cy="2871788"/>
            <a:chOff x="0" y="0"/>
            <a:chExt cx="6689400" cy="7658100"/>
          </a:xfrm>
        </p:grpSpPr>
        <p:sp>
          <p:nvSpPr>
            <p:cNvPr id="47" name="Google Shape;47;p7"/>
            <p:cNvSpPr/>
            <p:nvPr/>
          </p:nvSpPr>
          <p:spPr>
            <a:xfrm>
              <a:off x="0" y="0"/>
              <a:ext cx="6689400" cy="7658100"/>
            </a:xfrm>
            <a:prstGeom prst="rect">
              <a:avLst/>
            </a:prstGeom>
            <a:solidFill>
              <a:schemeClr val="dk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 name="Google Shape;48;p7"/>
            <p:cNvSpPr/>
            <p:nvPr/>
          </p:nvSpPr>
          <p:spPr>
            <a:xfrm>
              <a:off x="0" y="0"/>
              <a:ext cx="2046600" cy="21717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sp>
        <p:nvSpPr>
          <p:cNvPr id="49" name="Google Shape;49;p7"/>
          <p:cNvSpPr txBox="1">
            <a:spLocks noGrp="1"/>
          </p:cNvSpPr>
          <p:nvPr>
            <p:ph type="body" idx="1"/>
          </p:nvPr>
        </p:nvSpPr>
        <p:spPr>
          <a:xfrm>
            <a:off x="855300" y="1353950"/>
            <a:ext cx="23157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Font typeface="Merriweather Sans"/>
              <a:buChar char="●"/>
              <a:defRPr sz="1800">
                <a:latin typeface="Merriweather Sans"/>
                <a:ea typeface="Merriweather Sans"/>
                <a:cs typeface="Merriweather Sans"/>
                <a:sym typeface="Merriweather Sans"/>
              </a:defRPr>
            </a:lvl1pPr>
            <a:lvl2pPr marL="914400" lvl="1"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2pPr>
            <a:lvl3pPr marL="1371600" lvl="2"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3pPr>
            <a:lvl4pPr marL="1828800" lvl="3"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4pPr>
            <a:lvl5pPr marL="2286000" lvl="4"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5pPr>
            <a:lvl6pPr marL="2743200" lvl="5"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6pPr>
            <a:lvl7pPr marL="3200400" lvl="6"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7pPr>
            <a:lvl8pPr marL="3657600" lvl="7"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8pPr>
            <a:lvl9pPr marL="4114800" lvl="8" indent="-342900" rtl="0">
              <a:spcBef>
                <a:spcPts val="800"/>
              </a:spcBef>
              <a:spcAft>
                <a:spcPts val="800"/>
              </a:spcAft>
              <a:buSzPts val="1800"/>
              <a:buFont typeface="Merriweather Sans"/>
              <a:buChar char="■"/>
              <a:defRPr sz="1800">
                <a:latin typeface="Merriweather Sans"/>
                <a:ea typeface="Merriweather Sans"/>
                <a:cs typeface="Merriweather Sans"/>
                <a:sym typeface="Merriweather Sans"/>
              </a:defRPr>
            </a:lvl9pPr>
          </a:lstStyle>
          <a:p>
            <a:endParaRPr/>
          </a:p>
        </p:txBody>
      </p:sp>
      <p:sp>
        <p:nvSpPr>
          <p:cNvPr id="50" name="Google Shape;50;p7"/>
          <p:cNvSpPr txBox="1">
            <a:spLocks noGrp="1"/>
          </p:cNvSpPr>
          <p:nvPr>
            <p:ph type="body" idx="2"/>
          </p:nvPr>
        </p:nvSpPr>
        <p:spPr>
          <a:xfrm>
            <a:off x="3414196" y="1353950"/>
            <a:ext cx="23157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Font typeface="Merriweather Sans"/>
              <a:buChar char="●"/>
              <a:defRPr sz="1800">
                <a:latin typeface="Merriweather Sans"/>
                <a:ea typeface="Merriweather Sans"/>
                <a:cs typeface="Merriweather Sans"/>
                <a:sym typeface="Merriweather Sans"/>
              </a:defRPr>
            </a:lvl1pPr>
            <a:lvl2pPr marL="914400" lvl="1"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2pPr>
            <a:lvl3pPr marL="1371600" lvl="2"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3pPr>
            <a:lvl4pPr marL="1828800" lvl="3"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4pPr>
            <a:lvl5pPr marL="2286000" lvl="4"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5pPr>
            <a:lvl6pPr marL="2743200" lvl="5"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6pPr>
            <a:lvl7pPr marL="3200400" lvl="6"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7pPr>
            <a:lvl8pPr marL="3657600" lvl="7"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8pPr>
            <a:lvl9pPr marL="4114800" lvl="8" indent="-342900" rtl="0">
              <a:spcBef>
                <a:spcPts val="800"/>
              </a:spcBef>
              <a:spcAft>
                <a:spcPts val="800"/>
              </a:spcAft>
              <a:buSzPts val="1800"/>
              <a:buFont typeface="Merriweather Sans"/>
              <a:buChar char="■"/>
              <a:defRPr sz="1800">
                <a:latin typeface="Merriweather Sans"/>
                <a:ea typeface="Merriweather Sans"/>
                <a:cs typeface="Merriweather Sans"/>
                <a:sym typeface="Merriweather Sans"/>
              </a:defRPr>
            </a:lvl9pPr>
          </a:lstStyle>
          <a:p>
            <a:endParaRPr/>
          </a:p>
        </p:txBody>
      </p:sp>
      <p:sp>
        <p:nvSpPr>
          <p:cNvPr id="51" name="Google Shape;51;p7"/>
          <p:cNvSpPr txBox="1">
            <a:spLocks noGrp="1"/>
          </p:cNvSpPr>
          <p:nvPr>
            <p:ph type="body" idx="3"/>
          </p:nvPr>
        </p:nvSpPr>
        <p:spPr>
          <a:xfrm>
            <a:off x="5973091" y="1353950"/>
            <a:ext cx="2315700" cy="34182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Font typeface="Merriweather Sans"/>
              <a:buChar char="●"/>
              <a:defRPr sz="1800">
                <a:latin typeface="Merriweather Sans"/>
                <a:ea typeface="Merriweather Sans"/>
                <a:cs typeface="Merriweather Sans"/>
                <a:sym typeface="Merriweather Sans"/>
              </a:defRPr>
            </a:lvl1pPr>
            <a:lvl2pPr marL="914400" lvl="1"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2pPr>
            <a:lvl3pPr marL="1371600" lvl="2"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3pPr>
            <a:lvl4pPr marL="1828800" lvl="3"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4pPr>
            <a:lvl5pPr marL="2286000" lvl="4"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5pPr>
            <a:lvl6pPr marL="2743200" lvl="5"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6pPr>
            <a:lvl7pPr marL="3200400" lvl="6"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7pPr>
            <a:lvl8pPr marL="3657600" lvl="7" indent="-342900" rtl="0">
              <a:spcBef>
                <a:spcPts val="800"/>
              </a:spcBef>
              <a:spcAft>
                <a:spcPts val="0"/>
              </a:spcAft>
              <a:buSzPts val="1800"/>
              <a:buFont typeface="Merriweather Sans"/>
              <a:buChar char="○"/>
              <a:defRPr sz="1800">
                <a:latin typeface="Merriweather Sans"/>
                <a:ea typeface="Merriweather Sans"/>
                <a:cs typeface="Merriweather Sans"/>
                <a:sym typeface="Merriweather Sans"/>
              </a:defRPr>
            </a:lvl8pPr>
            <a:lvl9pPr marL="4114800" lvl="8" indent="-342900" rtl="0">
              <a:spcBef>
                <a:spcPts val="800"/>
              </a:spcBef>
              <a:spcAft>
                <a:spcPts val="800"/>
              </a:spcAft>
              <a:buSzPts val="1800"/>
              <a:buFont typeface="Merriweather Sans"/>
              <a:buChar char="■"/>
              <a:defRPr sz="1800">
                <a:latin typeface="Merriweather Sans"/>
                <a:ea typeface="Merriweather Sans"/>
                <a:cs typeface="Merriweather Sans"/>
                <a:sym typeface="Merriweather Sans"/>
              </a:defRPr>
            </a:lvl9pPr>
          </a:lstStyle>
          <a:p>
            <a:endParaRPr/>
          </a:p>
        </p:txBody>
      </p:sp>
      <p:sp>
        <p:nvSpPr>
          <p:cNvPr id="52" name="Google Shape;52;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3" name="Google Shape;53;p7"/>
          <p:cNvSpPr txBox="1">
            <a:spLocks noGrp="1"/>
          </p:cNvSpPr>
          <p:nvPr>
            <p:ph type="title"/>
          </p:nvPr>
        </p:nvSpPr>
        <p:spPr>
          <a:xfrm>
            <a:off x="514350" y="698300"/>
            <a:ext cx="7433400" cy="396300"/>
          </a:xfrm>
          <a:prstGeom prst="rect">
            <a:avLst/>
          </a:prstGeom>
        </p:spPr>
        <p:txBody>
          <a:bodyPr spcFirstLastPara="1" wrap="square" lIns="0" tIns="0" rIns="0" bIns="0" anchor="b" anchorCtr="0">
            <a:noAutofit/>
          </a:bodyPr>
          <a:lstStyle>
            <a:lvl1pPr lvl="0" rtl="0">
              <a:spcBef>
                <a:spcPts val="0"/>
              </a:spcBef>
              <a:spcAft>
                <a:spcPts val="0"/>
              </a:spcAft>
              <a:buSzPts val="3800"/>
              <a:buFont typeface="Merriweather"/>
              <a:buNone/>
              <a:defRPr sz="3800">
                <a:latin typeface="Merriweather"/>
                <a:ea typeface="Merriweather"/>
                <a:cs typeface="Merriweather"/>
                <a:sym typeface="Merriweather"/>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sp>
        <p:nvSpPr>
          <p:cNvPr id="60" name="Google Shape;60;p9"/>
          <p:cNvSpPr txBox="1">
            <a:spLocks noGrp="1"/>
          </p:cNvSpPr>
          <p:nvPr>
            <p:ph type="body" idx="1"/>
          </p:nvPr>
        </p:nvSpPr>
        <p:spPr>
          <a:xfrm>
            <a:off x="855300" y="4406300"/>
            <a:ext cx="7433400" cy="519600"/>
          </a:xfrm>
          <a:prstGeom prst="rect">
            <a:avLst/>
          </a:prstGeom>
        </p:spPr>
        <p:txBody>
          <a:bodyPr spcFirstLastPara="1" wrap="square" lIns="0" tIns="0" rIns="0" bIns="0" anchor="t" anchorCtr="0">
            <a:noAutofit/>
          </a:bodyPr>
          <a:lstStyle>
            <a:lvl1pPr marL="457200" lvl="0" indent="-228600" algn="ctr" rtl="0">
              <a:spcBef>
                <a:spcPts val="0"/>
              </a:spcBef>
              <a:spcAft>
                <a:spcPts val="800"/>
              </a:spcAft>
              <a:buSzPts val="1800"/>
              <a:buFont typeface="Merriweather Sans"/>
              <a:buNone/>
              <a:defRPr sz="1800">
                <a:latin typeface="Merriweather Sans"/>
                <a:ea typeface="Merriweather Sans"/>
                <a:cs typeface="Merriweather Sans"/>
                <a:sym typeface="Merriweather Sans"/>
              </a:defRPr>
            </a:lvl1pPr>
          </a:lstStyle>
          <a:p>
            <a:endParaRPr/>
          </a:p>
        </p:txBody>
      </p:sp>
      <p:sp>
        <p:nvSpPr>
          <p:cNvPr id="61" name="Google Shape;61;p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5300" y="836000"/>
            <a:ext cx="7433400" cy="396300"/>
          </a:xfrm>
          <a:prstGeom prst="rect">
            <a:avLst/>
          </a:prstGeom>
          <a:noFill/>
          <a:ln>
            <a:noFill/>
          </a:ln>
        </p:spPr>
        <p:txBody>
          <a:bodyPr spcFirstLastPara="1" wrap="square" lIns="0" tIns="0" rIns="0" bIns="0" anchor="b" anchorCtr="0">
            <a:noAutofit/>
          </a:bodyPr>
          <a:lstStyle>
            <a:lvl1pPr lvl="0" rtl="0">
              <a:lnSpc>
                <a:spcPct val="90000"/>
              </a:lnSpc>
              <a:spcBef>
                <a:spcPts val="0"/>
              </a:spcBef>
              <a:spcAft>
                <a:spcPts val="0"/>
              </a:spcAft>
              <a:buClr>
                <a:schemeClr val="dk1"/>
              </a:buClr>
              <a:buSzPts val="3200"/>
              <a:buFont typeface="Merriweather"/>
              <a:buNone/>
              <a:defRPr sz="3200" b="1">
                <a:solidFill>
                  <a:schemeClr val="dk1"/>
                </a:solidFill>
                <a:latin typeface="Merriweather"/>
                <a:ea typeface="Merriweather"/>
                <a:cs typeface="Merriweather"/>
                <a:sym typeface="Merriweather"/>
              </a:defRPr>
            </a:lvl1pPr>
            <a:lvl2pPr lvl="1" rtl="0">
              <a:lnSpc>
                <a:spcPct val="90000"/>
              </a:lnSpc>
              <a:spcBef>
                <a:spcPts val="0"/>
              </a:spcBef>
              <a:spcAft>
                <a:spcPts val="0"/>
              </a:spcAft>
              <a:buClr>
                <a:schemeClr val="dk1"/>
              </a:buClr>
              <a:buSzPts val="3200"/>
              <a:buNone/>
              <a:defRPr sz="3200" b="1">
                <a:solidFill>
                  <a:schemeClr val="dk1"/>
                </a:solidFill>
              </a:defRPr>
            </a:lvl2pPr>
            <a:lvl3pPr lvl="2" rtl="0">
              <a:lnSpc>
                <a:spcPct val="90000"/>
              </a:lnSpc>
              <a:spcBef>
                <a:spcPts val="0"/>
              </a:spcBef>
              <a:spcAft>
                <a:spcPts val="0"/>
              </a:spcAft>
              <a:buClr>
                <a:schemeClr val="dk1"/>
              </a:buClr>
              <a:buSzPts val="3200"/>
              <a:buNone/>
              <a:defRPr sz="3200" b="1">
                <a:solidFill>
                  <a:schemeClr val="dk1"/>
                </a:solidFill>
              </a:defRPr>
            </a:lvl3pPr>
            <a:lvl4pPr lvl="3" rtl="0">
              <a:lnSpc>
                <a:spcPct val="90000"/>
              </a:lnSpc>
              <a:spcBef>
                <a:spcPts val="0"/>
              </a:spcBef>
              <a:spcAft>
                <a:spcPts val="0"/>
              </a:spcAft>
              <a:buClr>
                <a:schemeClr val="dk1"/>
              </a:buClr>
              <a:buSzPts val="3200"/>
              <a:buNone/>
              <a:defRPr sz="3200" b="1">
                <a:solidFill>
                  <a:schemeClr val="dk1"/>
                </a:solidFill>
              </a:defRPr>
            </a:lvl4pPr>
            <a:lvl5pPr lvl="4" rtl="0">
              <a:lnSpc>
                <a:spcPct val="90000"/>
              </a:lnSpc>
              <a:spcBef>
                <a:spcPts val="0"/>
              </a:spcBef>
              <a:spcAft>
                <a:spcPts val="0"/>
              </a:spcAft>
              <a:buClr>
                <a:schemeClr val="dk1"/>
              </a:buClr>
              <a:buSzPts val="3200"/>
              <a:buNone/>
              <a:defRPr sz="3200" b="1">
                <a:solidFill>
                  <a:schemeClr val="dk1"/>
                </a:solidFill>
              </a:defRPr>
            </a:lvl5pPr>
            <a:lvl6pPr lvl="5" rtl="0">
              <a:lnSpc>
                <a:spcPct val="90000"/>
              </a:lnSpc>
              <a:spcBef>
                <a:spcPts val="0"/>
              </a:spcBef>
              <a:spcAft>
                <a:spcPts val="0"/>
              </a:spcAft>
              <a:buClr>
                <a:schemeClr val="dk1"/>
              </a:buClr>
              <a:buSzPts val="3200"/>
              <a:buNone/>
              <a:defRPr sz="3200" b="1">
                <a:solidFill>
                  <a:schemeClr val="dk1"/>
                </a:solidFill>
              </a:defRPr>
            </a:lvl6pPr>
            <a:lvl7pPr lvl="6" rtl="0">
              <a:lnSpc>
                <a:spcPct val="90000"/>
              </a:lnSpc>
              <a:spcBef>
                <a:spcPts val="0"/>
              </a:spcBef>
              <a:spcAft>
                <a:spcPts val="0"/>
              </a:spcAft>
              <a:buClr>
                <a:schemeClr val="dk1"/>
              </a:buClr>
              <a:buSzPts val="3200"/>
              <a:buNone/>
              <a:defRPr sz="3200" b="1">
                <a:solidFill>
                  <a:schemeClr val="dk1"/>
                </a:solidFill>
              </a:defRPr>
            </a:lvl7pPr>
            <a:lvl8pPr lvl="7" rtl="0">
              <a:lnSpc>
                <a:spcPct val="90000"/>
              </a:lnSpc>
              <a:spcBef>
                <a:spcPts val="0"/>
              </a:spcBef>
              <a:spcAft>
                <a:spcPts val="0"/>
              </a:spcAft>
              <a:buClr>
                <a:schemeClr val="dk1"/>
              </a:buClr>
              <a:buSzPts val="3200"/>
              <a:buNone/>
              <a:defRPr sz="3200" b="1">
                <a:solidFill>
                  <a:schemeClr val="dk1"/>
                </a:solidFill>
              </a:defRPr>
            </a:lvl8pPr>
            <a:lvl9pPr lvl="8" rtl="0">
              <a:lnSpc>
                <a:spcPct val="90000"/>
              </a:lnSpc>
              <a:spcBef>
                <a:spcPts val="0"/>
              </a:spcBef>
              <a:spcAft>
                <a:spcPts val="0"/>
              </a:spcAft>
              <a:buClr>
                <a:schemeClr val="dk1"/>
              </a:buClr>
              <a:buSzPts val="3200"/>
              <a:buNone/>
              <a:defRPr sz="3200" b="1">
                <a:solidFill>
                  <a:schemeClr val="dk1"/>
                </a:solidFill>
              </a:defRPr>
            </a:lvl9pPr>
          </a:lstStyle>
          <a:p>
            <a:endParaRPr/>
          </a:p>
        </p:txBody>
      </p:sp>
      <p:sp>
        <p:nvSpPr>
          <p:cNvPr id="7" name="Google Shape;7;p1"/>
          <p:cNvSpPr txBox="1">
            <a:spLocks noGrp="1"/>
          </p:cNvSpPr>
          <p:nvPr>
            <p:ph type="body" idx="1"/>
          </p:nvPr>
        </p:nvSpPr>
        <p:spPr>
          <a:xfrm>
            <a:off x="855300" y="1353947"/>
            <a:ext cx="7433400" cy="3033900"/>
          </a:xfrm>
          <a:prstGeom prst="rect">
            <a:avLst/>
          </a:prstGeom>
          <a:noFill/>
          <a:ln>
            <a:noFill/>
          </a:ln>
        </p:spPr>
        <p:txBody>
          <a:bodyPr spcFirstLastPara="1" wrap="square" lIns="0" tIns="0" rIns="0" bIns="0" anchor="t" anchorCtr="0">
            <a:noAutofit/>
          </a:bodyPr>
          <a:lstStyle>
            <a:lvl1pPr marL="457200" lvl="0" indent="-381000" rtl="0">
              <a:lnSpc>
                <a:spcPct val="115000"/>
              </a:lnSpc>
              <a:spcBef>
                <a:spcPts val="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1pPr>
            <a:lvl2pPr marL="914400" lvl="1"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2pPr>
            <a:lvl3pPr marL="1371600" lvl="2"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3pPr>
            <a:lvl4pPr marL="1828800" lvl="3"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4pPr>
            <a:lvl5pPr marL="2286000" lvl="4"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5pPr>
            <a:lvl6pPr marL="2743200" lvl="5"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6pPr>
            <a:lvl7pPr marL="3200400" lvl="6"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7pPr>
            <a:lvl8pPr marL="3657600" lvl="7" indent="-381000" rtl="0">
              <a:lnSpc>
                <a:spcPct val="115000"/>
              </a:lnSpc>
              <a:spcBef>
                <a:spcPts val="800"/>
              </a:spcBef>
              <a:spcAft>
                <a:spcPts val="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8pPr>
            <a:lvl9pPr marL="4114800" lvl="8" indent="-381000" rtl="0">
              <a:lnSpc>
                <a:spcPct val="115000"/>
              </a:lnSpc>
              <a:spcBef>
                <a:spcPts val="800"/>
              </a:spcBef>
              <a:spcAft>
                <a:spcPts val="800"/>
              </a:spcAft>
              <a:buClr>
                <a:schemeClr val="dk1"/>
              </a:buClr>
              <a:buSzPts val="2400"/>
              <a:buFont typeface="Merriweather Sans"/>
              <a:buChar char="■"/>
              <a:defRPr sz="2400">
                <a:solidFill>
                  <a:schemeClr val="dk1"/>
                </a:solidFill>
                <a:latin typeface="Merriweather Sans"/>
                <a:ea typeface="Merriweather Sans"/>
                <a:cs typeface="Merriweather Sans"/>
                <a:sym typeface="Merriweather Sans"/>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rtl="0">
              <a:buNone/>
              <a:defRPr sz="1300">
                <a:solidFill>
                  <a:schemeClr val="dk1"/>
                </a:solidFill>
                <a:latin typeface="Merriweather Sans"/>
                <a:ea typeface="Merriweather Sans"/>
                <a:cs typeface="Merriweather Sans"/>
                <a:sym typeface="Merriweather Sans"/>
              </a:defRPr>
            </a:lvl1pPr>
            <a:lvl2pPr lvl="1" algn="r" rtl="0">
              <a:buNone/>
              <a:defRPr sz="1300">
                <a:solidFill>
                  <a:schemeClr val="dk1"/>
                </a:solidFill>
                <a:latin typeface="Merriweather Sans"/>
                <a:ea typeface="Merriweather Sans"/>
                <a:cs typeface="Merriweather Sans"/>
                <a:sym typeface="Merriweather Sans"/>
              </a:defRPr>
            </a:lvl2pPr>
            <a:lvl3pPr lvl="2" algn="r" rtl="0">
              <a:buNone/>
              <a:defRPr sz="1300">
                <a:solidFill>
                  <a:schemeClr val="dk1"/>
                </a:solidFill>
                <a:latin typeface="Merriweather Sans"/>
                <a:ea typeface="Merriweather Sans"/>
                <a:cs typeface="Merriweather Sans"/>
                <a:sym typeface="Merriweather Sans"/>
              </a:defRPr>
            </a:lvl3pPr>
            <a:lvl4pPr lvl="3" algn="r" rtl="0">
              <a:buNone/>
              <a:defRPr sz="1300">
                <a:solidFill>
                  <a:schemeClr val="dk1"/>
                </a:solidFill>
                <a:latin typeface="Merriweather Sans"/>
                <a:ea typeface="Merriweather Sans"/>
                <a:cs typeface="Merriweather Sans"/>
                <a:sym typeface="Merriweather Sans"/>
              </a:defRPr>
            </a:lvl4pPr>
            <a:lvl5pPr lvl="4" algn="r" rtl="0">
              <a:buNone/>
              <a:defRPr sz="1300">
                <a:solidFill>
                  <a:schemeClr val="dk1"/>
                </a:solidFill>
                <a:latin typeface="Merriweather Sans"/>
                <a:ea typeface="Merriweather Sans"/>
                <a:cs typeface="Merriweather Sans"/>
                <a:sym typeface="Merriweather Sans"/>
              </a:defRPr>
            </a:lvl5pPr>
            <a:lvl6pPr lvl="5" algn="r" rtl="0">
              <a:buNone/>
              <a:defRPr sz="1300">
                <a:solidFill>
                  <a:schemeClr val="dk1"/>
                </a:solidFill>
                <a:latin typeface="Merriweather Sans"/>
                <a:ea typeface="Merriweather Sans"/>
                <a:cs typeface="Merriweather Sans"/>
                <a:sym typeface="Merriweather Sans"/>
              </a:defRPr>
            </a:lvl6pPr>
            <a:lvl7pPr lvl="6" algn="r" rtl="0">
              <a:buNone/>
              <a:defRPr sz="1300">
                <a:solidFill>
                  <a:schemeClr val="dk1"/>
                </a:solidFill>
                <a:latin typeface="Merriweather Sans"/>
                <a:ea typeface="Merriweather Sans"/>
                <a:cs typeface="Merriweather Sans"/>
                <a:sym typeface="Merriweather Sans"/>
              </a:defRPr>
            </a:lvl7pPr>
            <a:lvl8pPr lvl="7" algn="r" rtl="0">
              <a:buNone/>
              <a:defRPr sz="1300">
                <a:solidFill>
                  <a:schemeClr val="dk1"/>
                </a:solidFill>
                <a:latin typeface="Merriweather Sans"/>
                <a:ea typeface="Merriweather Sans"/>
                <a:cs typeface="Merriweather Sans"/>
                <a:sym typeface="Merriweather Sans"/>
              </a:defRPr>
            </a:lvl8pPr>
            <a:lvl9pPr lvl="8" algn="r" rtl="0">
              <a:buNone/>
              <a:defRPr sz="1300">
                <a:solidFill>
                  <a:schemeClr val="dk1"/>
                </a:solidFill>
                <a:latin typeface="Merriweather Sans"/>
                <a:ea typeface="Merriweather Sans"/>
                <a:cs typeface="Merriweather Sans"/>
                <a:sym typeface="Merriweather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5" r:id="rId4"/>
    <p:sldLayoutId id="2147483656"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67"/>
        <p:cNvGrpSpPr/>
        <p:nvPr/>
      </p:nvGrpSpPr>
      <p:grpSpPr>
        <a:xfrm>
          <a:off x="0" y="0"/>
          <a:ext cx="0" cy="0"/>
          <a:chOff x="0" y="0"/>
          <a:chExt cx="0" cy="0"/>
        </a:xfrm>
      </p:grpSpPr>
      <p:sp>
        <p:nvSpPr>
          <p:cNvPr id="2" name="Hộp_Văn_Bản 11">
            <a:extLst>
              <a:ext uri="{FF2B5EF4-FFF2-40B4-BE49-F238E27FC236}">
                <a16:creationId xmlns:a16="http://schemas.microsoft.com/office/drawing/2014/main" id="{D245C4E4-C3E0-FE06-5071-A28587663A88}"/>
              </a:ext>
            </a:extLst>
          </p:cNvPr>
          <p:cNvSpPr txBox="1"/>
          <p:nvPr/>
        </p:nvSpPr>
        <p:spPr>
          <a:xfrm>
            <a:off x="681442" y="59714"/>
            <a:ext cx="8545033" cy="861774"/>
          </a:xfrm>
          <a:prstGeom prst="rect">
            <a:avLst/>
          </a:prstGeom>
          <a:noFill/>
        </p:spPr>
        <p:txBody>
          <a:bodyPr wrap="square">
            <a:spAutoFit/>
          </a:bodyPr>
          <a:lstStyle/>
          <a:p>
            <a:pPr algn="ctr" eaLnBrk="1" hangingPunct="1">
              <a:defRPr/>
            </a:pPr>
            <a:r>
              <a:rPr lang="en-US" sz="2500" b="1" dirty="0" smtClean="0">
                <a:solidFill>
                  <a:srgbClr val="002774"/>
                </a:solidFill>
                <a:latin typeface="Times New Roman" panose="02020603050405020304" pitchFamily="18" charset="0"/>
                <a:cs typeface="Times New Roman" panose="02020603050405020304" pitchFamily="18" charset="0"/>
              </a:rPr>
              <a:t>TRƯỜNG ĐẠI HỌC TÀI NGUYÊN VÀ MÔI TRƯỜNG THÀNH PHỐ HỒ CHÍ MINH</a:t>
            </a:r>
            <a:endParaRPr lang="en-US" sz="2500" b="1" dirty="0">
              <a:solidFill>
                <a:srgbClr val="002774"/>
              </a:solidFill>
              <a:latin typeface="Times New Roman" panose="02020603050405020304" pitchFamily="18" charset="0"/>
              <a:cs typeface="Times New Roman" panose="02020603050405020304" pitchFamily="18" charset="0"/>
            </a:endParaRPr>
          </a:p>
        </p:txBody>
      </p:sp>
      <p:sp>
        <p:nvSpPr>
          <p:cNvPr id="4" name="Text Box 60">
            <a:extLst>
              <a:ext uri="{FF2B5EF4-FFF2-40B4-BE49-F238E27FC236}">
                <a16:creationId xmlns:a16="http://schemas.microsoft.com/office/drawing/2014/main" id="{12F94220-48DD-C08C-F435-FD1C5246184F}"/>
              </a:ext>
            </a:extLst>
          </p:cNvPr>
          <p:cNvSpPr txBox="1">
            <a:spLocks noChangeArrowheads="1"/>
          </p:cNvSpPr>
          <p:nvPr/>
        </p:nvSpPr>
        <p:spPr bwMode="auto">
          <a:xfrm>
            <a:off x="535651" y="921488"/>
            <a:ext cx="8384285" cy="461665"/>
          </a:xfrm>
          <a:prstGeom prst="rect">
            <a:avLst/>
          </a:prstGeom>
          <a:noFill/>
          <a:ln>
            <a:noFill/>
          </a:ln>
          <a:effectLst/>
          <a:extLst>
            <a:ext uri="{909E8E84-426E-40DD-AFC4-6F175D3DCCD1}">
              <a14:hiddenFill xmlns:a14="http://schemas.microsoft.com/office/drawing/2010/main">
                <a:solidFill>
                  <a:schemeClr val="bg1">
                    <a:alpha val="58823"/>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2400" b="1" dirty="0" smtClean="0">
                <a:solidFill>
                  <a:srgbClr val="800040"/>
                </a:solidFill>
                <a:effectLst>
                  <a:outerShdw blurRad="50800" dist="38100" dir="18900000" algn="bl" rotWithShape="0">
                    <a:prstClr val="black">
                      <a:alpha val="40000"/>
                    </a:prstClr>
                  </a:outerShdw>
                </a:effectLst>
                <a:latin typeface="Times New Roman" panose="02020603050405020304" pitchFamily="18" charset="0"/>
                <a:cs typeface="Times New Roman" panose="02020603050405020304" pitchFamily="18" charset="0"/>
              </a:rPr>
              <a:t>XÂY DỰNG WEBSITE ĐẶT XE TRỰC TUYẾN</a:t>
            </a:r>
            <a:endParaRPr lang="en-US" sz="2400" b="1" dirty="0">
              <a:solidFill>
                <a:srgbClr val="800040"/>
              </a:solidFill>
              <a:effectLst>
                <a:outerShdw blurRad="50800" dist="38100" dir="18900000" algn="bl" rotWithShape="0">
                  <a:prstClr val="black">
                    <a:alpha val="40000"/>
                  </a:prstClr>
                </a:outerShdw>
              </a:effectLst>
              <a:latin typeface="Times New Roman" panose="02020603050405020304" pitchFamily="18" charset="0"/>
              <a:cs typeface="Times New Roman" panose="02020603050405020304" pitchFamily="18" charset="0"/>
            </a:endParaRPr>
          </a:p>
        </p:txBody>
      </p:sp>
      <p:sp>
        <p:nvSpPr>
          <p:cNvPr id="7" name="Hộp_Văn_Bản 3">
            <a:extLst>
              <a:ext uri="{FF2B5EF4-FFF2-40B4-BE49-F238E27FC236}">
                <a16:creationId xmlns:a16="http://schemas.microsoft.com/office/drawing/2014/main" id="{0EF36EC6-1664-6C80-C9A0-EFCBFE54F650}"/>
              </a:ext>
            </a:extLst>
          </p:cNvPr>
          <p:cNvSpPr txBox="1"/>
          <p:nvPr/>
        </p:nvSpPr>
        <p:spPr>
          <a:xfrm>
            <a:off x="0" y="3943171"/>
            <a:ext cx="6307869" cy="1200329"/>
          </a:xfrm>
          <a:prstGeom prst="rect">
            <a:avLst/>
          </a:prstGeom>
          <a:noFill/>
        </p:spPr>
        <p:txBody>
          <a:bodyPr wrap="square">
            <a:spAutoFit/>
          </a:bodyPr>
          <a:lstStyle/>
          <a:p>
            <a:pPr eaLnBrk="1" hangingPunct="1">
              <a:defRPr/>
            </a:pP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Họ</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Tên</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Trương Đăng </a:t>
            </a:r>
            <a:r>
              <a:rPr lang="en-US" sz="1800" b="1" dirty="0" smtClean="0">
                <a:solidFill>
                  <a:srgbClr val="002774"/>
                </a:solidFill>
                <a:latin typeface="Times New Roman" panose="02020603050405020304" pitchFamily="18" charset="0"/>
                <a:ea typeface="Verdana" panose="020B0604030504040204" pitchFamily="34" charset="0"/>
                <a:cs typeface="Times New Roman" panose="02020603050405020304" pitchFamily="18" charset="0"/>
              </a:rPr>
              <a:t>Quý</a:t>
            </a:r>
          </a:p>
          <a:p>
            <a:pPr eaLnBrk="1" hangingPunct="1">
              <a:defRPr/>
            </a:pPr>
            <a:r>
              <a:rPr lang="en-US" sz="1800" b="1" dirty="0" err="1" smtClean="0">
                <a:solidFill>
                  <a:srgbClr val="002774"/>
                </a:solidFill>
                <a:latin typeface="Times New Roman" panose="02020603050405020304" pitchFamily="18" charset="0"/>
                <a:ea typeface="Verdana" panose="020B0604030504040204" pitchFamily="34" charset="0"/>
                <a:cs typeface="Times New Roman" panose="02020603050405020304" pitchFamily="18" charset="0"/>
              </a:rPr>
              <a:t>Lớp</a:t>
            </a:r>
            <a:r>
              <a:rPr lang="en-US" sz="1800" b="1" dirty="0" smtClean="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08_ĐH_CNPM</a:t>
            </a:r>
            <a:endPar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endParaRPr>
          </a:p>
          <a:p>
            <a:pPr eaLnBrk="1" hangingPunct="1">
              <a:defRPr/>
            </a:pPr>
            <a:r>
              <a:rPr lang="en-US" sz="1800" b="1" dirty="0" smtClean="0">
                <a:solidFill>
                  <a:srgbClr val="002774"/>
                </a:solidFill>
                <a:latin typeface="Times New Roman" panose="02020603050405020304" pitchFamily="18" charset="0"/>
                <a:ea typeface="Verdana" panose="020B0604030504040204" pitchFamily="34" charset="0"/>
                <a:cs typeface="Times New Roman" panose="02020603050405020304" pitchFamily="18" charset="0"/>
              </a:rPr>
              <a:t>MSSV: 0850080039</a:t>
            </a:r>
          </a:p>
          <a:p>
            <a:pPr eaLnBrk="1" hangingPunct="1">
              <a:defRPr/>
            </a:pP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Giảng</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Viên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Hướng</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Dẫn</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ThS</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Trần</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Văn</a:t>
            </a:r>
            <a:r>
              <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rPr>
              <a:t> </a:t>
            </a:r>
            <a:r>
              <a:rPr lang="en-US" sz="1800" b="1" dirty="0" err="1">
                <a:solidFill>
                  <a:srgbClr val="002774"/>
                </a:solidFill>
                <a:latin typeface="Times New Roman" panose="02020603050405020304" pitchFamily="18" charset="0"/>
                <a:ea typeface="Verdana" panose="020B0604030504040204" pitchFamily="34" charset="0"/>
                <a:cs typeface="Times New Roman" panose="02020603050405020304" pitchFamily="18" charset="0"/>
              </a:rPr>
              <a:t>Định</a:t>
            </a:r>
            <a:endParaRPr lang="en-US" sz="1800" b="1" dirty="0">
              <a:solidFill>
                <a:srgbClr val="002774"/>
              </a:solidFill>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43488" y="54376"/>
            <a:ext cx="984325" cy="867112"/>
          </a:xfrm>
          <a:prstGeom prst="rect">
            <a:avLst/>
          </a:prstGeom>
        </p:spPr>
      </p:pic>
      <p:pic>
        <p:nvPicPr>
          <p:cNvPr id="13" name="Picture 12"/>
          <p:cNvPicPr>
            <a:picLocks noChangeAspect="1"/>
          </p:cNvPicPr>
          <p:nvPr/>
        </p:nvPicPr>
        <p:blipFill>
          <a:blip r:embed="rId4"/>
          <a:stretch>
            <a:fillRect/>
          </a:stretch>
        </p:blipFill>
        <p:spPr>
          <a:xfrm>
            <a:off x="1765562" y="1586517"/>
            <a:ext cx="5627610" cy="2356654"/>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Shape 75"/>
        <p:cNvGrpSpPr/>
        <p:nvPr/>
      </p:nvGrpSpPr>
      <p:grpSpPr>
        <a:xfrm>
          <a:off x="0" y="0"/>
          <a:ext cx="0" cy="0"/>
          <a:chOff x="0" y="0"/>
          <a:chExt cx="0" cy="0"/>
        </a:xfrm>
      </p:grpSpPr>
      <p:sp>
        <p:nvSpPr>
          <p:cNvPr id="76" name="Google Shape;76;p12"/>
          <p:cNvSpPr txBox="1"/>
          <p:nvPr/>
        </p:nvSpPr>
        <p:spPr>
          <a:xfrm>
            <a:off x="514350" y="90993"/>
            <a:ext cx="8115300" cy="64633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500" dirty="0">
                <a:latin typeface="Times New Roman" panose="02020603050405020304" pitchFamily="18" charset="0"/>
                <a:cs typeface="Times New Roman" panose="02020603050405020304" pitchFamily="18" charset="0"/>
              </a:rPr>
              <a:t>NỘI DUNG TRÌNH BÀY</a:t>
            </a:r>
            <a:endParaRPr sz="3500" dirty="0">
              <a:latin typeface="Times New Roman" panose="02020603050405020304" pitchFamily="18" charset="0"/>
              <a:cs typeface="Times New Roman" panose="02020603050405020304" pitchFamily="18" charset="0"/>
            </a:endParaRPr>
          </a:p>
        </p:txBody>
      </p:sp>
      <p:cxnSp>
        <p:nvCxnSpPr>
          <p:cNvPr id="89" name="Google Shape;89;p12"/>
          <p:cNvCxnSpPr/>
          <p:nvPr/>
        </p:nvCxnSpPr>
        <p:spPr>
          <a:xfrm>
            <a:off x="5015" y="901850"/>
            <a:ext cx="9144000" cy="0"/>
          </a:xfrm>
          <a:prstGeom prst="straightConnector1">
            <a:avLst/>
          </a:prstGeom>
          <a:noFill/>
          <a:ln w="9525" cap="rnd" cmpd="sng">
            <a:solidFill>
              <a:srgbClr val="000000"/>
            </a:solidFill>
            <a:prstDash val="solid"/>
            <a:round/>
            <a:headEnd type="none" w="sm" len="sm"/>
            <a:tailEnd type="none" w="sm" len="sm"/>
          </a:ln>
        </p:spPr>
      </p:cxnSp>
      <p:grpSp>
        <p:nvGrpSpPr>
          <p:cNvPr id="3" name="Group 41">
            <a:extLst>
              <a:ext uri="{FF2B5EF4-FFF2-40B4-BE49-F238E27FC236}">
                <a16:creationId xmlns:a16="http://schemas.microsoft.com/office/drawing/2014/main" id="{9511AD50-3AB7-1728-074A-216E995630B4}"/>
              </a:ext>
            </a:extLst>
          </p:cNvPr>
          <p:cNvGrpSpPr>
            <a:grpSpLocks/>
          </p:cNvGrpSpPr>
          <p:nvPr/>
        </p:nvGrpSpPr>
        <p:grpSpPr bwMode="auto">
          <a:xfrm>
            <a:off x="1607856" y="1266402"/>
            <a:ext cx="5585950" cy="503401"/>
            <a:chOff x="1296" y="1824"/>
            <a:chExt cx="2976" cy="432"/>
          </a:xfrm>
        </p:grpSpPr>
        <p:sp>
          <p:nvSpPr>
            <p:cNvPr id="4" name="AutoShape 42">
              <a:extLst>
                <a:ext uri="{FF2B5EF4-FFF2-40B4-BE49-F238E27FC236}">
                  <a16:creationId xmlns:a16="http://schemas.microsoft.com/office/drawing/2014/main" id="{E91811DF-10F5-74CE-1A3E-519B55803174}"/>
                </a:ext>
              </a:extLst>
            </p:cNvPr>
            <p:cNvSpPr>
              <a:spLocks noChangeArrowheads="1"/>
            </p:cNvSpPr>
            <p:nvPr/>
          </p:nvSpPr>
          <p:spPr bwMode="gray">
            <a:xfrm>
              <a:off x="1536" y="1899"/>
              <a:ext cx="2736" cy="288"/>
            </a:xfrm>
            <a:prstGeom prst="roundRect">
              <a:avLst>
                <a:gd name="adj" fmla="val 16667"/>
              </a:avLst>
            </a:prstGeom>
            <a:gradFill rotWithShape="1">
              <a:gsLst>
                <a:gs pos="0">
                  <a:schemeClr val="accent2">
                    <a:gamma/>
                    <a:tint val="69804"/>
                    <a:invGamma/>
                  </a:schemeClr>
                </a:gs>
                <a:gs pos="100000">
                  <a:schemeClr val="accent2"/>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b="1">
                <a:latin typeface="Times New Roman" panose="02020603050405020304" pitchFamily="18" charset="0"/>
                <a:ea typeface="Verdana" panose="020B0604030504040204" pitchFamily="34" charset="0"/>
                <a:cs typeface="Times New Roman" panose="02020603050405020304" pitchFamily="18" charset="0"/>
              </a:endParaRPr>
            </a:p>
          </p:txBody>
        </p:sp>
        <p:sp>
          <p:nvSpPr>
            <p:cNvPr id="5" name="AutoShape 43">
              <a:extLst>
                <a:ext uri="{FF2B5EF4-FFF2-40B4-BE49-F238E27FC236}">
                  <a16:creationId xmlns:a16="http://schemas.microsoft.com/office/drawing/2014/main" id="{3C208FFD-EB89-0525-D512-2C332A28D246}"/>
                </a:ext>
              </a:extLst>
            </p:cNvPr>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tx1"/>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6" name="Text Box 44">
              <a:extLst>
                <a:ext uri="{FF2B5EF4-FFF2-40B4-BE49-F238E27FC236}">
                  <a16:creationId xmlns:a16="http://schemas.microsoft.com/office/drawing/2014/main" id="{E78B94A7-CC9E-0D69-7734-3CF88EF867AB}"/>
                </a:ext>
              </a:extLst>
            </p:cNvPr>
            <p:cNvSpPr txBox="1">
              <a:spLocks noChangeArrowheads="1"/>
            </p:cNvSpPr>
            <p:nvPr/>
          </p:nvSpPr>
          <p:spPr bwMode="gray">
            <a:xfrm>
              <a:off x="1785" y="1889"/>
              <a:ext cx="2160"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rgbClr val="C00000"/>
                  </a:solidFill>
                  <a:latin typeface="Times New Roman" panose="02020603050405020304" pitchFamily="18" charset="0"/>
                  <a:ea typeface="Verdana" panose="020B0604030504040204" pitchFamily="34" charset="0"/>
                  <a:cs typeface="Times New Roman" panose="02020603050405020304" pitchFamily="18" charset="0"/>
                </a:rPr>
                <a:t>TỔNG QUAN</a:t>
              </a:r>
            </a:p>
          </p:txBody>
        </p:sp>
        <p:sp>
          <p:nvSpPr>
            <p:cNvPr id="7" name="Text Box 45">
              <a:extLst>
                <a:ext uri="{FF2B5EF4-FFF2-40B4-BE49-F238E27FC236}">
                  <a16:creationId xmlns:a16="http://schemas.microsoft.com/office/drawing/2014/main" id="{BEB66EBC-203C-9E4A-7E25-E24F6EC317B6}"/>
                </a:ext>
              </a:extLst>
            </p:cNvPr>
            <p:cNvSpPr txBox="1">
              <a:spLocks noChangeArrowheads="1"/>
            </p:cNvSpPr>
            <p:nvPr/>
          </p:nvSpPr>
          <p:spPr bwMode="gray">
            <a:xfrm>
              <a:off x="1424" y="1886"/>
              <a:ext cx="160"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a:solidFill>
                    <a:srgbClr val="C00000"/>
                  </a:solidFill>
                  <a:latin typeface="Times New Roman" panose="02020603050405020304" pitchFamily="18" charset="0"/>
                  <a:ea typeface="Verdana" panose="020B0604030504040204" pitchFamily="34" charset="0"/>
                  <a:cs typeface="Times New Roman" panose="02020603050405020304" pitchFamily="18" charset="0"/>
                </a:rPr>
                <a:t>1</a:t>
              </a:r>
            </a:p>
          </p:txBody>
        </p:sp>
      </p:grpSp>
      <p:grpSp>
        <p:nvGrpSpPr>
          <p:cNvPr id="8" name="Group 46">
            <a:extLst>
              <a:ext uri="{FF2B5EF4-FFF2-40B4-BE49-F238E27FC236}">
                <a16:creationId xmlns:a16="http://schemas.microsoft.com/office/drawing/2014/main" id="{5D2A4297-CE53-5250-8EFB-57520426A497}"/>
              </a:ext>
            </a:extLst>
          </p:cNvPr>
          <p:cNvGrpSpPr>
            <a:grpSpLocks/>
          </p:cNvGrpSpPr>
          <p:nvPr/>
        </p:nvGrpSpPr>
        <p:grpSpPr bwMode="auto">
          <a:xfrm>
            <a:off x="1597091" y="1864257"/>
            <a:ext cx="5596716" cy="578115"/>
            <a:chOff x="1296" y="1824"/>
            <a:chExt cx="2976" cy="432"/>
          </a:xfrm>
        </p:grpSpPr>
        <p:sp>
          <p:nvSpPr>
            <p:cNvPr id="9" name="AutoShape 47">
              <a:extLst>
                <a:ext uri="{FF2B5EF4-FFF2-40B4-BE49-F238E27FC236}">
                  <a16:creationId xmlns:a16="http://schemas.microsoft.com/office/drawing/2014/main" id="{2421197F-9F9A-212A-5037-F184E9EF56F2}"/>
                </a:ext>
              </a:extLst>
            </p:cNvPr>
            <p:cNvSpPr>
              <a:spLocks noChangeArrowheads="1"/>
            </p:cNvSpPr>
            <p:nvPr/>
          </p:nvSpPr>
          <p:spPr bwMode="gray">
            <a:xfrm>
              <a:off x="1536" y="1899"/>
              <a:ext cx="2736" cy="288"/>
            </a:xfrm>
            <a:prstGeom prst="roundRect">
              <a:avLst>
                <a:gd name="adj" fmla="val 16667"/>
              </a:avLst>
            </a:prstGeom>
            <a:gradFill rotWithShape="1">
              <a:gsLst>
                <a:gs pos="0">
                  <a:schemeClr val="accent1">
                    <a:gamma/>
                    <a:tint val="63529"/>
                    <a:invGamma/>
                  </a:schemeClr>
                </a:gs>
                <a:gs pos="100000">
                  <a:schemeClr val="accent1"/>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b="1">
                <a:latin typeface="Times New Roman" panose="02020603050405020304" pitchFamily="18" charset="0"/>
                <a:cs typeface="Times New Roman" panose="02020603050405020304" pitchFamily="18" charset="0"/>
              </a:endParaRPr>
            </a:p>
          </p:txBody>
        </p:sp>
        <p:sp>
          <p:nvSpPr>
            <p:cNvPr id="10" name="AutoShape 48">
              <a:extLst>
                <a:ext uri="{FF2B5EF4-FFF2-40B4-BE49-F238E27FC236}">
                  <a16:creationId xmlns:a16="http://schemas.microsoft.com/office/drawing/2014/main" id="{07D989DA-4B45-D77A-871A-A4688B720BED}"/>
                </a:ext>
              </a:extLst>
            </p:cNvPr>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11" name="Text Box 49">
              <a:extLst>
                <a:ext uri="{FF2B5EF4-FFF2-40B4-BE49-F238E27FC236}">
                  <a16:creationId xmlns:a16="http://schemas.microsoft.com/office/drawing/2014/main" id="{D14E4293-4B82-EC21-3E95-013AB8967CDB}"/>
                </a:ext>
              </a:extLst>
            </p:cNvPr>
            <p:cNvSpPr txBox="1">
              <a:spLocks noChangeArrowheads="1"/>
            </p:cNvSpPr>
            <p:nvPr/>
          </p:nvSpPr>
          <p:spPr bwMode="gray">
            <a:xfrm>
              <a:off x="1792" y="1892"/>
              <a:ext cx="2172"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rgbClr val="002060"/>
                  </a:solidFill>
                  <a:latin typeface="Times New Roman" panose="02020603050405020304" pitchFamily="18" charset="0"/>
                  <a:ea typeface="Verdana" panose="020B0604030504040204" pitchFamily="34" charset="0"/>
                  <a:cs typeface="Times New Roman" panose="02020603050405020304" pitchFamily="18" charset="0"/>
                </a:rPr>
                <a:t>CƠ SỞ LÝ THUYẾT</a:t>
              </a:r>
            </a:p>
          </p:txBody>
        </p:sp>
        <p:sp>
          <p:nvSpPr>
            <p:cNvPr id="12" name="Text Box 50">
              <a:extLst>
                <a:ext uri="{FF2B5EF4-FFF2-40B4-BE49-F238E27FC236}">
                  <a16:creationId xmlns:a16="http://schemas.microsoft.com/office/drawing/2014/main" id="{922D2C36-EF51-CDF5-F9A4-039541F1B256}"/>
                </a:ext>
              </a:extLst>
            </p:cNvPr>
            <p:cNvSpPr txBox="1">
              <a:spLocks noChangeArrowheads="1"/>
            </p:cNvSpPr>
            <p:nvPr/>
          </p:nvSpPr>
          <p:spPr bwMode="gray">
            <a:xfrm>
              <a:off x="1424" y="1886"/>
              <a:ext cx="160"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rgbClr val="002060"/>
                  </a:solidFill>
                  <a:latin typeface="Times New Roman" panose="02020603050405020304" pitchFamily="18" charset="0"/>
                  <a:cs typeface="Times New Roman" panose="02020603050405020304" pitchFamily="18" charset="0"/>
                </a:rPr>
                <a:t>2</a:t>
              </a:r>
            </a:p>
          </p:txBody>
        </p:sp>
      </p:grpSp>
      <p:grpSp>
        <p:nvGrpSpPr>
          <p:cNvPr id="13" name="Group 51">
            <a:extLst>
              <a:ext uri="{FF2B5EF4-FFF2-40B4-BE49-F238E27FC236}">
                <a16:creationId xmlns:a16="http://schemas.microsoft.com/office/drawing/2014/main" id="{6E72CD26-0005-D2BF-D338-DACAC9953E51}"/>
              </a:ext>
            </a:extLst>
          </p:cNvPr>
          <p:cNvGrpSpPr>
            <a:grpSpLocks/>
          </p:cNvGrpSpPr>
          <p:nvPr/>
        </p:nvGrpSpPr>
        <p:grpSpPr bwMode="auto">
          <a:xfrm>
            <a:off x="1607856" y="2505571"/>
            <a:ext cx="5585950" cy="571500"/>
            <a:chOff x="1296" y="1824"/>
            <a:chExt cx="2976" cy="432"/>
          </a:xfrm>
        </p:grpSpPr>
        <p:sp>
          <p:nvSpPr>
            <p:cNvPr id="14" name="AutoShape 52">
              <a:extLst>
                <a:ext uri="{FF2B5EF4-FFF2-40B4-BE49-F238E27FC236}">
                  <a16:creationId xmlns:a16="http://schemas.microsoft.com/office/drawing/2014/main" id="{D0B1CE2C-ECBA-2183-6D3F-B7AC53D79B90}"/>
                </a:ext>
              </a:extLst>
            </p:cNvPr>
            <p:cNvSpPr>
              <a:spLocks noChangeArrowheads="1"/>
            </p:cNvSpPr>
            <p:nvPr/>
          </p:nvSpPr>
          <p:spPr bwMode="gray">
            <a:xfrm>
              <a:off x="1536" y="1899"/>
              <a:ext cx="2736" cy="288"/>
            </a:xfrm>
            <a:prstGeom prst="roundRect">
              <a:avLst>
                <a:gd name="adj" fmla="val 16667"/>
              </a:avLst>
            </a:prstGeom>
            <a:gradFill rotWithShape="1">
              <a:gsLst>
                <a:gs pos="0">
                  <a:schemeClr val="hlink">
                    <a:gamma/>
                    <a:tint val="48627"/>
                    <a:invGamma/>
                  </a:schemeClr>
                </a:gs>
                <a:gs pos="100000">
                  <a:schemeClr val="hlink"/>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b="1" dirty="0">
                <a:latin typeface="Times New Roman" panose="02020603050405020304" pitchFamily="18" charset="0"/>
                <a:cs typeface="Times New Roman" panose="02020603050405020304" pitchFamily="18" charset="0"/>
              </a:endParaRPr>
            </a:p>
          </p:txBody>
        </p:sp>
        <p:sp>
          <p:nvSpPr>
            <p:cNvPr id="15" name="AutoShape 53">
              <a:extLst>
                <a:ext uri="{FF2B5EF4-FFF2-40B4-BE49-F238E27FC236}">
                  <a16:creationId xmlns:a16="http://schemas.microsoft.com/office/drawing/2014/main" id="{40434079-5BF6-271B-7560-44E4FBF4279A}"/>
                </a:ext>
              </a:extLst>
            </p:cNvPr>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16" name="Text Box 54">
              <a:extLst>
                <a:ext uri="{FF2B5EF4-FFF2-40B4-BE49-F238E27FC236}">
                  <a16:creationId xmlns:a16="http://schemas.microsoft.com/office/drawing/2014/main" id="{29F891AA-2AD5-C262-B2C9-68ED0B57D654}"/>
                </a:ext>
              </a:extLst>
            </p:cNvPr>
            <p:cNvSpPr txBox="1">
              <a:spLocks noChangeArrowheads="1"/>
            </p:cNvSpPr>
            <p:nvPr/>
          </p:nvSpPr>
          <p:spPr bwMode="gray">
            <a:xfrm>
              <a:off x="1680" y="1935"/>
              <a:ext cx="2592" cy="27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rgbClr val="FFFF00"/>
                  </a:solidFill>
                  <a:latin typeface="Times New Roman" panose="02020603050405020304" pitchFamily="18" charset="0"/>
                  <a:ea typeface="Verdana" panose="020B0604030504040204" pitchFamily="34" charset="0"/>
                  <a:cs typeface="Times New Roman" panose="02020603050405020304" pitchFamily="18" charset="0"/>
                </a:rPr>
                <a:t>HỆ THỐNG ĐỀ XUẤT</a:t>
              </a:r>
            </a:p>
          </p:txBody>
        </p:sp>
        <p:sp>
          <p:nvSpPr>
            <p:cNvPr id="17" name="Text Box 55">
              <a:extLst>
                <a:ext uri="{FF2B5EF4-FFF2-40B4-BE49-F238E27FC236}">
                  <a16:creationId xmlns:a16="http://schemas.microsoft.com/office/drawing/2014/main" id="{9FB21C6C-9282-DCBF-68C1-56C9BF635600}"/>
                </a:ext>
              </a:extLst>
            </p:cNvPr>
            <p:cNvSpPr txBox="1">
              <a:spLocks noChangeArrowheads="1"/>
            </p:cNvSpPr>
            <p:nvPr/>
          </p:nvSpPr>
          <p:spPr bwMode="gray">
            <a:xfrm>
              <a:off x="1424" y="1886"/>
              <a:ext cx="160" cy="27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a:solidFill>
                    <a:schemeClr val="bg1"/>
                  </a:solidFill>
                  <a:latin typeface="Times New Roman" panose="02020603050405020304" pitchFamily="18" charset="0"/>
                  <a:cs typeface="Times New Roman" panose="02020603050405020304" pitchFamily="18" charset="0"/>
                </a:rPr>
                <a:t>3</a:t>
              </a:r>
            </a:p>
          </p:txBody>
        </p:sp>
      </p:grpSp>
      <p:grpSp>
        <p:nvGrpSpPr>
          <p:cNvPr id="18" name="Group 56">
            <a:extLst>
              <a:ext uri="{FF2B5EF4-FFF2-40B4-BE49-F238E27FC236}">
                <a16:creationId xmlns:a16="http://schemas.microsoft.com/office/drawing/2014/main" id="{779BC1E2-4185-A476-71CC-A660CFFCEE8D}"/>
              </a:ext>
            </a:extLst>
          </p:cNvPr>
          <p:cNvGrpSpPr>
            <a:grpSpLocks/>
          </p:cNvGrpSpPr>
          <p:nvPr/>
        </p:nvGrpSpPr>
        <p:grpSpPr bwMode="auto">
          <a:xfrm>
            <a:off x="1594335" y="3181001"/>
            <a:ext cx="5585950" cy="571500"/>
            <a:chOff x="1296" y="1824"/>
            <a:chExt cx="2976" cy="432"/>
          </a:xfrm>
        </p:grpSpPr>
        <p:sp>
          <p:nvSpPr>
            <p:cNvPr id="19" name="AutoShape 57">
              <a:extLst>
                <a:ext uri="{FF2B5EF4-FFF2-40B4-BE49-F238E27FC236}">
                  <a16:creationId xmlns:a16="http://schemas.microsoft.com/office/drawing/2014/main" id="{E4DF4788-EFEE-085F-8A2F-1FAAA667C927}"/>
                </a:ext>
              </a:extLst>
            </p:cNvPr>
            <p:cNvSpPr>
              <a:spLocks noChangeArrowheads="1"/>
            </p:cNvSpPr>
            <p:nvPr/>
          </p:nvSpPr>
          <p:spPr bwMode="gray">
            <a:xfrm>
              <a:off x="1536" y="1899"/>
              <a:ext cx="2736" cy="288"/>
            </a:xfrm>
            <a:prstGeom prst="roundRect">
              <a:avLst>
                <a:gd name="adj" fmla="val 16667"/>
              </a:avLst>
            </a:prstGeom>
            <a:gradFill rotWithShape="1">
              <a:gsLst>
                <a:gs pos="0">
                  <a:schemeClr val="folHlink">
                    <a:gamma/>
                    <a:tint val="73725"/>
                    <a:invGamma/>
                  </a:schemeClr>
                </a:gs>
                <a:gs pos="100000">
                  <a:schemeClr val="folHlink"/>
                </a:gs>
              </a:gsLst>
              <a:lin ang="0" scaled="1"/>
            </a:gra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b="1">
                <a:latin typeface="Times New Roman" panose="02020603050405020304" pitchFamily="18" charset="0"/>
                <a:cs typeface="Times New Roman" panose="02020603050405020304" pitchFamily="18" charset="0"/>
              </a:endParaRPr>
            </a:p>
          </p:txBody>
        </p:sp>
        <p:sp>
          <p:nvSpPr>
            <p:cNvPr id="20" name="AutoShape 58">
              <a:extLst>
                <a:ext uri="{FF2B5EF4-FFF2-40B4-BE49-F238E27FC236}">
                  <a16:creationId xmlns:a16="http://schemas.microsoft.com/office/drawing/2014/main" id="{922FE5C5-016F-E9C3-F427-03334FFE1445}"/>
                </a:ext>
              </a:extLst>
            </p:cNvPr>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21" name="Text Box 59">
              <a:extLst>
                <a:ext uri="{FF2B5EF4-FFF2-40B4-BE49-F238E27FC236}">
                  <a16:creationId xmlns:a16="http://schemas.microsoft.com/office/drawing/2014/main" id="{3C0230ED-CEC7-3C4D-0E00-66D58B8094C1}"/>
                </a:ext>
              </a:extLst>
            </p:cNvPr>
            <p:cNvSpPr txBox="1">
              <a:spLocks noChangeArrowheads="1"/>
            </p:cNvSpPr>
            <p:nvPr/>
          </p:nvSpPr>
          <p:spPr bwMode="gray">
            <a:xfrm>
              <a:off x="1840" y="1927"/>
              <a:ext cx="2160" cy="279"/>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THỬ NGHIỆM</a:t>
              </a:r>
            </a:p>
          </p:txBody>
        </p:sp>
        <p:sp>
          <p:nvSpPr>
            <p:cNvPr id="22" name="Text Box 60">
              <a:extLst>
                <a:ext uri="{FF2B5EF4-FFF2-40B4-BE49-F238E27FC236}">
                  <a16:creationId xmlns:a16="http://schemas.microsoft.com/office/drawing/2014/main" id="{D639ED41-2E34-8475-01A7-64840B0AA33F}"/>
                </a:ext>
              </a:extLst>
            </p:cNvPr>
            <p:cNvSpPr txBox="1">
              <a:spLocks noChangeArrowheads="1"/>
            </p:cNvSpPr>
            <p:nvPr/>
          </p:nvSpPr>
          <p:spPr bwMode="gray">
            <a:xfrm>
              <a:off x="1424" y="1886"/>
              <a:ext cx="160" cy="279"/>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a:solidFill>
                    <a:schemeClr val="bg1"/>
                  </a:solidFill>
                  <a:latin typeface="Times New Roman" panose="02020603050405020304" pitchFamily="18" charset="0"/>
                  <a:cs typeface="Times New Roman" panose="02020603050405020304" pitchFamily="18" charset="0"/>
                </a:rPr>
                <a:t>4</a:t>
              </a:r>
            </a:p>
          </p:txBody>
        </p:sp>
      </p:grpSp>
      <p:grpSp>
        <p:nvGrpSpPr>
          <p:cNvPr id="28" name="Group 51">
            <a:extLst>
              <a:ext uri="{FF2B5EF4-FFF2-40B4-BE49-F238E27FC236}">
                <a16:creationId xmlns:a16="http://schemas.microsoft.com/office/drawing/2014/main" id="{15630EA9-8AD0-0B79-D2C3-1B0E76917D58}"/>
              </a:ext>
            </a:extLst>
          </p:cNvPr>
          <p:cNvGrpSpPr>
            <a:grpSpLocks/>
          </p:cNvGrpSpPr>
          <p:nvPr/>
        </p:nvGrpSpPr>
        <p:grpSpPr bwMode="auto">
          <a:xfrm>
            <a:off x="1594335" y="3952982"/>
            <a:ext cx="5585950" cy="571500"/>
            <a:chOff x="1296" y="1824"/>
            <a:chExt cx="2976" cy="432"/>
          </a:xfrm>
        </p:grpSpPr>
        <p:sp>
          <p:nvSpPr>
            <p:cNvPr id="29" name="AutoShape 52">
              <a:extLst>
                <a:ext uri="{FF2B5EF4-FFF2-40B4-BE49-F238E27FC236}">
                  <a16:creationId xmlns:a16="http://schemas.microsoft.com/office/drawing/2014/main" id="{F5CBE199-A557-29E9-6516-8A2844FBE81B}"/>
                </a:ext>
              </a:extLst>
            </p:cNvPr>
            <p:cNvSpPr>
              <a:spLocks noChangeArrowheads="1"/>
            </p:cNvSpPr>
            <p:nvPr/>
          </p:nvSpPr>
          <p:spPr bwMode="gray">
            <a:xfrm>
              <a:off x="1536" y="1899"/>
              <a:ext cx="2736" cy="288"/>
            </a:xfrm>
            <a:prstGeom prst="roundRect">
              <a:avLst>
                <a:gd name="adj" fmla="val 16667"/>
              </a:avLst>
            </a:prstGeom>
            <a:solidFill>
              <a:srgbClr val="8000FF"/>
            </a:solidFill>
            <a:ln w="12700" algn="ctr">
              <a:solidFill>
                <a:schemeClr val="bg1"/>
              </a:solidFill>
              <a:round/>
              <a:headEnd/>
              <a:tailEnd/>
            </a:ln>
            <a:effectLst>
              <a:outerShdw dist="99190" dir="2388334" algn="ctr" rotWithShape="0">
                <a:srgbClr val="333333">
                  <a:alpha val="50000"/>
                </a:srgbClr>
              </a:outerShdw>
            </a:effectLst>
          </p:spPr>
          <p:txBody>
            <a:bodyPr wrap="none" anchor="ctr"/>
            <a:lstStyle/>
            <a:p>
              <a:pPr eaLnBrk="1" hangingPunct="1">
                <a:defRPr/>
              </a:pPr>
              <a:endParaRPr lang="en-US" b="1">
                <a:latin typeface="Times New Roman" panose="02020603050405020304" pitchFamily="18" charset="0"/>
                <a:cs typeface="Times New Roman" panose="02020603050405020304" pitchFamily="18" charset="0"/>
              </a:endParaRPr>
            </a:p>
          </p:txBody>
        </p:sp>
        <p:sp>
          <p:nvSpPr>
            <p:cNvPr id="30" name="AutoShape 53">
              <a:extLst>
                <a:ext uri="{FF2B5EF4-FFF2-40B4-BE49-F238E27FC236}">
                  <a16:creationId xmlns:a16="http://schemas.microsoft.com/office/drawing/2014/main" id="{CD9C4FE7-BF77-7173-2275-8B06357D0E79}"/>
                </a:ext>
              </a:extLst>
            </p:cNvPr>
            <p:cNvSpPr>
              <a:spLocks noChangeArrowheads="1"/>
            </p:cNvSpPr>
            <p:nvPr/>
          </p:nvSpPr>
          <p:spPr bwMode="gray">
            <a:xfrm>
              <a:off x="1296" y="1824"/>
              <a:ext cx="432" cy="432"/>
            </a:xfrm>
            <a:prstGeom prst="diamond">
              <a:avLst/>
            </a:prstGeom>
            <a:solidFill>
              <a:srgbClr val="8000FF"/>
            </a:solidFill>
            <a:ln w="25400" algn="ctr">
              <a:solidFill>
                <a:schemeClr val="bg1"/>
              </a:solidFill>
              <a:miter lim="800000"/>
              <a:headEnd/>
              <a:tailEnd/>
            </a:ln>
            <a:effectLst>
              <a:outerShdw dist="63500" dir="2212194" algn="ctr" rotWithShape="0">
                <a:srgbClr val="333333">
                  <a:alpha val="50000"/>
                </a:srgbClr>
              </a:outerShdw>
            </a:effectLst>
          </p:spPr>
          <p:txBody>
            <a:bodyPr wrap="none" anchor="ct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solidFill>
                  <a:schemeClr val="tx1"/>
                </a:solidFill>
                <a:latin typeface="Times New Roman" panose="02020603050405020304" pitchFamily="18" charset="0"/>
                <a:cs typeface="Times New Roman" panose="02020603050405020304" pitchFamily="18" charset="0"/>
              </a:endParaRPr>
            </a:p>
          </p:txBody>
        </p:sp>
        <p:sp>
          <p:nvSpPr>
            <p:cNvPr id="31" name="Text Box 54">
              <a:extLst>
                <a:ext uri="{FF2B5EF4-FFF2-40B4-BE49-F238E27FC236}">
                  <a16:creationId xmlns:a16="http://schemas.microsoft.com/office/drawing/2014/main" id="{7589E159-5064-70A6-1545-4A756440EF3A}"/>
                </a:ext>
              </a:extLst>
            </p:cNvPr>
            <p:cNvSpPr txBox="1">
              <a:spLocks noChangeArrowheads="1"/>
            </p:cNvSpPr>
            <p:nvPr/>
          </p:nvSpPr>
          <p:spPr bwMode="gray">
            <a:xfrm>
              <a:off x="1830" y="1896"/>
              <a:ext cx="2437" cy="27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chemeClr val="bg1"/>
                  </a:solidFill>
                  <a:latin typeface="Times New Roman" panose="02020603050405020304" pitchFamily="18" charset="0"/>
                  <a:ea typeface="Verdana" panose="020B0604030504040204" pitchFamily="34" charset="0"/>
                  <a:cs typeface="Times New Roman" panose="02020603050405020304" pitchFamily="18" charset="0"/>
                </a:rPr>
                <a:t>KẾT QUẢ VÀ HƯỚNG PHÁT TRIỂN</a:t>
              </a:r>
            </a:p>
          </p:txBody>
        </p:sp>
        <p:sp>
          <p:nvSpPr>
            <p:cNvPr id="32" name="Text Box 55">
              <a:extLst>
                <a:ext uri="{FF2B5EF4-FFF2-40B4-BE49-F238E27FC236}">
                  <a16:creationId xmlns:a16="http://schemas.microsoft.com/office/drawing/2014/main" id="{A0662671-9FE1-BA06-4C47-EE9095ADAB97}"/>
                </a:ext>
              </a:extLst>
            </p:cNvPr>
            <p:cNvSpPr txBox="1">
              <a:spLocks noChangeArrowheads="1"/>
            </p:cNvSpPr>
            <p:nvPr/>
          </p:nvSpPr>
          <p:spPr bwMode="gray">
            <a:xfrm>
              <a:off x="1430" y="1903"/>
              <a:ext cx="160" cy="279"/>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b="1">
                  <a:solidFill>
                    <a:schemeClr val="accent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1800" dirty="0">
                  <a:solidFill>
                    <a:schemeClr val="bg1"/>
                  </a:solidFill>
                  <a:latin typeface="Times New Roman" panose="02020603050405020304" pitchFamily="18" charset="0"/>
                  <a:cs typeface="Times New Roman" panose="02020603050405020304" pitchFamily="18" charset="0"/>
                </a:rPr>
                <a:t>5</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grpSp>
        <p:nvGrpSpPr>
          <p:cNvPr id="111" name="Google Shape;111;p14"/>
          <p:cNvGrpSpPr/>
          <p:nvPr/>
        </p:nvGrpSpPr>
        <p:grpSpPr>
          <a:xfrm>
            <a:off x="6121109" y="1757336"/>
            <a:ext cx="2508525" cy="2871788"/>
            <a:chOff x="0" y="0"/>
            <a:chExt cx="6689400" cy="7658100"/>
          </a:xfrm>
        </p:grpSpPr>
        <p:sp>
          <p:nvSpPr>
            <p:cNvPr id="112" name="Google Shape;112;p14"/>
            <p:cNvSpPr/>
            <p:nvPr/>
          </p:nvSpPr>
          <p:spPr>
            <a:xfrm>
              <a:off x="0" y="0"/>
              <a:ext cx="6689400" cy="7658100"/>
            </a:xfrm>
            <a:prstGeom prst="rect">
              <a:avLst/>
            </a:prstGeom>
            <a:solidFill>
              <a:schemeClr val="dk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3" name="Google Shape;113;p14"/>
            <p:cNvSpPr/>
            <p:nvPr/>
          </p:nvSpPr>
          <p:spPr>
            <a:xfrm>
              <a:off x="0" y="0"/>
              <a:ext cx="2046600" cy="21717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grpSp>
        <p:nvGrpSpPr>
          <p:cNvPr id="114" name="Google Shape;114;p14"/>
          <p:cNvGrpSpPr/>
          <p:nvPr/>
        </p:nvGrpSpPr>
        <p:grpSpPr>
          <a:xfrm>
            <a:off x="3316801" y="1757336"/>
            <a:ext cx="2508525" cy="2871788"/>
            <a:chOff x="0" y="0"/>
            <a:chExt cx="6689400" cy="7658100"/>
          </a:xfrm>
        </p:grpSpPr>
        <p:sp>
          <p:nvSpPr>
            <p:cNvPr id="115" name="Google Shape;115;p14"/>
            <p:cNvSpPr/>
            <p:nvPr/>
          </p:nvSpPr>
          <p:spPr>
            <a:xfrm>
              <a:off x="0" y="0"/>
              <a:ext cx="6689400" cy="7658100"/>
            </a:xfrm>
            <a:prstGeom prst="rect">
              <a:avLst/>
            </a:prstGeom>
            <a:solidFill>
              <a:schemeClr val="dk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6" name="Google Shape;116;p14"/>
            <p:cNvSpPr/>
            <p:nvPr/>
          </p:nvSpPr>
          <p:spPr>
            <a:xfrm>
              <a:off x="0" y="0"/>
              <a:ext cx="2046600" cy="21717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sp>
        <p:nvSpPr>
          <p:cNvPr id="120" name="Google Shape;120;p14"/>
          <p:cNvSpPr/>
          <p:nvPr/>
        </p:nvSpPr>
        <p:spPr>
          <a:xfrm>
            <a:off x="6299173" y="1978698"/>
            <a:ext cx="411027" cy="371733"/>
          </a:xfrm>
          <a:custGeom>
            <a:avLst/>
            <a:gdLst/>
            <a:ahLst/>
            <a:cxnLst/>
            <a:rect l="l" t="t" r="r" b="b"/>
            <a:pathLst>
              <a:path w="822054" h="743466" extrusionOk="0">
                <a:moveTo>
                  <a:pt x="822055" y="287495"/>
                </a:moveTo>
                <a:cubicBezTo>
                  <a:pt x="822055" y="324086"/>
                  <a:pt x="794392" y="354315"/>
                  <a:pt x="758882" y="358419"/>
                </a:cubicBezTo>
                <a:lnTo>
                  <a:pt x="758882" y="557462"/>
                </a:lnTo>
                <a:cubicBezTo>
                  <a:pt x="758882" y="564533"/>
                  <a:pt x="754860" y="570681"/>
                  <a:pt x="748381" y="573499"/>
                </a:cubicBezTo>
                <a:cubicBezTo>
                  <a:pt x="746073" y="574504"/>
                  <a:pt x="743682" y="574999"/>
                  <a:pt x="741325" y="574999"/>
                </a:cubicBezTo>
                <a:cubicBezTo>
                  <a:pt x="737039" y="574999"/>
                  <a:pt x="732851" y="573384"/>
                  <a:pt x="729521" y="570301"/>
                </a:cubicBezTo>
                <a:cubicBezTo>
                  <a:pt x="692231" y="535639"/>
                  <a:pt x="584943" y="455056"/>
                  <a:pt x="394501" y="455056"/>
                </a:cubicBezTo>
                <a:cubicBezTo>
                  <a:pt x="394468" y="455056"/>
                  <a:pt x="394435" y="455039"/>
                  <a:pt x="394402" y="455039"/>
                </a:cubicBezTo>
                <a:lnTo>
                  <a:pt x="257604" y="455039"/>
                </a:lnTo>
                <a:lnTo>
                  <a:pt x="338219" y="713798"/>
                </a:lnTo>
                <a:cubicBezTo>
                  <a:pt x="340411" y="720819"/>
                  <a:pt x="339158" y="728237"/>
                  <a:pt x="334806" y="734154"/>
                </a:cubicBezTo>
                <a:cubicBezTo>
                  <a:pt x="330454" y="740071"/>
                  <a:pt x="323744" y="743466"/>
                  <a:pt x="316392" y="743466"/>
                </a:cubicBezTo>
                <a:lnTo>
                  <a:pt x="226067" y="743466"/>
                </a:lnTo>
                <a:cubicBezTo>
                  <a:pt x="216011" y="743466"/>
                  <a:pt x="207224" y="737005"/>
                  <a:pt x="204240" y="727396"/>
                </a:cubicBezTo>
                <a:lnTo>
                  <a:pt x="116932" y="447210"/>
                </a:lnTo>
                <a:cubicBezTo>
                  <a:pt x="47874" y="425338"/>
                  <a:pt x="0" y="360331"/>
                  <a:pt x="0" y="287495"/>
                </a:cubicBezTo>
                <a:cubicBezTo>
                  <a:pt x="0" y="242745"/>
                  <a:pt x="17442" y="200682"/>
                  <a:pt x="49078" y="169019"/>
                </a:cubicBezTo>
                <a:cubicBezTo>
                  <a:pt x="80730" y="137372"/>
                  <a:pt x="122818" y="119950"/>
                  <a:pt x="167593" y="119950"/>
                </a:cubicBezTo>
                <a:lnTo>
                  <a:pt x="394484" y="119950"/>
                </a:lnTo>
                <a:cubicBezTo>
                  <a:pt x="394501" y="119950"/>
                  <a:pt x="394501" y="119950"/>
                  <a:pt x="394517" y="119950"/>
                </a:cubicBezTo>
                <a:cubicBezTo>
                  <a:pt x="584943" y="119950"/>
                  <a:pt x="692231" y="39351"/>
                  <a:pt x="729521" y="4705"/>
                </a:cubicBezTo>
                <a:cubicBezTo>
                  <a:pt x="734681" y="-91"/>
                  <a:pt x="741902" y="-1328"/>
                  <a:pt x="748381" y="1491"/>
                </a:cubicBezTo>
                <a:cubicBezTo>
                  <a:pt x="754860" y="4326"/>
                  <a:pt x="758882" y="10474"/>
                  <a:pt x="758882" y="17528"/>
                </a:cubicBezTo>
                <a:lnTo>
                  <a:pt x="758882" y="216587"/>
                </a:lnTo>
                <a:cubicBezTo>
                  <a:pt x="794392" y="220691"/>
                  <a:pt x="822055" y="250904"/>
                  <a:pt x="822055" y="287495"/>
                </a:cubicBezTo>
                <a:close/>
              </a:path>
            </a:pathLst>
          </a:custGeom>
          <a:solidFill>
            <a:srgbClr val="000000"/>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1" name="Google Shape;121;p14"/>
          <p:cNvSpPr/>
          <p:nvPr/>
        </p:nvSpPr>
        <p:spPr>
          <a:xfrm>
            <a:off x="6307416" y="1986947"/>
            <a:ext cx="394541" cy="355243"/>
          </a:xfrm>
          <a:custGeom>
            <a:avLst/>
            <a:gdLst/>
            <a:ahLst/>
            <a:cxnLst/>
            <a:rect l="l" t="t" r="r" b="b"/>
            <a:pathLst>
              <a:path w="789083" h="710486" extrusionOk="0">
                <a:moveTo>
                  <a:pt x="306006" y="702213"/>
                </a:moveTo>
                <a:cubicBezTo>
                  <a:pt x="306616" y="704158"/>
                  <a:pt x="306253" y="706234"/>
                  <a:pt x="305050" y="707883"/>
                </a:cubicBezTo>
                <a:cubicBezTo>
                  <a:pt x="303830" y="709547"/>
                  <a:pt x="301950" y="710487"/>
                  <a:pt x="299906" y="710487"/>
                </a:cubicBezTo>
                <a:lnTo>
                  <a:pt x="209582" y="710487"/>
                </a:lnTo>
                <a:cubicBezTo>
                  <a:pt x="206779" y="710487"/>
                  <a:pt x="204323" y="708690"/>
                  <a:pt x="203482" y="706004"/>
                </a:cubicBezTo>
                <a:lnTo>
                  <a:pt x="119207" y="435477"/>
                </a:lnTo>
                <a:cubicBezTo>
                  <a:pt x="129676" y="437504"/>
                  <a:pt x="140342" y="438542"/>
                  <a:pt x="151107" y="438542"/>
                </a:cubicBezTo>
                <a:lnTo>
                  <a:pt x="223842" y="438542"/>
                </a:lnTo>
                <a:lnTo>
                  <a:pt x="306006" y="702213"/>
                </a:lnTo>
                <a:close/>
                <a:moveTo>
                  <a:pt x="299544" y="422060"/>
                </a:moveTo>
                <a:lnTo>
                  <a:pt x="299544" y="119936"/>
                </a:lnTo>
                <a:lnTo>
                  <a:pt x="151107" y="119936"/>
                </a:lnTo>
                <a:cubicBezTo>
                  <a:pt x="110734" y="119936"/>
                  <a:pt x="72784" y="135644"/>
                  <a:pt x="44247" y="164175"/>
                </a:cubicBezTo>
                <a:cubicBezTo>
                  <a:pt x="15727" y="192723"/>
                  <a:pt x="0" y="230649"/>
                  <a:pt x="0" y="270998"/>
                </a:cubicBezTo>
                <a:cubicBezTo>
                  <a:pt x="0" y="338032"/>
                  <a:pt x="44956" y="397732"/>
                  <a:pt x="109300" y="416192"/>
                </a:cubicBezTo>
                <a:cubicBezTo>
                  <a:pt x="122834" y="420082"/>
                  <a:pt x="136897" y="422060"/>
                  <a:pt x="151107" y="422060"/>
                </a:cubicBezTo>
                <a:lnTo>
                  <a:pt x="299544" y="422060"/>
                </a:lnTo>
                <a:close/>
                <a:moveTo>
                  <a:pt x="377982" y="119936"/>
                </a:moveTo>
                <a:lnTo>
                  <a:pt x="316029" y="119936"/>
                </a:lnTo>
                <a:lnTo>
                  <a:pt x="316029" y="422060"/>
                </a:lnTo>
                <a:lnTo>
                  <a:pt x="377999" y="422060"/>
                </a:lnTo>
                <a:cubicBezTo>
                  <a:pt x="378032" y="422060"/>
                  <a:pt x="378065" y="422076"/>
                  <a:pt x="378098" y="422076"/>
                </a:cubicBezTo>
                <a:cubicBezTo>
                  <a:pt x="500338" y="422093"/>
                  <a:pt x="589575" y="454547"/>
                  <a:pt x="648857" y="487726"/>
                </a:cubicBezTo>
                <a:lnTo>
                  <a:pt x="648857" y="54270"/>
                </a:lnTo>
                <a:cubicBezTo>
                  <a:pt x="589558" y="87465"/>
                  <a:pt x="500289" y="119936"/>
                  <a:pt x="378015" y="119936"/>
                </a:cubicBezTo>
                <a:cubicBezTo>
                  <a:pt x="377999" y="119936"/>
                  <a:pt x="377999" y="119936"/>
                  <a:pt x="377982" y="119936"/>
                </a:cubicBezTo>
                <a:close/>
                <a:moveTo>
                  <a:pt x="725301" y="108"/>
                </a:moveTo>
                <a:cubicBezTo>
                  <a:pt x="724724" y="-155"/>
                  <a:pt x="724411" y="125"/>
                  <a:pt x="724246" y="290"/>
                </a:cubicBezTo>
                <a:cubicBezTo>
                  <a:pt x="712014" y="11663"/>
                  <a:pt x="692495" y="27815"/>
                  <a:pt x="665343" y="44578"/>
                </a:cubicBezTo>
                <a:lnTo>
                  <a:pt x="665343" y="497418"/>
                </a:lnTo>
                <a:cubicBezTo>
                  <a:pt x="692495" y="514197"/>
                  <a:pt x="712014" y="530350"/>
                  <a:pt x="724262" y="541723"/>
                </a:cubicBezTo>
                <a:cubicBezTo>
                  <a:pt x="724411" y="541871"/>
                  <a:pt x="724724" y="542151"/>
                  <a:pt x="725301" y="541904"/>
                </a:cubicBezTo>
                <a:cubicBezTo>
                  <a:pt x="725911" y="541624"/>
                  <a:pt x="725911" y="541179"/>
                  <a:pt x="725911" y="540965"/>
                </a:cubicBezTo>
                <a:lnTo>
                  <a:pt x="725911" y="270998"/>
                </a:lnTo>
                <a:lnTo>
                  <a:pt x="725911" y="1031"/>
                </a:lnTo>
                <a:cubicBezTo>
                  <a:pt x="725911" y="817"/>
                  <a:pt x="725911" y="372"/>
                  <a:pt x="725301" y="108"/>
                </a:cubicBezTo>
                <a:close/>
                <a:moveTo>
                  <a:pt x="742397" y="216705"/>
                </a:moveTo>
                <a:lnTo>
                  <a:pt x="742397" y="270998"/>
                </a:lnTo>
                <a:lnTo>
                  <a:pt x="742397" y="325308"/>
                </a:lnTo>
                <a:cubicBezTo>
                  <a:pt x="768790" y="321319"/>
                  <a:pt x="789084" y="298491"/>
                  <a:pt x="789084" y="270998"/>
                </a:cubicBezTo>
                <a:cubicBezTo>
                  <a:pt x="789084" y="243522"/>
                  <a:pt x="768790" y="220693"/>
                  <a:pt x="742397" y="216705"/>
                </a:cubicBezTo>
                <a:close/>
              </a:path>
            </a:pathLst>
          </a:custGeom>
          <a:solidFill>
            <a:srgbClr val="FFFFFF"/>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2" name="Google Shape;122;p14"/>
          <p:cNvSpPr/>
          <p:nvPr/>
        </p:nvSpPr>
        <p:spPr>
          <a:xfrm>
            <a:off x="6299173" y="1978698"/>
            <a:ext cx="411027" cy="371733"/>
          </a:xfrm>
          <a:custGeom>
            <a:avLst/>
            <a:gdLst/>
            <a:ahLst/>
            <a:cxnLst/>
            <a:rect l="l" t="t" r="r" b="b"/>
            <a:pathLst>
              <a:path w="822054" h="743466" extrusionOk="0">
                <a:moveTo>
                  <a:pt x="758882" y="216587"/>
                </a:moveTo>
                <a:lnTo>
                  <a:pt x="758882" y="17528"/>
                </a:lnTo>
                <a:cubicBezTo>
                  <a:pt x="758882" y="10474"/>
                  <a:pt x="754860" y="4326"/>
                  <a:pt x="748381" y="1491"/>
                </a:cubicBezTo>
                <a:cubicBezTo>
                  <a:pt x="741902" y="-1328"/>
                  <a:pt x="734681" y="-91"/>
                  <a:pt x="729521" y="4705"/>
                </a:cubicBezTo>
                <a:cubicBezTo>
                  <a:pt x="692231" y="39351"/>
                  <a:pt x="584943" y="119950"/>
                  <a:pt x="394517" y="119950"/>
                </a:cubicBezTo>
                <a:cubicBezTo>
                  <a:pt x="394501" y="119950"/>
                  <a:pt x="394501" y="119950"/>
                  <a:pt x="394484" y="119950"/>
                </a:cubicBezTo>
                <a:lnTo>
                  <a:pt x="167593" y="119950"/>
                </a:lnTo>
                <a:cubicBezTo>
                  <a:pt x="122818" y="119950"/>
                  <a:pt x="80730" y="137372"/>
                  <a:pt x="49078" y="169019"/>
                </a:cubicBezTo>
                <a:cubicBezTo>
                  <a:pt x="17442" y="200682"/>
                  <a:pt x="0" y="242745"/>
                  <a:pt x="0" y="287495"/>
                </a:cubicBezTo>
                <a:cubicBezTo>
                  <a:pt x="0" y="360331"/>
                  <a:pt x="47874" y="425338"/>
                  <a:pt x="116932" y="447210"/>
                </a:cubicBezTo>
                <a:lnTo>
                  <a:pt x="204240" y="727396"/>
                </a:lnTo>
                <a:cubicBezTo>
                  <a:pt x="207224" y="737005"/>
                  <a:pt x="216011" y="743466"/>
                  <a:pt x="226067" y="743466"/>
                </a:cubicBezTo>
                <a:lnTo>
                  <a:pt x="316392" y="743466"/>
                </a:lnTo>
                <a:cubicBezTo>
                  <a:pt x="323744" y="743466"/>
                  <a:pt x="330454" y="740071"/>
                  <a:pt x="334806" y="734154"/>
                </a:cubicBezTo>
                <a:cubicBezTo>
                  <a:pt x="339158" y="728237"/>
                  <a:pt x="340411" y="720819"/>
                  <a:pt x="338219" y="713798"/>
                </a:cubicBezTo>
                <a:lnTo>
                  <a:pt x="257604" y="455039"/>
                </a:lnTo>
                <a:lnTo>
                  <a:pt x="394402" y="455039"/>
                </a:lnTo>
                <a:cubicBezTo>
                  <a:pt x="394435" y="455039"/>
                  <a:pt x="394468" y="455056"/>
                  <a:pt x="394501" y="455056"/>
                </a:cubicBezTo>
                <a:cubicBezTo>
                  <a:pt x="584943" y="455056"/>
                  <a:pt x="692231" y="535639"/>
                  <a:pt x="729521" y="570301"/>
                </a:cubicBezTo>
                <a:cubicBezTo>
                  <a:pt x="732851" y="573384"/>
                  <a:pt x="737039" y="574999"/>
                  <a:pt x="741325" y="574999"/>
                </a:cubicBezTo>
                <a:cubicBezTo>
                  <a:pt x="743682" y="574999"/>
                  <a:pt x="746073" y="574504"/>
                  <a:pt x="748381" y="573499"/>
                </a:cubicBezTo>
                <a:cubicBezTo>
                  <a:pt x="754860" y="570681"/>
                  <a:pt x="758882" y="564533"/>
                  <a:pt x="758882" y="557462"/>
                </a:cubicBezTo>
                <a:lnTo>
                  <a:pt x="758882" y="358419"/>
                </a:lnTo>
                <a:cubicBezTo>
                  <a:pt x="794392" y="354315"/>
                  <a:pt x="822055" y="324086"/>
                  <a:pt x="822055" y="287495"/>
                </a:cubicBezTo>
                <a:cubicBezTo>
                  <a:pt x="822055" y="250904"/>
                  <a:pt x="794392" y="220691"/>
                  <a:pt x="758882" y="216587"/>
                </a:cubicBezTo>
                <a:close/>
                <a:moveTo>
                  <a:pt x="322492" y="718710"/>
                </a:moveTo>
                <a:cubicBezTo>
                  <a:pt x="323102" y="720655"/>
                  <a:pt x="322739" y="722731"/>
                  <a:pt x="321535" y="724380"/>
                </a:cubicBezTo>
                <a:cubicBezTo>
                  <a:pt x="320315" y="726044"/>
                  <a:pt x="318436" y="726984"/>
                  <a:pt x="316392" y="726984"/>
                </a:cubicBezTo>
                <a:lnTo>
                  <a:pt x="226067" y="726984"/>
                </a:lnTo>
                <a:cubicBezTo>
                  <a:pt x="223265" y="726984"/>
                  <a:pt x="220808" y="725187"/>
                  <a:pt x="219968" y="722501"/>
                </a:cubicBezTo>
                <a:lnTo>
                  <a:pt x="135693" y="451974"/>
                </a:lnTo>
                <a:cubicBezTo>
                  <a:pt x="146161" y="454001"/>
                  <a:pt x="156828" y="455039"/>
                  <a:pt x="167593" y="455039"/>
                </a:cubicBezTo>
                <a:lnTo>
                  <a:pt x="240327" y="455039"/>
                </a:lnTo>
                <a:lnTo>
                  <a:pt x="322492" y="718710"/>
                </a:lnTo>
                <a:close/>
                <a:moveTo>
                  <a:pt x="316029" y="438557"/>
                </a:moveTo>
                <a:lnTo>
                  <a:pt x="167593" y="438557"/>
                </a:lnTo>
                <a:cubicBezTo>
                  <a:pt x="153382" y="438557"/>
                  <a:pt x="139320" y="436579"/>
                  <a:pt x="125785" y="432689"/>
                </a:cubicBezTo>
                <a:cubicBezTo>
                  <a:pt x="61442" y="414229"/>
                  <a:pt x="16486" y="354529"/>
                  <a:pt x="16486" y="287495"/>
                </a:cubicBezTo>
                <a:cubicBezTo>
                  <a:pt x="16486" y="247146"/>
                  <a:pt x="32213" y="209220"/>
                  <a:pt x="60733" y="180672"/>
                </a:cubicBezTo>
                <a:cubicBezTo>
                  <a:pt x="89270" y="152141"/>
                  <a:pt x="127219" y="136433"/>
                  <a:pt x="167593" y="136433"/>
                </a:cubicBezTo>
                <a:lnTo>
                  <a:pt x="316029" y="136433"/>
                </a:lnTo>
                <a:lnTo>
                  <a:pt x="316029" y="438557"/>
                </a:lnTo>
                <a:close/>
                <a:moveTo>
                  <a:pt x="665343" y="504223"/>
                </a:moveTo>
                <a:cubicBezTo>
                  <a:pt x="606061" y="471044"/>
                  <a:pt x="516824" y="438590"/>
                  <a:pt x="394583" y="438573"/>
                </a:cubicBezTo>
                <a:cubicBezTo>
                  <a:pt x="394550" y="438573"/>
                  <a:pt x="394517" y="438557"/>
                  <a:pt x="394484" y="438557"/>
                </a:cubicBezTo>
                <a:lnTo>
                  <a:pt x="332515" y="438557"/>
                </a:lnTo>
                <a:lnTo>
                  <a:pt x="332515" y="136433"/>
                </a:lnTo>
                <a:lnTo>
                  <a:pt x="394468" y="136433"/>
                </a:lnTo>
                <a:cubicBezTo>
                  <a:pt x="394484" y="136433"/>
                  <a:pt x="394484" y="136433"/>
                  <a:pt x="394501" y="136433"/>
                </a:cubicBezTo>
                <a:cubicBezTo>
                  <a:pt x="516774" y="136433"/>
                  <a:pt x="606044" y="103962"/>
                  <a:pt x="665343" y="70767"/>
                </a:cubicBezTo>
                <a:lnTo>
                  <a:pt x="665343" y="504223"/>
                </a:lnTo>
                <a:close/>
                <a:moveTo>
                  <a:pt x="742397" y="287495"/>
                </a:moveTo>
                <a:lnTo>
                  <a:pt x="742397" y="557462"/>
                </a:lnTo>
                <a:cubicBezTo>
                  <a:pt x="742397" y="557676"/>
                  <a:pt x="742397" y="558121"/>
                  <a:pt x="741787" y="558401"/>
                </a:cubicBezTo>
                <a:cubicBezTo>
                  <a:pt x="741210" y="558648"/>
                  <a:pt x="740896" y="558368"/>
                  <a:pt x="740748" y="558220"/>
                </a:cubicBezTo>
                <a:cubicBezTo>
                  <a:pt x="728499" y="546847"/>
                  <a:pt x="708980" y="530694"/>
                  <a:pt x="681828" y="513915"/>
                </a:cubicBezTo>
                <a:lnTo>
                  <a:pt x="681828" y="61075"/>
                </a:lnTo>
                <a:cubicBezTo>
                  <a:pt x="708980" y="44312"/>
                  <a:pt x="728499" y="28160"/>
                  <a:pt x="740732" y="16787"/>
                </a:cubicBezTo>
                <a:cubicBezTo>
                  <a:pt x="740896" y="16622"/>
                  <a:pt x="741210" y="16342"/>
                  <a:pt x="741787" y="16605"/>
                </a:cubicBezTo>
                <a:cubicBezTo>
                  <a:pt x="742397" y="16869"/>
                  <a:pt x="742397" y="17314"/>
                  <a:pt x="742397" y="17528"/>
                </a:cubicBezTo>
                <a:lnTo>
                  <a:pt x="742397" y="287495"/>
                </a:lnTo>
                <a:close/>
                <a:moveTo>
                  <a:pt x="758882" y="341805"/>
                </a:moveTo>
                <a:lnTo>
                  <a:pt x="758882" y="287495"/>
                </a:lnTo>
                <a:lnTo>
                  <a:pt x="758882" y="233202"/>
                </a:lnTo>
                <a:cubicBezTo>
                  <a:pt x="785276" y="237190"/>
                  <a:pt x="805569" y="260019"/>
                  <a:pt x="805569" y="287495"/>
                </a:cubicBezTo>
                <a:cubicBezTo>
                  <a:pt x="805569" y="314988"/>
                  <a:pt x="785276" y="337816"/>
                  <a:pt x="758882" y="341805"/>
                </a:cubicBezTo>
                <a:close/>
              </a:path>
            </a:pathLst>
          </a:custGeom>
          <a:solidFill>
            <a:srgbClr val="000000"/>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3" name="Google Shape;123;p14"/>
          <p:cNvSpPr/>
          <p:nvPr/>
        </p:nvSpPr>
        <p:spPr>
          <a:xfrm>
            <a:off x="3578328" y="1958346"/>
            <a:ext cx="248026" cy="371628"/>
          </a:xfrm>
          <a:custGeom>
            <a:avLst/>
            <a:gdLst/>
            <a:ahLst/>
            <a:cxnLst/>
            <a:rect l="l" t="t" r="r" b="b"/>
            <a:pathLst>
              <a:path w="496053" h="743255" extrusionOk="0">
                <a:moveTo>
                  <a:pt x="496054" y="246218"/>
                </a:moveTo>
                <a:cubicBezTo>
                  <a:pt x="496054" y="307251"/>
                  <a:pt x="467946" y="360552"/>
                  <a:pt x="440776" y="412110"/>
                </a:cubicBezTo>
                <a:cubicBezTo>
                  <a:pt x="435250" y="422583"/>
                  <a:pt x="429545" y="433428"/>
                  <a:pt x="424227" y="444050"/>
                </a:cubicBezTo>
                <a:cubicBezTo>
                  <a:pt x="393870" y="504740"/>
                  <a:pt x="377812" y="567754"/>
                  <a:pt x="377812" y="626255"/>
                </a:cubicBezTo>
                <a:cubicBezTo>
                  <a:pt x="377812" y="645606"/>
                  <a:pt x="379913" y="656332"/>
                  <a:pt x="379928" y="656436"/>
                </a:cubicBezTo>
                <a:cubicBezTo>
                  <a:pt x="380360" y="658626"/>
                  <a:pt x="379794" y="660905"/>
                  <a:pt x="378378" y="662633"/>
                </a:cubicBezTo>
                <a:cubicBezTo>
                  <a:pt x="376963" y="664346"/>
                  <a:pt x="374863" y="665359"/>
                  <a:pt x="372629" y="665359"/>
                </a:cubicBezTo>
                <a:lnTo>
                  <a:pt x="337445" y="665359"/>
                </a:lnTo>
                <a:lnTo>
                  <a:pt x="337445" y="723502"/>
                </a:lnTo>
                <a:cubicBezTo>
                  <a:pt x="337445" y="734392"/>
                  <a:pt x="328582" y="743256"/>
                  <a:pt x="317679" y="743256"/>
                </a:cubicBezTo>
                <a:lnTo>
                  <a:pt x="174696" y="743256"/>
                </a:lnTo>
                <a:cubicBezTo>
                  <a:pt x="163792" y="743256"/>
                  <a:pt x="154929" y="734392"/>
                  <a:pt x="154929" y="723502"/>
                </a:cubicBezTo>
                <a:lnTo>
                  <a:pt x="154929" y="665359"/>
                </a:lnTo>
                <a:lnTo>
                  <a:pt x="123529" y="665359"/>
                </a:lnTo>
                <a:cubicBezTo>
                  <a:pt x="121295" y="665359"/>
                  <a:pt x="119120" y="664361"/>
                  <a:pt x="117705" y="662618"/>
                </a:cubicBezTo>
                <a:cubicBezTo>
                  <a:pt x="116290" y="660890"/>
                  <a:pt x="115679" y="658626"/>
                  <a:pt x="116126" y="656436"/>
                </a:cubicBezTo>
                <a:cubicBezTo>
                  <a:pt x="116141" y="656332"/>
                  <a:pt x="118241" y="645606"/>
                  <a:pt x="118241" y="626255"/>
                </a:cubicBezTo>
                <a:cubicBezTo>
                  <a:pt x="118241" y="606576"/>
                  <a:pt x="116409" y="586376"/>
                  <a:pt x="112849" y="565937"/>
                </a:cubicBezTo>
                <a:cubicBezTo>
                  <a:pt x="112387" y="564983"/>
                  <a:pt x="112119" y="563911"/>
                  <a:pt x="112119" y="562779"/>
                </a:cubicBezTo>
                <a:cubicBezTo>
                  <a:pt x="112119" y="562585"/>
                  <a:pt x="112164" y="562406"/>
                  <a:pt x="112179" y="562213"/>
                </a:cubicBezTo>
                <a:cubicBezTo>
                  <a:pt x="104955" y="523078"/>
                  <a:pt x="91355" y="483095"/>
                  <a:pt x="71827" y="444050"/>
                </a:cubicBezTo>
                <a:cubicBezTo>
                  <a:pt x="66509" y="433428"/>
                  <a:pt x="60804" y="422583"/>
                  <a:pt x="55278" y="412110"/>
                </a:cubicBezTo>
                <a:cubicBezTo>
                  <a:pt x="28108" y="360552"/>
                  <a:pt x="0" y="307251"/>
                  <a:pt x="0" y="246218"/>
                </a:cubicBezTo>
                <a:cubicBezTo>
                  <a:pt x="0" y="110461"/>
                  <a:pt x="110436" y="0"/>
                  <a:pt x="246180" y="0"/>
                </a:cubicBezTo>
                <a:lnTo>
                  <a:pt x="249874" y="0"/>
                </a:lnTo>
                <a:cubicBezTo>
                  <a:pt x="385618" y="0"/>
                  <a:pt x="496054" y="110461"/>
                  <a:pt x="496054" y="246218"/>
                </a:cubicBezTo>
                <a:close/>
              </a:path>
            </a:pathLst>
          </a:custGeom>
          <a:solidFill>
            <a:srgbClr val="000000"/>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4" name="Google Shape;124;p14"/>
          <p:cNvSpPr/>
          <p:nvPr/>
        </p:nvSpPr>
        <p:spPr>
          <a:xfrm>
            <a:off x="3585775" y="1965794"/>
            <a:ext cx="233131" cy="356731"/>
          </a:xfrm>
          <a:custGeom>
            <a:avLst/>
            <a:gdLst/>
            <a:ahLst/>
            <a:cxnLst/>
            <a:rect l="l" t="t" r="r" b="b"/>
            <a:pathLst>
              <a:path w="466262" h="713461" extrusionOk="0">
                <a:moveTo>
                  <a:pt x="154929" y="650462"/>
                </a:moveTo>
                <a:lnTo>
                  <a:pt x="307654" y="650462"/>
                </a:lnTo>
                <a:lnTo>
                  <a:pt x="307654" y="708605"/>
                </a:lnTo>
                <a:cubicBezTo>
                  <a:pt x="307654" y="711287"/>
                  <a:pt x="305464" y="713462"/>
                  <a:pt x="302783" y="713462"/>
                </a:cubicBezTo>
                <a:lnTo>
                  <a:pt x="159800" y="713462"/>
                </a:lnTo>
                <a:cubicBezTo>
                  <a:pt x="157119" y="713462"/>
                  <a:pt x="154929" y="711287"/>
                  <a:pt x="154929" y="708605"/>
                </a:cubicBezTo>
                <a:lnTo>
                  <a:pt x="154929" y="650462"/>
                </a:lnTo>
                <a:close/>
                <a:moveTo>
                  <a:pt x="348185" y="601138"/>
                </a:moveTo>
                <a:lnTo>
                  <a:pt x="118078" y="601138"/>
                </a:lnTo>
                <a:cubicBezTo>
                  <a:pt x="118182" y="604550"/>
                  <a:pt x="118241" y="607961"/>
                  <a:pt x="118241" y="611358"/>
                </a:cubicBezTo>
                <a:cubicBezTo>
                  <a:pt x="118241" y="621830"/>
                  <a:pt x="117660" y="629964"/>
                  <a:pt x="117080" y="635565"/>
                </a:cubicBezTo>
                <a:lnTo>
                  <a:pt x="147422" y="635565"/>
                </a:lnTo>
                <a:cubicBezTo>
                  <a:pt x="147437" y="635565"/>
                  <a:pt x="147467" y="635565"/>
                  <a:pt x="147482" y="635565"/>
                </a:cubicBezTo>
                <a:lnTo>
                  <a:pt x="315102" y="635565"/>
                </a:lnTo>
                <a:cubicBezTo>
                  <a:pt x="315117" y="635565"/>
                  <a:pt x="315147" y="635565"/>
                  <a:pt x="315161" y="635565"/>
                </a:cubicBezTo>
                <a:lnTo>
                  <a:pt x="349183" y="635565"/>
                </a:lnTo>
                <a:cubicBezTo>
                  <a:pt x="348602" y="629964"/>
                  <a:pt x="348021" y="621830"/>
                  <a:pt x="348021" y="611358"/>
                </a:cubicBezTo>
                <a:cubicBezTo>
                  <a:pt x="348021" y="607961"/>
                  <a:pt x="348081" y="604550"/>
                  <a:pt x="348185" y="601138"/>
                </a:cubicBezTo>
                <a:close/>
                <a:moveTo>
                  <a:pt x="117303" y="586241"/>
                </a:moveTo>
                <a:lnTo>
                  <a:pt x="348960" y="586241"/>
                </a:lnTo>
                <a:cubicBezTo>
                  <a:pt x="349689" y="576022"/>
                  <a:pt x="350881" y="565713"/>
                  <a:pt x="352505" y="555330"/>
                </a:cubicBezTo>
                <a:lnTo>
                  <a:pt x="113758" y="555330"/>
                </a:lnTo>
                <a:cubicBezTo>
                  <a:pt x="115381" y="565713"/>
                  <a:pt x="116573" y="576022"/>
                  <a:pt x="117303" y="586241"/>
                </a:cubicBezTo>
                <a:close/>
                <a:moveTo>
                  <a:pt x="234978" y="0"/>
                </a:moveTo>
                <a:lnTo>
                  <a:pt x="231284" y="0"/>
                </a:lnTo>
                <a:cubicBezTo>
                  <a:pt x="103763" y="0"/>
                  <a:pt x="0" y="103772"/>
                  <a:pt x="0" y="231321"/>
                </a:cubicBezTo>
                <a:cubicBezTo>
                  <a:pt x="0" y="288659"/>
                  <a:pt x="27229" y="340307"/>
                  <a:pt x="53550" y="390271"/>
                </a:cubicBezTo>
                <a:cubicBezTo>
                  <a:pt x="59121" y="400819"/>
                  <a:pt x="64870" y="411723"/>
                  <a:pt x="70248" y="422494"/>
                </a:cubicBezTo>
                <a:cubicBezTo>
                  <a:pt x="89701" y="461390"/>
                  <a:pt x="103480" y="501254"/>
                  <a:pt x="111136" y="540433"/>
                </a:cubicBezTo>
                <a:lnTo>
                  <a:pt x="225683" y="540433"/>
                </a:lnTo>
                <a:lnTo>
                  <a:pt x="225683" y="294454"/>
                </a:lnTo>
                <a:lnTo>
                  <a:pt x="154214" y="231306"/>
                </a:lnTo>
                <a:cubicBezTo>
                  <a:pt x="151131" y="228579"/>
                  <a:pt x="150833" y="223872"/>
                  <a:pt x="153559" y="220788"/>
                </a:cubicBezTo>
                <a:cubicBezTo>
                  <a:pt x="156285" y="217705"/>
                  <a:pt x="160992" y="217422"/>
                  <a:pt x="164075" y="220133"/>
                </a:cubicBezTo>
                <a:lnTo>
                  <a:pt x="231284" y="279527"/>
                </a:lnTo>
                <a:lnTo>
                  <a:pt x="298508" y="220133"/>
                </a:lnTo>
                <a:cubicBezTo>
                  <a:pt x="301592" y="217422"/>
                  <a:pt x="306299" y="217705"/>
                  <a:pt x="309024" y="220788"/>
                </a:cubicBezTo>
                <a:cubicBezTo>
                  <a:pt x="311750" y="223872"/>
                  <a:pt x="311452" y="228579"/>
                  <a:pt x="308369" y="231306"/>
                </a:cubicBezTo>
                <a:lnTo>
                  <a:pt x="240579" y="291192"/>
                </a:lnTo>
                <a:lnTo>
                  <a:pt x="240579" y="540433"/>
                </a:lnTo>
                <a:lnTo>
                  <a:pt x="354039" y="540433"/>
                </a:lnTo>
                <a:cubicBezTo>
                  <a:pt x="354411" y="540433"/>
                  <a:pt x="354754" y="540493"/>
                  <a:pt x="355111" y="540537"/>
                </a:cubicBezTo>
                <a:cubicBezTo>
                  <a:pt x="362768" y="501329"/>
                  <a:pt x="376531" y="461419"/>
                  <a:pt x="396015" y="422494"/>
                </a:cubicBezTo>
                <a:cubicBezTo>
                  <a:pt x="401392" y="411723"/>
                  <a:pt x="407142" y="400819"/>
                  <a:pt x="412713" y="390271"/>
                </a:cubicBezTo>
                <a:cubicBezTo>
                  <a:pt x="439033" y="340307"/>
                  <a:pt x="466263" y="288659"/>
                  <a:pt x="466263" y="231321"/>
                </a:cubicBezTo>
                <a:cubicBezTo>
                  <a:pt x="466263" y="103772"/>
                  <a:pt x="362500" y="0"/>
                  <a:pt x="234978" y="0"/>
                </a:cubicBezTo>
                <a:close/>
              </a:path>
            </a:pathLst>
          </a:custGeom>
          <a:solidFill>
            <a:srgbClr val="FFFFFF"/>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5" name="Google Shape;125;p14"/>
          <p:cNvSpPr/>
          <p:nvPr/>
        </p:nvSpPr>
        <p:spPr>
          <a:xfrm>
            <a:off x="3578328" y="1958346"/>
            <a:ext cx="248026" cy="371628"/>
          </a:xfrm>
          <a:custGeom>
            <a:avLst/>
            <a:gdLst/>
            <a:ahLst/>
            <a:cxnLst/>
            <a:rect l="l" t="t" r="r" b="b"/>
            <a:pathLst>
              <a:path w="496053" h="743255" extrusionOk="0">
                <a:moveTo>
                  <a:pt x="249874" y="0"/>
                </a:moveTo>
                <a:lnTo>
                  <a:pt x="246180" y="0"/>
                </a:lnTo>
                <a:cubicBezTo>
                  <a:pt x="110436" y="0"/>
                  <a:pt x="0" y="110461"/>
                  <a:pt x="0" y="246218"/>
                </a:cubicBezTo>
                <a:cubicBezTo>
                  <a:pt x="0" y="307251"/>
                  <a:pt x="28108" y="360552"/>
                  <a:pt x="55278" y="412110"/>
                </a:cubicBezTo>
                <a:cubicBezTo>
                  <a:pt x="60804" y="422583"/>
                  <a:pt x="66509" y="433428"/>
                  <a:pt x="71827" y="444050"/>
                </a:cubicBezTo>
                <a:cubicBezTo>
                  <a:pt x="91355" y="483095"/>
                  <a:pt x="104955" y="523078"/>
                  <a:pt x="112179" y="562213"/>
                </a:cubicBezTo>
                <a:cubicBezTo>
                  <a:pt x="112164" y="562406"/>
                  <a:pt x="112119" y="562585"/>
                  <a:pt x="112119" y="562779"/>
                </a:cubicBezTo>
                <a:cubicBezTo>
                  <a:pt x="112119" y="563911"/>
                  <a:pt x="112387" y="564983"/>
                  <a:pt x="112849" y="565937"/>
                </a:cubicBezTo>
                <a:cubicBezTo>
                  <a:pt x="116409" y="586376"/>
                  <a:pt x="118241" y="606576"/>
                  <a:pt x="118241" y="626255"/>
                </a:cubicBezTo>
                <a:cubicBezTo>
                  <a:pt x="118241" y="645606"/>
                  <a:pt x="116141" y="656332"/>
                  <a:pt x="116126" y="656436"/>
                </a:cubicBezTo>
                <a:cubicBezTo>
                  <a:pt x="115679" y="658626"/>
                  <a:pt x="116290" y="660890"/>
                  <a:pt x="117705" y="662618"/>
                </a:cubicBezTo>
                <a:cubicBezTo>
                  <a:pt x="119120" y="664361"/>
                  <a:pt x="121295" y="665359"/>
                  <a:pt x="123529" y="665359"/>
                </a:cubicBezTo>
                <a:lnTo>
                  <a:pt x="154929" y="665359"/>
                </a:lnTo>
                <a:lnTo>
                  <a:pt x="154929" y="723502"/>
                </a:lnTo>
                <a:cubicBezTo>
                  <a:pt x="154929" y="734392"/>
                  <a:pt x="163792" y="743256"/>
                  <a:pt x="174696" y="743256"/>
                </a:cubicBezTo>
                <a:lnTo>
                  <a:pt x="317679" y="743256"/>
                </a:lnTo>
                <a:cubicBezTo>
                  <a:pt x="328582" y="743256"/>
                  <a:pt x="337445" y="734392"/>
                  <a:pt x="337445" y="723502"/>
                </a:cubicBezTo>
                <a:lnTo>
                  <a:pt x="337445" y="665359"/>
                </a:lnTo>
                <a:lnTo>
                  <a:pt x="372629" y="665359"/>
                </a:lnTo>
                <a:cubicBezTo>
                  <a:pt x="374863" y="665359"/>
                  <a:pt x="376963" y="664346"/>
                  <a:pt x="378378" y="662633"/>
                </a:cubicBezTo>
                <a:cubicBezTo>
                  <a:pt x="379794" y="660905"/>
                  <a:pt x="380360" y="658626"/>
                  <a:pt x="379928" y="656436"/>
                </a:cubicBezTo>
                <a:cubicBezTo>
                  <a:pt x="379913" y="656332"/>
                  <a:pt x="377812" y="645606"/>
                  <a:pt x="377812" y="626255"/>
                </a:cubicBezTo>
                <a:cubicBezTo>
                  <a:pt x="377812" y="567754"/>
                  <a:pt x="393870" y="504740"/>
                  <a:pt x="424227" y="444050"/>
                </a:cubicBezTo>
                <a:cubicBezTo>
                  <a:pt x="429545" y="433428"/>
                  <a:pt x="435250" y="422583"/>
                  <a:pt x="440776" y="412110"/>
                </a:cubicBezTo>
                <a:cubicBezTo>
                  <a:pt x="467946" y="360552"/>
                  <a:pt x="496054" y="307251"/>
                  <a:pt x="496054" y="246218"/>
                </a:cubicBezTo>
                <a:cubicBezTo>
                  <a:pt x="496054" y="110461"/>
                  <a:pt x="385618" y="0"/>
                  <a:pt x="249874" y="0"/>
                </a:cubicBezTo>
                <a:close/>
                <a:moveTo>
                  <a:pt x="322550" y="723502"/>
                </a:moveTo>
                <a:cubicBezTo>
                  <a:pt x="322550" y="726184"/>
                  <a:pt x="320360" y="728359"/>
                  <a:pt x="317679" y="728359"/>
                </a:cubicBezTo>
                <a:lnTo>
                  <a:pt x="174696" y="728359"/>
                </a:lnTo>
                <a:cubicBezTo>
                  <a:pt x="172015" y="728359"/>
                  <a:pt x="169825" y="726184"/>
                  <a:pt x="169825" y="723502"/>
                </a:cubicBezTo>
                <a:lnTo>
                  <a:pt x="169825" y="665359"/>
                </a:lnTo>
                <a:lnTo>
                  <a:pt x="322550" y="665359"/>
                </a:lnTo>
                <a:lnTo>
                  <a:pt x="322550" y="723502"/>
                </a:lnTo>
                <a:close/>
                <a:moveTo>
                  <a:pt x="330057" y="650462"/>
                </a:moveTo>
                <a:cubicBezTo>
                  <a:pt x="330042" y="650462"/>
                  <a:pt x="330012" y="650462"/>
                  <a:pt x="329997" y="650462"/>
                </a:cubicBezTo>
                <a:lnTo>
                  <a:pt x="162377" y="650462"/>
                </a:lnTo>
                <a:cubicBezTo>
                  <a:pt x="162362" y="650462"/>
                  <a:pt x="162332" y="650462"/>
                  <a:pt x="162318" y="650462"/>
                </a:cubicBezTo>
                <a:lnTo>
                  <a:pt x="131975" y="650462"/>
                </a:lnTo>
                <a:cubicBezTo>
                  <a:pt x="132556" y="644861"/>
                  <a:pt x="133137" y="636727"/>
                  <a:pt x="133137" y="626255"/>
                </a:cubicBezTo>
                <a:cubicBezTo>
                  <a:pt x="133137" y="622858"/>
                  <a:pt x="133077" y="619447"/>
                  <a:pt x="132973" y="616035"/>
                </a:cubicBezTo>
                <a:lnTo>
                  <a:pt x="363081" y="616035"/>
                </a:lnTo>
                <a:cubicBezTo>
                  <a:pt x="362976" y="619447"/>
                  <a:pt x="362917" y="622858"/>
                  <a:pt x="362917" y="626255"/>
                </a:cubicBezTo>
                <a:cubicBezTo>
                  <a:pt x="362917" y="636727"/>
                  <a:pt x="363498" y="644861"/>
                  <a:pt x="364079" y="650462"/>
                </a:cubicBezTo>
                <a:lnTo>
                  <a:pt x="330057" y="650462"/>
                </a:lnTo>
                <a:close/>
                <a:moveTo>
                  <a:pt x="363855" y="601138"/>
                </a:moveTo>
                <a:lnTo>
                  <a:pt x="132199" y="601138"/>
                </a:lnTo>
                <a:cubicBezTo>
                  <a:pt x="131469" y="590919"/>
                  <a:pt x="130277" y="580610"/>
                  <a:pt x="128653" y="570227"/>
                </a:cubicBezTo>
                <a:lnTo>
                  <a:pt x="367400" y="570227"/>
                </a:lnTo>
                <a:cubicBezTo>
                  <a:pt x="365777" y="580610"/>
                  <a:pt x="364585" y="590919"/>
                  <a:pt x="363855" y="601138"/>
                </a:cubicBezTo>
                <a:close/>
                <a:moveTo>
                  <a:pt x="427608" y="405168"/>
                </a:moveTo>
                <a:cubicBezTo>
                  <a:pt x="422037" y="415716"/>
                  <a:pt x="416288" y="426620"/>
                  <a:pt x="410910" y="437391"/>
                </a:cubicBezTo>
                <a:cubicBezTo>
                  <a:pt x="391427" y="476316"/>
                  <a:pt x="377663" y="516226"/>
                  <a:pt x="370007" y="555434"/>
                </a:cubicBezTo>
                <a:cubicBezTo>
                  <a:pt x="369650" y="555390"/>
                  <a:pt x="369307" y="555330"/>
                  <a:pt x="368935" y="555330"/>
                </a:cubicBezTo>
                <a:lnTo>
                  <a:pt x="255475" y="555330"/>
                </a:lnTo>
                <a:lnTo>
                  <a:pt x="255475" y="306089"/>
                </a:lnTo>
                <a:lnTo>
                  <a:pt x="323265" y="246203"/>
                </a:lnTo>
                <a:cubicBezTo>
                  <a:pt x="326348" y="243476"/>
                  <a:pt x="326646" y="238769"/>
                  <a:pt x="323920" y="235685"/>
                </a:cubicBezTo>
                <a:cubicBezTo>
                  <a:pt x="321194" y="232602"/>
                  <a:pt x="316487" y="232319"/>
                  <a:pt x="313404" y="235030"/>
                </a:cubicBezTo>
                <a:lnTo>
                  <a:pt x="246180" y="294424"/>
                </a:lnTo>
                <a:lnTo>
                  <a:pt x="178971" y="235030"/>
                </a:lnTo>
                <a:cubicBezTo>
                  <a:pt x="175887" y="232319"/>
                  <a:pt x="171180" y="232602"/>
                  <a:pt x="168455" y="235685"/>
                </a:cubicBezTo>
                <a:cubicBezTo>
                  <a:pt x="165729" y="238769"/>
                  <a:pt x="166027" y="243476"/>
                  <a:pt x="169110" y="246203"/>
                </a:cubicBezTo>
                <a:lnTo>
                  <a:pt x="240579" y="309351"/>
                </a:lnTo>
                <a:lnTo>
                  <a:pt x="240579" y="555330"/>
                </a:lnTo>
                <a:lnTo>
                  <a:pt x="126032" y="555330"/>
                </a:lnTo>
                <a:cubicBezTo>
                  <a:pt x="118375" y="516151"/>
                  <a:pt x="104597" y="476287"/>
                  <a:pt x="85143" y="437391"/>
                </a:cubicBezTo>
                <a:cubicBezTo>
                  <a:pt x="79766" y="426620"/>
                  <a:pt x="74016" y="415716"/>
                  <a:pt x="68445" y="405168"/>
                </a:cubicBezTo>
                <a:cubicBezTo>
                  <a:pt x="42125" y="355204"/>
                  <a:pt x="14896" y="303556"/>
                  <a:pt x="14896" y="246218"/>
                </a:cubicBezTo>
                <a:cubicBezTo>
                  <a:pt x="14896" y="118669"/>
                  <a:pt x="118658" y="14897"/>
                  <a:pt x="246180" y="14897"/>
                </a:cubicBezTo>
                <a:lnTo>
                  <a:pt x="249874" y="14897"/>
                </a:lnTo>
                <a:cubicBezTo>
                  <a:pt x="377395" y="14897"/>
                  <a:pt x="481158" y="118669"/>
                  <a:pt x="481158" y="246218"/>
                </a:cubicBezTo>
                <a:cubicBezTo>
                  <a:pt x="481158" y="303556"/>
                  <a:pt x="453929" y="355204"/>
                  <a:pt x="427608" y="405168"/>
                </a:cubicBezTo>
                <a:close/>
              </a:path>
            </a:pathLst>
          </a:custGeom>
          <a:solidFill>
            <a:srgbClr val="000000"/>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29" name="Google Shape;129;p14"/>
          <p:cNvSpPr/>
          <p:nvPr/>
        </p:nvSpPr>
        <p:spPr>
          <a:xfrm>
            <a:off x="792243" y="1962469"/>
            <a:ext cx="234186" cy="403841"/>
          </a:xfrm>
          <a:custGeom>
            <a:avLst/>
            <a:gdLst/>
            <a:ahLst/>
            <a:cxnLst/>
            <a:rect l="l" t="t" r="r" b="b"/>
            <a:pathLst>
              <a:path w="468372" h="807682" extrusionOk="0">
                <a:moveTo>
                  <a:pt x="370105" y="722449"/>
                </a:moveTo>
                <a:lnTo>
                  <a:pt x="370105" y="789851"/>
                </a:lnTo>
                <a:cubicBezTo>
                  <a:pt x="370105" y="799699"/>
                  <a:pt x="362120" y="807683"/>
                  <a:pt x="352270" y="807683"/>
                </a:cubicBezTo>
                <a:lnTo>
                  <a:pt x="116103" y="807683"/>
                </a:lnTo>
                <a:cubicBezTo>
                  <a:pt x="106253" y="807683"/>
                  <a:pt x="98268" y="799699"/>
                  <a:pt x="98268" y="789851"/>
                </a:cubicBezTo>
                <a:lnTo>
                  <a:pt x="98268" y="722449"/>
                </a:lnTo>
                <a:cubicBezTo>
                  <a:pt x="98268" y="712601"/>
                  <a:pt x="106253" y="704617"/>
                  <a:pt x="116103" y="704617"/>
                </a:cubicBezTo>
                <a:lnTo>
                  <a:pt x="352286" y="704617"/>
                </a:lnTo>
                <a:cubicBezTo>
                  <a:pt x="362120" y="704601"/>
                  <a:pt x="370105" y="712585"/>
                  <a:pt x="370105" y="722449"/>
                </a:cubicBezTo>
                <a:close/>
                <a:moveTo>
                  <a:pt x="457698" y="0"/>
                </a:moveTo>
                <a:lnTo>
                  <a:pt x="10675" y="0"/>
                </a:lnTo>
                <a:cubicBezTo>
                  <a:pt x="4768" y="0"/>
                  <a:pt x="0" y="4784"/>
                  <a:pt x="0" y="10673"/>
                </a:cubicBezTo>
                <a:lnTo>
                  <a:pt x="0" y="314690"/>
                </a:lnTo>
                <a:cubicBezTo>
                  <a:pt x="0" y="424816"/>
                  <a:pt x="76044" y="517176"/>
                  <a:pt x="178502" y="542150"/>
                </a:cubicBezTo>
                <a:lnTo>
                  <a:pt x="178387" y="542150"/>
                </a:lnTo>
                <a:lnTo>
                  <a:pt x="156130" y="704601"/>
                </a:lnTo>
                <a:lnTo>
                  <a:pt x="312243" y="704601"/>
                </a:lnTo>
                <a:lnTo>
                  <a:pt x="289986" y="542150"/>
                </a:lnTo>
                <a:lnTo>
                  <a:pt x="289871" y="542150"/>
                </a:lnTo>
                <a:cubicBezTo>
                  <a:pt x="392329" y="517159"/>
                  <a:pt x="468373" y="424816"/>
                  <a:pt x="468373" y="314690"/>
                </a:cubicBezTo>
                <a:lnTo>
                  <a:pt x="468373" y="10673"/>
                </a:lnTo>
                <a:cubicBezTo>
                  <a:pt x="468373" y="4784"/>
                  <a:pt x="463588" y="0"/>
                  <a:pt x="457698" y="0"/>
                </a:cubicBezTo>
                <a:close/>
              </a:path>
            </a:pathLst>
          </a:custGeom>
          <a:solidFill>
            <a:srgbClr val="FFFFFF"/>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30" name="Google Shape;130;p14"/>
          <p:cNvSpPr/>
          <p:nvPr/>
        </p:nvSpPr>
        <p:spPr>
          <a:xfrm>
            <a:off x="716000" y="1958346"/>
            <a:ext cx="386697" cy="412089"/>
          </a:xfrm>
          <a:custGeom>
            <a:avLst/>
            <a:gdLst/>
            <a:ahLst/>
            <a:cxnLst/>
            <a:rect l="l" t="t" r="r" b="b"/>
            <a:pathLst>
              <a:path w="773395" h="824178" extrusionOk="0">
                <a:moveTo>
                  <a:pt x="748809" y="134771"/>
                </a:moveTo>
                <a:lnTo>
                  <a:pt x="629109" y="134771"/>
                </a:lnTo>
                <a:lnTo>
                  <a:pt x="629109" y="18921"/>
                </a:lnTo>
                <a:cubicBezTo>
                  <a:pt x="629109" y="8495"/>
                  <a:pt x="620612" y="0"/>
                  <a:pt x="610184" y="0"/>
                </a:cubicBezTo>
                <a:lnTo>
                  <a:pt x="163161" y="0"/>
                </a:lnTo>
                <a:cubicBezTo>
                  <a:pt x="152717" y="0"/>
                  <a:pt x="144237" y="8495"/>
                  <a:pt x="144237" y="18921"/>
                </a:cubicBezTo>
                <a:lnTo>
                  <a:pt x="144237" y="134771"/>
                </a:lnTo>
                <a:lnTo>
                  <a:pt x="24520" y="134771"/>
                </a:lnTo>
                <a:cubicBezTo>
                  <a:pt x="11024" y="134771"/>
                  <a:pt x="36" y="145757"/>
                  <a:pt x="3" y="159267"/>
                </a:cubicBezTo>
                <a:cubicBezTo>
                  <a:pt x="-360" y="352218"/>
                  <a:pt x="35344" y="469899"/>
                  <a:pt x="106124" y="509076"/>
                </a:cubicBezTo>
                <a:cubicBezTo>
                  <a:pt x="124570" y="519287"/>
                  <a:pt x="143164" y="522883"/>
                  <a:pt x="160191" y="522883"/>
                </a:cubicBezTo>
                <a:cubicBezTo>
                  <a:pt x="191160" y="522883"/>
                  <a:pt x="216931" y="511006"/>
                  <a:pt x="227309" y="505447"/>
                </a:cubicBezTo>
                <a:cubicBezTo>
                  <a:pt x="254219" y="528970"/>
                  <a:pt x="286359" y="546654"/>
                  <a:pt x="321733" y="556502"/>
                </a:cubicBezTo>
                <a:lnTo>
                  <a:pt x="301439" y="704617"/>
                </a:lnTo>
                <a:lnTo>
                  <a:pt x="268606" y="704617"/>
                </a:lnTo>
                <a:cubicBezTo>
                  <a:pt x="254219" y="704617"/>
                  <a:pt x="242521" y="716313"/>
                  <a:pt x="242521" y="730697"/>
                </a:cubicBezTo>
                <a:lnTo>
                  <a:pt x="242521" y="798099"/>
                </a:lnTo>
                <a:cubicBezTo>
                  <a:pt x="242521" y="812483"/>
                  <a:pt x="254219" y="824179"/>
                  <a:pt x="268606" y="824179"/>
                </a:cubicBezTo>
                <a:lnTo>
                  <a:pt x="504789" y="824179"/>
                </a:lnTo>
                <a:cubicBezTo>
                  <a:pt x="519176" y="824179"/>
                  <a:pt x="530874" y="812483"/>
                  <a:pt x="530874" y="798099"/>
                </a:cubicBezTo>
                <a:lnTo>
                  <a:pt x="530874" y="730697"/>
                </a:lnTo>
                <a:cubicBezTo>
                  <a:pt x="530874" y="716313"/>
                  <a:pt x="519176" y="704617"/>
                  <a:pt x="504789" y="704617"/>
                </a:cubicBezTo>
                <a:lnTo>
                  <a:pt x="471956" y="704617"/>
                </a:lnTo>
                <a:lnTo>
                  <a:pt x="451662" y="556502"/>
                </a:lnTo>
                <a:cubicBezTo>
                  <a:pt x="487036" y="546654"/>
                  <a:pt x="519176" y="528970"/>
                  <a:pt x="546086" y="505447"/>
                </a:cubicBezTo>
                <a:cubicBezTo>
                  <a:pt x="556464" y="511006"/>
                  <a:pt x="582235" y="522883"/>
                  <a:pt x="613204" y="522883"/>
                </a:cubicBezTo>
                <a:cubicBezTo>
                  <a:pt x="630231" y="522883"/>
                  <a:pt x="648809" y="519287"/>
                  <a:pt x="667271" y="509076"/>
                </a:cubicBezTo>
                <a:cubicBezTo>
                  <a:pt x="738051" y="469915"/>
                  <a:pt x="773755" y="352218"/>
                  <a:pt x="773392" y="159267"/>
                </a:cubicBezTo>
                <a:cubicBezTo>
                  <a:pt x="773310" y="145757"/>
                  <a:pt x="762305" y="134771"/>
                  <a:pt x="748809" y="134771"/>
                </a:cubicBezTo>
                <a:close/>
                <a:moveTo>
                  <a:pt x="514342" y="730697"/>
                </a:moveTo>
                <a:lnTo>
                  <a:pt x="514342" y="798099"/>
                </a:lnTo>
                <a:cubicBezTo>
                  <a:pt x="514342" y="803394"/>
                  <a:pt x="510036" y="807683"/>
                  <a:pt x="504756" y="807683"/>
                </a:cubicBezTo>
                <a:lnTo>
                  <a:pt x="268590" y="807683"/>
                </a:lnTo>
                <a:cubicBezTo>
                  <a:pt x="263293" y="807683"/>
                  <a:pt x="259004" y="803377"/>
                  <a:pt x="259004" y="798099"/>
                </a:cubicBezTo>
                <a:lnTo>
                  <a:pt x="259004" y="730697"/>
                </a:lnTo>
                <a:cubicBezTo>
                  <a:pt x="259004" y="725402"/>
                  <a:pt x="263310" y="721113"/>
                  <a:pt x="268590" y="721113"/>
                </a:cubicBezTo>
                <a:lnTo>
                  <a:pt x="504772" y="721113"/>
                </a:lnTo>
                <a:cubicBezTo>
                  <a:pt x="510052" y="721097"/>
                  <a:pt x="514342" y="725402"/>
                  <a:pt x="514342" y="730697"/>
                </a:cubicBezTo>
                <a:close/>
                <a:moveTo>
                  <a:pt x="163161" y="16496"/>
                </a:moveTo>
                <a:lnTo>
                  <a:pt x="610184" y="16496"/>
                </a:lnTo>
                <a:cubicBezTo>
                  <a:pt x="611521" y="16496"/>
                  <a:pt x="612610" y="17585"/>
                  <a:pt x="612610" y="18921"/>
                </a:cubicBezTo>
                <a:lnTo>
                  <a:pt x="612610" y="142969"/>
                </a:lnTo>
                <a:cubicBezTo>
                  <a:pt x="612610" y="142985"/>
                  <a:pt x="612610" y="142985"/>
                  <a:pt x="612610" y="143002"/>
                </a:cubicBezTo>
                <a:cubicBezTo>
                  <a:pt x="612610" y="143018"/>
                  <a:pt x="612610" y="143018"/>
                  <a:pt x="612610" y="143035"/>
                </a:cubicBezTo>
                <a:lnTo>
                  <a:pt x="612610" y="322938"/>
                </a:lnTo>
                <a:cubicBezTo>
                  <a:pt x="612610" y="447498"/>
                  <a:pt x="511257" y="548831"/>
                  <a:pt x="386673" y="548831"/>
                </a:cubicBezTo>
                <a:cubicBezTo>
                  <a:pt x="262089" y="548831"/>
                  <a:pt x="160736" y="447498"/>
                  <a:pt x="160736" y="322938"/>
                </a:cubicBezTo>
                <a:lnTo>
                  <a:pt x="160736" y="143051"/>
                </a:lnTo>
                <a:cubicBezTo>
                  <a:pt x="160736" y="143035"/>
                  <a:pt x="160736" y="143035"/>
                  <a:pt x="160736" y="143018"/>
                </a:cubicBezTo>
                <a:cubicBezTo>
                  <a:pt x="160736" y="143002"/>
                  <a:pt x="160736" y="143002"/>
                  <a:pt x="160736" y="142985"/>
                </a:cubicBezTo>
                <a:lnTo>
                  <a:pt x="160736" y="18937"/>
                </a:lnTo>
                <a:cubicBezTo>
                  <a:pt x="160736" y="17585"/>
                  <a:pt x="161825" y="16496"/>
                  <a:pt x="163161" y="16496"/>
                </a:cubicBezTo>
                <a:close/>
                <a:moveTo>
                  <a:pt x="113978" y="494560"/>
                </a:moveTo>
                <a:cubicBezTo>
                  <a:pt x="32984" y="449576"/>
                  <a:pt x="16271" y="287406"/>
                  <a:pt x="16502" y="159300"/>
                </a:cubicBezTo>
                <a:cubicBezTo>
                  <a:pt x="16502" y="154862"/>
                  <a:pt x="20115" y="151266"/>
                  <a:pt x="24520" y="151266"/>
                </a:cubicBezTo>
                <a:lnTo>
                  <a:pt x="144220" y="151266"/>
                </a:lnTo>
                <a:lnTo>
                  <a:pt x="144220" y="322954"/>
                </a:lnTo>
                <a:cubicBezTo>
                  <a:pt x="144220" y="389333"/>
                  <a:pt x="171048" y="449560"/>
                  <a:pt x="214423" y="493372"/>
                </a:cubicBezTo>
                <a:cubicBezTo>
                  <a:pt x="196456" y="501802"/>
                  <a:pt x="154004" y="516796"/>
                  <a:pt x="113978" y="494560"/>
                </a:cubicBezTo>
                <a:close/>
                <a:moveTo>
                  <a:pt x="455276" y="704601"/>
                </a:moveTo>
                <a:lnTo>
                  <a:pt x="318070" y="704601"/>
                </a:lnTo>
                <a:lnTo>
                  <a:pt x="337836" y="560395"/>
                </a:lnTo>
                <a:cubicBezTo>
                  <a:pt x="353609" y="563628"/>
                  <a:pt x="369959" y="565343"/>
                  <a:pt x="386673" y="565343"/>
                </a:cubicBezTo>
                <a:cubicBezTo>
                  <a:pt x="403403" y="565343"/>
                  <a:pt x="419737" y="563644"/>
                  <a:pt x="435510" y="560395"/>
                </a:cubicBezTo>
                <a:lnTo>
                  <a:pt x="455276" y="704601"/>
                </a:lnTo>
                <a:close/>
                <a:moveTo>
                  <a:pt x="659368" y="494560"/>
                </a:moveTo>
                <a:cubicBezTo>
                  <a:pt x="643908" y="503154"/>
                  <a:pt x="628086" y="506173"/>
                  <a:pt x="613435" y="506173"/>
                </a:cubicBezTo>
                <a:cubicBezTo>
                  <a:pt x="590188" y="506173"/>
                  <a:pt x="569943" y="498519"/>
                  <a:pt x="558889" y="493356"/>
                </a:cubicBezTo>
                <a:cubicBezTo>
                  <a:pt x="602265" y="449543"/>
                  <a:pt x="629109" y="389317"/>
                  <a:pt x="629109" y="322938"/>
                </a:cubicBezTo>
                <a:lnTo>
                  <a:pt x="629109" y="151266"/>
                </a:lnTo>
                <a:lnTo>
                  <a:pt x="748809" y="151266"/>
                </a:lnTo>
                <a:cubicBezTo>
                  <a:pt x="753231" y="151266"/>
                  <a:pt x="756827" y="154879"/>
                  <a:pt x="756827" y="159300"/>
                </a:cubicBezTo>
                <a:cubicBezTo>
                  <a:pt x="757075" y="287406"/>
                  <a:pt x="740361" y="449576"/>
                  <a:pt x="659368" y="494560"/>
                </a:cubicBezTo>
                <a:close/>
                <a:moveTo>
                  <a:pt x="338826" y="764398"/>
                </a:moveTo>
                <a:cubicBezTo>
                  <a:pt x="338826" y="759845"/>
                  <a:pt x="342522" y="756150"/>
                  <a:pt x="347075" y="756150"/>
                </a:cubicBezTo>
                <a:lnTo>
                  <a:pt x="426270" y="756150"/>
                </a:lnTo>
                <a:cubicBezTo>
                  <a:pt x="430824" y="756150"/>
                  <a:pt x="434520" y="759845"/>
                  <a:pt x="434520" y="764398"/>
                </a:cubicBezTo>
                <a:cubicBezTo>
                  <a:pt x="434520" y="768951"/>
                  <a:pt x="430824" y="772646"/>
                  <a:pt x="426270" y="772646"/>
                </a:cubicBezTo>
                <a:lnTo>
                  <a:pt x="347075" y="772646"/>
                </a:lnTo>
                <a:cubicBezTo>
                  <a:pt x="342522" y="772646"/>
                  <a:pt x="338826" y="768951"/>
                  <a:pt x="338826" y="764398"/>
                </a:cubicBezTo>
                <a:close/>
                <a:moveTo>
                  <a:pt x="319423" y="284882"/>
                </a:moveTo>
                <a:lnTo>
                  <a:pt x="307709" y="353208"/>
                </a:lnTo>
                <a:cubicBezTo>
                  <a:pt x="306917" y="357793"/>
                  <a:pt x="308765" y="362330"/>
                  <a:pt x="312526" y="365068"/>
                </a:cubicBezTo>
                <a:cubicBezTo>
                  <a:pt x="314655" y="366619"/>
                  <a:pt x="317146" y="367394"/>
                  <a:pt x="319637" y="367394"/>
                </a:cubicBezTo>
                <a:cubicBezTo>
                  <a:pt x="321568" y="367394"/>
                  <a:pt x="323498" y="366932"/>
                  <a:pt x="325297" y="365992"/>
                </a:cubicBezTo>
                <a:lnTo>
                  <a:pt x="386656" y="333743"/>
                </a:lnTo>
                <a:lnTo>
                  <a:pt x="448016" y="365992"/>
                </a:lnTo>
                <a:cubicBezTo>
                  <a:pt x="452124" y="368153"/>
                  <a:pt x="457024" y="367806"/>
                  <a:pt x="460786" y="365068"/>
                </a:cubicBezTo>
                <a:cubicBezTo>
                  <a:pt x="464548" y="362330"/>
                  <a:pt x="466396" y="357793"/>
                  <a:pt x="465604" y="353208"/>
                </a:cubicBezTo>
                <a:lnTo>
                  <a:pt x="453890" y="284882"/>
                </a:lnTo>
                <a:lnTo>
                  <a:pt x="503535" y="236500"/>
                </a:lnTo>
                <a:cubicBezTo>
                  <a:pt x="506868" y="233250"/>
                  <a:pt x="508039" y="228500"/>
                  <a:pt x="506604" y="224079"/>
                </a:cubicBezTo>
                <a:cubicBezTo>
                  <a:pt x="505168" y="219658"/>
                  <a:pt x="501423" y="216491"/>
                  <a:pt x="496820" y="215831"/>
                </a:cubicBezTo>
                <a:lnTo>
                  <a:pt x="428217" y="205867"/>
                </a:lnTo>
                <a:lnTo>
                  <a:pt x="397529" y="143711"/>
                </a:lnTo>
                <a:cubicBezTo>
                  <a:pt x="397529" y="143711"/>
                  <a:pt x="397529" y="143711"/>
                  <a:pt x="397529" y="143711"/>
                </a:cubicBezTo>
                <a:cubicBezTo>
                  <a:pt x="395467" y="139538"/>
                  <a:pt x="391309" y="136948"/>
                  <a:pt x="386656" y="136948"/>
                </a:cubicBezTo>
                <a:cubicBezTo>
                  <a:pt x="382004" y="136948"/>
                  <a:pt x="377846" y="139538"/>
                  <a:pt x="375783" y="143711"/>
                </a:cubicBezTo>
                <a:lnTo>
                  <a:pt x="345095" y="205867"/>
                </a:lnTo>
                <a:lnTo>
                  <a:pt x="276476" y="215831"/>
                </a:lnTo>
                <a:cubicBezTo>
                  <a:pt x="271873" y="216507"/>
                  <a:pt x="268128" y="219658"/>
                  <a:pt x="266692" y="224079"/>
                </a:cubicBezTo>
                <a:cubicBezTo>
                  <a:pt x="265257" y="228500"/>
                  <a:pt x="266428" y="233267"/>
                  <a:pt x="269761" y="236500"/>
                </a:cubicBezTo>
                <a:lnTo>
                  <a:pt x="319423" y="284882"/>
                </a:lnTo>
                <a:close/>
                <a:moveTo>
                  <a:pt x="351777" y="221555"/>
                </a:moveTo>
                <a:cubicBezTo>
                  <a:pt x="354467" y="221159"/>
                  <a:pt x="356793" y="219476"/>
                  <a:pt x="357998" y="217035"/>
                </a:cubicBezTo>
                <a:lnTo>
                  <a:pt x="386673" y="158937"/>
                </a:lnTo>
                <a:lnTo>
                  <a:pt x="415348" y="217035"/>
                </a:lnTo>
                <a:cubicBezTo>
                  <a:pt x="416552" y="219476"/>
                  <a:pt x="418879" y="221159"/>
                  <a:pt x="421552" y="221555"/>
                </a:cubicBezTo>
                <a:lnTo>
                  <a:pt x="485683" y="230875"/>
                </a:lnTo>
                <a:lnTo>
                  <a:pt x="439271" y="276106"/>
                </a:lnTo>
                <a:cubicBezTo>
                  <a:pt x="437325" y="278003"/>
                  <a:pt x="436434" y="280725"/>
                  <a:pt x="436896" y="283414"/>
                </a:cubicBezTo>
                <a:lnTo>
                  <a:pt x="447851" y="347269"/>
                </a:lnTo>
                <a:lnTo>
                  <a:pt x="390484" y="317115"/>
                </a:lnTo>
                <a:cubicBezTo>
                  <a:pt x="388075" y="315845"/>
                  <a:pt x="385204" y="315845"/>
                  <a:pt x="382812" y="317115"/>
                </a:cubicBezTo>
                <a:lnTo>
                  <a:pt x="325445" y="347269"/>
                </a:lnTo>
                <a:lnTo>
                  <a:pt x="336400" y="283414"/>
                </a:lnTo>
                <a:cubicBezTo>
                  <a:pt x="336862" y="280742"/>
                  <a:pt x="335971" y="278003"/>
                  <a:pt x="334025" y="276106"/>
                </a:cubicBezTo>
                <a:lnTo>
                  <a:pt x="287613" y="230875"/>
                </a:lnTo>
                <a:lnTo>
                  <a:pt x="351777" y="221555"/>
                </a:lnTo>
                <a:close/>
              </a:path>
            </a:pathLst>
          </a:custGeom>
          <a:solidFill>
            <a:srgbClr val="000000"/>
          </a:solidFill>
          <a:ln>
            <a:noFill/>
          </a:ln>
        </p:spPr>
        <p:txBody>
          <a:bodyPr spcFirstLastPara="1" wrap="square" lIns="45725" tIns="22850" rIns="45725" bIns="22850" anchor="ctr"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grpSp>
        <p:nvGrpSpPr>
          <p:cNvPr id="131" name="Google Shape;131;p14"/>
          <p:cNvGrpSpPr/>
          <p:nvPr/>
        </p:nvGrpSpPr>
        <p:grpSpPr>
          <a:xfrm>
            <a:off x="514350" y="1849790"/>
            <a:ext cx="2506668" cy="2390868"/>
            <a:chOff x="-61136" y="-3279692"/>
            <a:chExt cx="6750342" cy="1011546"/>
          </a:xfrm>
        </p:grpSpPr>
        <p:sp>
          <p:nvSpPr>
            <p:cNvPr id="132" name="Google Shape;132;p14"/>
            <p:cNvSpPr txBox="1"/>
            <p:nvPr/>
          </p:nvSpPr>
          <p:spPr>
            <a:xfrm>
              <a:off x="2114399" y="-3279692"/>
              <a:ext cx="4574807" cy="23959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dirty="0" err="1">
                  <a:solidFill>
                    <a:schemeClr val="dk1"/>
                  </a:solidFill>
                  <a:latin typeface="Merriweather Sans"/>
                  <a:ea typeface="Merriweather Sans"/>
                  <a:cs typeface="Merriweather Sans"/>
                  <a:sym typeface="Merriweather Sans"/>
                </a:rPr>
                <a:t>Mục</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tiêu</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thực</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hiện</a:t>
              </a:r>
              <a:endParaRPr sz="1600" dirty="0">
                <a:solidFill>
                  <a:schemeClr val="dk1"/>
                </a:solidFill>
                <a:latin typeface="Merriweather Sans"/>
                <a:ea typeface="Merriweather Sans"/>
                <a:cs typeface="Merriweather Sans"/>
                <a:sym typeface="Merriweather Sans"/>
              </a:endParaRPr>
            </a:p>
          </p:txBody>
        </p:sp>
        <p:sp>
          <p:nvSpPr>
            <p:cNvPr id="133" name="Google Shape;133;p14"/>
            <p:cNvSpPr txBox="1"/>
            <p:nvPr/>
          </p:nvSpPr>
          <p:spPr>
            <a:xfrm>
              <a:off x="-61136" y="-2927041"/>
              <a:ext cx="6750342" cy="658895"/>
            </a:xfrm>
            <a:prstGeom prst="rect">
              <a:avLst/>
            </a:prstGeom>
            <a:noFill/>
            <a:ln>
              <a:noFill/>
            </a:ln>
          </p:spPr>
          <p:txBody>
            <a:bodyPr spcFirstLastPara="1" wrap="square" lIns="0" tIns="0" rIns="0" bIns="0" anchor="t" anchorCtr="0">
              <a:spAutoFit/>
            </a:bodyPr>
            <a:lstStyle/>
            <a:p>
              <a:pPr marL="171450" lvl="0" indent="-171450">
                <a:lnSpc>
                  <a:spcPct val="115000"/>
                </a:lnSpc>
                <a:buFontTx/>
                <a:buChar char="-"/>
              </a:pPr>
              <a:r>
                <a:rPr lang="en-US" sz="1100" dirty="0">
                  <a:solidFill>
                    <a:schemeClr val="dk1"/>
                  </a:solidFill>
                  <a:latin typeface="Merriweather Sans"/>
                  <a:ea typeface="Merriweather Sans"/>
                  <a:cs typeface="Times New Roman" panose="02020603050405020304" pitchFamily="18" charset="0"/>
                  <a:sym typeface="Merriweather Sans"/>
                </a:rPr>
                <a:t>Đặt </a:t>
              </a:r>
              <a:r>
                <a:rPr lang="en-US" sz="1100" dirty="0" err="1">
                  <a:solidFill>
                    <a:schemeClr val="dk1"/>
                  </a:solidFill>
                  <a:latin typeface="Merriweather Sans"/>
                  <a:ea typeface="Merriweather Sans"/>
                  <a:cs typeface="Times New Roman" panose="02020603050405020304" pitchFamily="18" charset="0"/>
                  <a:sym typeface="Merriweather Sans"/>
                </a:rPr>
                <a:t>xe</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nhanh</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chóng</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giao</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diện</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thân</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thiện</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quản</a:t>
              </a:r>
              <a:r>
                <a:rPr lang="en-US" sz="1100" dirty="0">
                  <a:solidFill>
                    <a:schemeClr val="dk1"/>
                  </a:solidFill>
                  <a:latin typeface="Merriweather Sans"/>
                  <a:ea typeface="Merriweather Sans"/>
                  <a:cs typeface="Times New Roman" panose="02020603050405020304" pitchFamily="18" charset="0"/>
                  <a:sym typeface="Merriweather Sans"/>
                </a:rPr>
                <a:t> lý tài </a:t>
              </a:r>
              <a:r>
                <a:rPr lang="en-US" sz="1100" dirty="0" err="1">
                  <a:solidFill>
                    <a:schemeClr val="dk1"/>
                  </a:solidFill>
                  <a:latin typeface="Merriweather Sans"/>
                  <a:ea typeface="Merriweather Sans"/>
                  <a:cs typeface="Times New Roman" panose="02020603050405020304" pitchFamily="18" charset="0"/>
                  <a:sym typeface="Merriweather Sans"/>
                </a:rPr>
                <a:t>xế</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tính</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năng</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theo</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dõi</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trực</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tuyến</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thanh</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toán</a:t>
              </a:r>
              <a:r>
                <a:rPr lang="en-US" sz="1100" dirty="0">
                  <a:solidFill>
                    <a:schemeClr val="dk1"/>
                  </a:solidFill>
                  <a:latin typeface="Merriweather Sans"/>
                  <a:ea typeface="Merriweather Sans"/>
                  <a:cs typeface="Times New Roman" panose="02020603050405020304" pitchFamily="18" charset="0"/>
                  <a:sym typeface="Merriweather Sans"/>
                </a:rPr>
                <a:t> an </a:t>
              </a:r>
              <a:r>
                <a:rPr lang="en-US" sz="1100" dirty="0" err="1">
                  <a:solidFill>
                    <a:schemeClr val="dk1"/>
                  </a:solidFill>
                  <a:latin typeface="Merriweather Sans"/>
                  <a:ea typeface="Merriweather Sans"/>
                  <a:cs typeface="Times New Roman" panose="02020603050405020304" pitchFamily="18" charset="0"/>
                  <a:sym typeface="Merriweather Sans"/>
                </a:rPr>
                <a:t>toàn</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hỗ</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trợ</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khách</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hàng</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đảm</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bảo</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bảo</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mật</a:t>
              </a:r>
              <a:r>
                <a:rPr lang="en-US" sz="1100" dirty="0">
                  <a:solidFill>
                    <a:schemeClr val="dk1"/>
                  </a:solidFill>
                  <a:latin typeface="Merriweather Sans"/>
                  <a:ea typeface="Merriweather Sans"/>
                  <a:cs typeface="Times New Roman" panose="02020603050405020304" pitchFamily="18" charset="0"/>
                  <a:sym typeface="Merriweather Sans"/>
                </a:rPr>
                <a:t> </a:t>
              </a:r>
              <a:r>
                <a:rPr lang="en-US" sz="1100" dirty="0" err="1">
                  <a:solidFill>
                    <a:schemeClr val="dk1"/>
                  </a:solidFill>
                  <a:latin typeface="Merriweather Sans"/>
                  <a:ea typeface="Merriweather Sans"/>
                  <a:cs typeface="Times New Roman" panose="02020603050405020304" pitchFamily="18" charset="0"/>
                  <a:sym typeface="Merriweather Sans"/>
                </a:rPr>
                <a:t>thông</a:t>
              </a:r>
              <a:r>
                <a:rPr lang="en-US" sz="1100" dirty="0">
                  <a:solidFill>
                    <a:schemeClr val="dk1"/>
                  </a:solidFill>
                  <a:latin typeface="Merriweather Sans"/>
                  <a:ea typeface="Merriweather Sans"/>
                  <a:cs typeface="Times New Roman" panose="02020603050405020304" pitchFamily="18" charset="0"/>
                  <a:sym typeface="Merriweather Sans"/>
                </a:rPr>
                <a:t> tin</a:t>
              </a:r>
              <a:r>
                <a:rPr lang="en-US" sz="1100" dirty="0" smtClean="0">
                  <a:solidFill>
                    <a:schemeClr val="dk1"/>
                  </a:solidFill>
                  <a:latin typeface="Merriweather Sans"/>
                  <a:ea typeface="Merriweather Sans"/>
                  <a:cs typeface="Times New Roman" panose="02020603050405020304" pitchFamily="18" charset="0"/>
                  <a:sym typeface="Merriweather Sans"/>
                </a:rPr>
                <a:t>.</a:t>
              </a:r>
              <a:endParaRPr lang="en-US" sz="1100" dirty="0">
                <a:solidFill>
                  <a:schemeClr val="dk1"/>
                </a:solidFill>
                <a:latin typeface="Merriweather Sans"/>
                <a:ea typeface="Merriweather Sans"/>
                <a:cs typeface="Times New Roman" panose="02020603050405020304" pitchFamily="18" charset="0"/>
                <a:sym typeface="Merriweather Sans"/>
              </a:endParaRPr>
            </a:p>
            <a:p>
              <a:pPr marL="171450" lvl="0" indent="-171450">
                <a:lnSpc>
                  <a:spcPct val="115000"/>
                </a:lnSpc>
                <a:buFontTx/>
                <a:buChar char="-"/>
              </a:pPr>
              <a:r>
                <a:rPr lang="vi-VN" sz="1100" dirty="0">
                  <a:solidFill>
                    <a:schemeClr val="dk1"/>
                  </a:solidFill>
                  <a:latin typeface="Merriweather Sans"/>
                  <a:ea typeface="Merriweather Sans"/>
                  <a:cs typeface="Times New Roman" panose="02020603050405020304" pitchFamily="18" charset="0"/>
                  <a:sym typeface="Merriweather Sans"/>
                </a:rPr>
                <a:t>Tối ưu hóa trải nghiệm người dùng và quản lý hiệu quả hệ </a:t>
              </a:r>
              <a:r>
                <a:rPr lang="vi-VN" sz="1100" dirty="0" smtClean="0">
                  <a:solidFill>
                    <a:schemeClr val="dk1"/>
                  </a:solidFill>
                  <a:latin typeface="Merriweather Sans"/>
                  <a:ea typeface="Merriweather Sans"/>
                  <a:cs typeface="Times New Roman" panose="02020603050405020304" pitchFamily="18" charset="0"/>
                  <a:sym typeface="Merriweather Sans"/>
                </a:rPr>
                <a:t>thống</a:t>
              </a:r>
              <a:r>
                <a:rPr lang="en-US" sz="1100" dirty="0" smtClean="0">
                  <a:solidFill>
                    <a:schemeClr val="dk1"/>
                  </a:solidFill>
                  <a:latin typeface="Merriweather Sans"/>
                  <a:ea typeface="Merriweather Sans"/>
                  <a:cs typeface="Times New Roman" panose="02020603050405020304" pitchFamily="18" charset="0"/>
                  <a:sym typeface="Merriweather Sans"/>
                </a:rPr>
                <a:t>,</a:t>
              </a:r>
              <a:r>
                <a:rPr lang="vi-VN" sz="1100" dirty="0" smtClean="0">
                  <a:solidFill>
                    <a:schemeClr val="dk1"/>
                  </a:solidFill>
                  <a:latin typeface="Merriweather Sans"/>
                  <a:ea typeface="Merriweather Sans"/>
                  <a:cs typeface="Times New Roman" panose="02020603050405020304" pitchFamily="18" charset="0"/>
                  <a:sym typeface="Merriweather Sans"/>
                </a:rPr>
                <a:t> </a:t>
              </a:r>
              <a:r>
                <a:rPr lang="vi-VN" sz="1100" dirty="0">
                  <a:solidFill>
                    <a:schemeClr val="dk1"/>
                  </a:solidFill>
                  <a:latin typeface="Merriweather Sans"/>
                  <a:ea typeface="Merriweather Sans"/>
                  <a:cs typeface="Times New Roman" panose="02020603050405020304" pitchFamily="18" charset="0"/>
                  <a:sym typeface="Merriweather Sans"/>
                </a:rPr>
                <a:t>tài xế và doanh thu.</a:t>
              </a:r>
              <a:endParaRPr lang="en-US" sz="1100" dirty="0">
                <a:solidFill>
                  <a:schemeClr val="dk1"/>
                </a:solidFill>
                <a:latin typeface="Merriweather Sans"/>
                <a:ea typeface="Merriweather Sans"/>
                <a:cs typeface="Times New Roman" panose="02020603050405020304" pitchFamily="18" charset="0"/>
                <a:sym typeface="Merriweather Sans"/>
              </a:endParaRPr>
            </a:p>
          </p:txBody>
        </p:sp>
      </p:grpSp>
      <p:sp>
        <p:nvSpPr>
          <p:cNvPr id="4" name="Google Shape;133;p14">
            <a:extLst>
              <a:ext uri="{FF2B5EF4-FFF2-40B4-BE49-F238E27FC236}">
                <a16:creationId xmlns:a16="http://schemas.microsoft.com/office/drawing/2014/main" id="{3635A179-661B-533B-A14E-46E0C6BBB083}"/>
              </a:ext>
            </a:extLst>
          </p:cNvPr>
          <p:cNvSpPr txBox="1"/>
          <p:nvPr/>
        </p:nvSpPr>
        <p:spPr>
          <a:xfrm>
            <a:off x="3316801" y="2683310"/>
            <a:ext cx="2506668" cy="1946687"/>
          </a:xfrm>
          <a:prstGeom prst="rect">
            <a:avLst/>
          </a:prstGeom>
          <a:noFill/>
          <a:ln>
            <a:noFill/>
          </a:ln>
        </p:spPr>
        <p:txBody>
          <a:bodyPr spcFirstLastPara="1" wrap="square" lIns="0" tIns="0" rIns="0" bIns="0" anchor="t" anchorCtr="0">
            <a:spAutoFit/>
          </a:bodyPr>
          <a:lstStyle/>
          <a:p>
            <a:pPr marL="171450" lvl="0" indent="-171450">
              <a:lnSpc>
                <a:spcPct val="115000"/>
              </a:lnSpc>
              <a:buFontTx/>
              <a:buChar char="-"/>
            </a:pPr>
            <a:r>
              <a:rPr lang="vi-VN" sz="1100" dirty="0">
                <a:solidFill>
                  <a:schemeClr val="dk1"/>
                </a:solidFill>
                <a:latin typeface="Merriweather Sans"/>
                <a:ea typeface="Merriweather Sans"/>
                <a:cs typeface="Times New Roman" panose="02020603050405020304" pitchFamily="18" charset="0"/>
                <a:sym typeface="Merriweather Sans"/>
              </a:rPr>
              <a:t>Người dùng có thể đặt xe với các thông tin như điểm đón, điểm đến, loại xe mong </a:t>
            </a:r>
            <a:r>
              <a:rPr lang="vi-VN" sz="1100" dirty="0" smtClean="0">
                <a:solidFill>
                  <a:schemeClr val="dk1"/>
                </a:solidFill>
                <a:latin typeface="Merriweather Sans"/>
                <a:ea typeface="Merriweather Sans"/>
                <a:cs typeface="Times New Roman" panose="02020603050405020304" pitchFamily="18" charset="0"/>
                <a:sym typeface="Merriweather Sans"/>
              </a:rPr>
              <a:t>muốn</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theo</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dõi</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vị</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trí</a:t>
            </a:r>
            <a:r>
              <a:rPr lang="en-US" sz="1100" dirty="0" smtClean="0">
                <a:solidFill>
                  <a:schemeClr val="dk1"/>
                </a:solidFill>
                <a:latin typeface="Merriweather Sans"/>
                <a:ea typeface="Merriweather Sans"/>
                <a:cs typeface="Times New Roman" panose="02020603050405020304" pitchFamily="18" charset="0"/>
                <a:sym typeface="Merriweather Sans"/>
              </a:rPr>
              <a:t> tài </a:t>
            </a:r>
            <a:r>
              <a:rPr lang="en-US" sz="1100" dirty="0" err="1" smtClean="0">
                <a:solidFill>
                  <a:schemeClr val="dk1"/>
                </a:solidFill>
                <a:latin typeface="Merriweather Sans"/>
                <a:ea typeface="Merriweather Sans"/>
                <a:cs typeface="Times New Roman" panose="02020603050405020304" pitchFamily="18" charset="0"/>
                <a:sym typeface="Merriweather Sans"/>
              </a:rPr>
              <a:t>xế</a:t>
            </a:r>
            <a:r>
              <a:rPr lang="en-US" sz="1100" dirty="0" smtClean="0">
                <a:solidFill>
                  <a:schemeClr val="dk1"/>
                </a:solidFill>
                <a:latin typeface="Merriweather Sans"/>
                <a:ea typeface="Merriweather Sans"/>
                <a:cs typeface="Times New Roman" panose="02020603050405020304" pitchFamily="18" charset="0"/>
                <a:sym typeface="Merriweather Sans"/>
              </a:rPr>
              <a:t> và </a:t>
            </a:r>
            <a:r>
              <a:rPr lang="en-US" sz="1100" dirty="0" err="1" smtClean="0">
                <a:solidFill>
                  <a:schemeClr val="dk1"/>
                </a:solidFill>
                <a:latin typeface="Merriweather Sans"/>
                <a:ea typeface="Merriweather Sans"/>
                <a:cs typeface="Times New Roman" panose="02020603050405020304" pitchFamily="18" charset="0"/>
                <a:sym typeface="Merriweather Sans"/>
              </a:rPr>
              <a:t>thời</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gian</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đến</a:t>
            </a:r>
            <a:r>
              <a:rPr lang="en-US" sz="1100" dirty="0" smtClean="0">
                <a:solidFill>
                  <a:schemeClr val="dk1"/>
                </a:solidFill>
                <a:latin typeface="Merriweather Sans"/>
                <a:ea typeface="Merriweather Sans"/>
                <a:cs typeface="Times New Roman" panose="02020603050405020304" pitchFamily="18" charset="0"/>
                <a:sym typeface="Merriweather Sans"/>
              </a:rPr>
              <a:t>.</a:t>
            </a:r>
            <a:endParaRPr lang="en-US" sz="1100" dirty="0">
              <a:solidFill>
                <a:schemeClr val="dk1"/>
              </a:solidFill>
              <a:latin typeface="Merriweather Sans"/>
              <a:ea typeface="Merriweather Sans"/>
              <a:cs typeface="Times New Roman" panose="02020603050405020304" pitchFamily="18" charset="0"/>
              <a:sym typeface="Merriweather Sans"/>
            </a:endParaRPr>
          </a:p>
          <a:p>
            <a:pPr marL="171450" lvl="0" indent="-171450">
              <a:lnSpc>
                <a:spcPct val="115000"/>
              </a:lnSpc>
              <a:buFontTx/>
              <a:buChar char="-"/>
            </a:pPr>
            <a:r>
              <a:rPr lang="vi-VN" sz="1100" dirty="0">
                <a:solidFill>
                  <a:schemeClr val="dk1"/>
                </a:solidFill>
                <a:latin typeface="Merriweather Sans"/>
                <a:ea typeface="Merriweather Sans"/>
                <a:cs typeface="Times New Roman" panose="02020603050405020304" pitchFamily="18" charset="0"/>
                <a:sym typeface="Merriweather Sans"/>
              </a:rPr>
              <a:t>Cung cấp hóa đơn chi tiết và chương trình ưu đãi cho người </a:t>
            </a:r>
            <a:r>
              <a:rPr lang="vi-VN" sz="1100" dirty="0" smtClean="0">
                <a:solidFill>
                  <a:schemeClr val="dk1"/>
                </a:solidFill>
                <a:latin typeface="Merriweather Sans"/>
                <a:ea typeface="Merriweather Sans"/>
                <a:cs typeface="Times New Roman" panose="02020603050405020304" pitchFamily="18" charset="0"/>
                <a:sym typeface="Merriweather Sans"/>
              </a:rPr>
              <a:t>dùng</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quản</a:t>
            </a:r>
            <a:r>
              <a:rPr lang="en-US" sz="1100" dirty="0" smtClean="0">
                <a:solidFill>
                  <a:schemeClr val="dk1"/>
                </a:solidFill>
                <a:latin typeface="Merriweather Sans"/>
                <a:ea typeface="Merriweather Sans"/>
                <a:cs typeface="Times New Roman" panose="02020603050405020304" pitchFamily="18" charset="0"/>
                <a:sym typeface="Merriweather Sans"/>
              </a:rPr>
              <a:t> lý </a:t>
            </a:r>
            <a:r>
              <a:rPr lang="en-US" sz="1100" dirty="0" err="1" smtClean="0">
                <a:solidFill>
                  <a:schemeClr val="dk1"/>
                </a:solidFill>
                <a:latin typeface="Merriweather Sans"/>
                <a:ea typeface="Merriweather Sans"/>
                <a:cs typeface="Times New Roman" panose="02020603050405020304" pitchFamily="18" charset="0"/>
                <a:sym typeface="Merriweather Sans"/>
              </a:rPr>
              <a:t>thông</a:t>
            </a:r>
            <a:r>
              <a:rPr lang="en-US" sz="1100" dirty="0" smtClean="0">
                <a:solidFill>
                  <a:schemeClr val="dk1"/>
                </a:solidFill>
                <a:latin typeface="Merriweather Sans"/>
                <a:ea typeface="Merriweather Sans"/>
                <a:cs typeface="Times New Roman" panose="02020603050405020304" pitchFamily="18" charset="0"/>
                <a:sym typeface="Merriweather Sans"/>
              </a:rPr>
              <a:t> tin </a:t>
            </a:r>
            <a:r>
              <a:rPr lang="en-US" sz="1100" dirty="0" err="1" smtClean="0">
                <a:solidFill>
                  <a:schemeClr val="dk1"/>
                </a:solidFill>
                <a:latin typeface="Merriweather Sans"/>
                <a:ea typeface="Merriweather Sans"/>
                <a:cs typeface="Times New Roman" panose="02020603050405020304" pitchFamily="18" charset="0"/>
                <a:sym typeface="Merriweather Sans"/>
              </a:rPr>
              <a:t>hiệu</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quả</a:t>
            </a:r>
            <a:r>
              <a:rPr lang="en-US" sz="1100" dirty="0" smtClean="0">
                <a:solidFill>
                  <a:schemeClr val="dk1"/>
                </a:solidFill>
                <a:latin typeface="Merriweather Sans"/>
                <a:ea typeface="Merriweather Sans"/>
                <a:cs typeface="Times New Roman" panose="02020603050405020304" pitchFamily="18" charset="0"/>
                <a:sym typeface="Merriweather Sans"/>
              </a:rPr>
              <a:t>. X</a:t>
            </a:r>
            <a:r>
              <a:rPr lang="vi-VN" sz="1100" dirty="0" smtClean="0">
                <a:solidFill>
                  <a:schemeClr val="dk1"/>
                </a:solidFill>
                <a:latin typeface="Merriweather Sans"/>
                <a:ea typeface="Merriweather Sans"/>
                <a:cs typeface="Times New Roman" panose="02020603050405020304" pitchFamily="18" charset="0"/>
                <a:sym typeface="Merriweather Sans"/>
              </a:rPr>
              <a:t>ây </a:t>
            </a:r>
            <a:r>
              <a:rPr lang="vi-VN" sz="1100" dirty="0">
                <a:solidFill>
                  <a:schemeClr val="dk1"/>
                </a:solidFill>
                <a:latin typeface="Merriweather Sans"/>
                <a:ea typeface="Merriweather Sans"/>
                <a:cs typeface="Times New Roman" panose="02020603050405020304" pitchFamily="18" charset="0"/>
                <a:sym typeface="Merriweather Sans"/>
              </a:rPr>
              <a:t>dựng một ứng dụng đặt xe toàn diện, mang lại trải nghiệm </a:t>
            </a:r>
            <a:r>
              <a:rPr lang="en-US" sz="1100" dirty="0" err="1" smtClean="0">
                <a:solidFill>
                  <a:schemeClr val="dk1"/>
                </a:solidFill>
                <a:latin typeface="Merriweather Sans"/>
                <a:ea typeface="Merriweather Sans"/>
                <a:cs typeface="Times New Roman" panose="02020603050405020304" pitchFamily="18" charset="0"/>
                <a:sym typeface="Merriweather Sans"/>
              </a:rPr>
              <a:t>tốt</a:t>
            </a:r>
            <a:r>
              <a:rPr lang="en-US" sz="1100" dirty="0" smtClean="0">
                <a:solidFill>
                  <a:schemeClr val="dk1"/>
                </a:solidFill>
                <a:latin typeface="Merriweather Sans"/>
                <a:ea typeface="Merriweather Sans"/>
                <a:cs typeface="Times New Roman" panose="02020603050405020304" pitchFamily="18" charset="0"/>
                <a:sym typeface="Merriweather Sans"/>
              </a:rPr>
              <a:t> </a:t>
            </a:r>
            <a:r>
              <a:rPr lang="en-US" sz="1100" dirty="0" err="1" smtClean="0">
                <a:solidFill>
                  <a:schemeClr val="dk1"/>
                </a:solidFill>
                <a:latin typeface="Merriweather Sans"/>
                <a:ea typeface="Merriweather Sans"/>
                <a:cs typeface="Times New Roman" panose="02020603050405020304" pitchFamily="18" charset="0"/>
                <a:sym typeface="Merriweather Sans"/>
              </a:rPr>
              <a:t>nhất</a:t>
            </a:r>
            <a:r>
              <a:rPr lang="vi-VN" sz="1100" dirty="0" smtClean="0">
                <a:solidFill>
                  <a:schemeClr val="dk1"/>
                </a:solidFill>
                <a:latin typeface="Merriweather Sans"/>
                <a:ea typeface="Merriweather Sans"/>
                <a:cs typeface="Times New Roman" panose="02020603050405020304" pitchFamily="18" charset="0"/>
                <a:sym typeface="Merriweather Sans"/>
              </a:rPr>
              <a:t> cho </a:t>
            </a:r>
            <a:r>
              <a:rPr lang="vi-VN" sz="1100" dirty="0">
                <a:solidFill>
                  <a:schemeClr val="dk1"/>
                </a:solidFill>
                <a:latin typeface="Merriweather Sans"/>
                <a:ea typeface="Merriweather Sans"/>
                <a:cs typeface="Times New Roman" panose="02020603050405020304" pitchFamily="18" charset="0"/>
                <a:sym typeface="Merriweather Sans"/>
              </a:rPr>
              <a:t>cả người dùng và tài </a:t>
            </a:r>
            <a:r>
              <a:rPr lang="vi-VN" sz="1100" dirty="0" smtClean="0">
                <a:solidFill>
                  <a:schemeClr val="dk1"/>
                </a:solidFill>
                <a:latin typeface="Merriweather Sans"/>
                <a:ea typeface="Merriweather Sans"/>
                <a:cs typeface="Times New Roman" panose="02020603050405020304" pitchFamily="18" charset="0"/>
                <a:sym typeface="Merriweather Sans"/>
              </a:rPr>
              <a:t>xế</a:t>
            </a:r>
            <a:r>
              <a:rPr lang="en-US" sz="1100" dirty="0" smtClean="0">
                <a:solidFill>
                  <a:schemeClr val="dk1"/>
                </a:solidFill>
                <a:latin typeface="Merriweather Sans"/>
                <a:ea typeface="Merriweather Sans"/>
                <a:cs typeface="Times New Roman" panose="02020603050405020304" pitchFamily="18" charset="0"/>
                <a:sym typeface="Merriweather Sans"/>
              </a:rPr>
              <a:t>.</a:t>
            </a:r>
            <a:endParaRPr sz="1100" dirty="0">
              <a:solidFill>
                <a:schemeClr val="dk1"/>
              </a:solidFill>
              <a:latin typeface="Merriweather Sans"/>
              <a:ea typeface="Merriweather Sans"/>
              <a:cs typeface="Times New Roman" panose="02020603050405020304" pitchFamily="18" charset="0"/>
              <a:sym typeface="Merriweather Sans"/>
            </a:endParaRPr>
          </a:p>
        </p:txBody>
      </p:sp>
      <p:sp>
        <p:nvSpPr>
          <p:cNvPr id="5" name="Google Shape;132;p14">
            <a:extLst>
              <a:ext uri="{FF2B5EF4-FFF2-40B4-BE49-F238E27FC236}">
                <a16:creationId xmlns:a16="http://schemas.microsoft.com/office/drawing/2014/main" id="{647FC878-2C6A-BC8F-D332-B29F6163D90F}"/>
              </a:ext>
            </a:extLst>
          </p:cNvPr>
          <p:cNvSpPr txBox="1"/>
          <p:nvPr/>
        </p:nvSpPr>
        <p:spPr>
          <a:xfrm>
            <a:off x="4122137" y="1759831"/>
            <a:ext cx="1698806" cy="283154"/>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dirty="0" err="1" smtClean="0">
                <a:solidFill>
                  <a:schemeClr val="dk1"/>
                </a:solidFill>
                <a:latin typeface="Merriweather Sans"/>
                <a:ea typeface="Merriweather Sans"/>
                <a:cs typeface="Merriweather Sans"/>
                <a:sym typeface="Merriweather Sans"/>
              </a:rPr>
              <a:t>Yêu</a:t>
            </a:r>
            <a:r>
              <a:rPr lang="en-US" sz="1600" dirty="0" smtClean="0">
                <a:solidFill>
                  <a:schemeClr val="dk1"/>
                </a:solidFill>
                <a:latin typeface="Merriweather Sans"/>
                <a:ea typeface="Merriweather Sans"/>
                <a:cs typeface="Merriweather Sans"/>
                <a:sym typeface="Merriweather Sans"/>
              </a:rPr>
              <a:t> </a:t>
            </a:r>
            <a:r>
              <a:rPr lang="en-US" sz="1600" dirty="0" err="1" smtClean="0">
                <a:solidFill>
                  <a:schemeClr val="dk1"/>
                </a:solidFill>
                <a:latin typeface="Merriweather Sans"/>
                <a:ea typeface="Merriweather Sans"/>
                <a:cs typeface="Merriweather Sans"/>
                <a:sym typeface="Merriweather Sans"/>
              </a:rPr>
              <a:t>cầu</a:t>
            </a:r>
            <a:r>
              <a:rPr lang="en-US" sz="1600" dirty="0" smtClean="0">
                <a:solidFill>
                  <a:schemeClr val="dk1"/>
                </a:solidFill>
                <a:latin typeface="Merriweather Sans"/>
                <a:ea typeface="Merriweather Sans"/>
                <a:cs typeface="Merriweather Sans"/>
                <a:sym typeface="Merriweather Sans"/>
              </a:rPr>
              <a:t> </a:t>
            </a:r>
            <a:r>
              <a:rPr lang="en-US" sz="1600" dirty="0" err="1" smtClean="0">
                <a:solidFill>
                  <a:schemeClr val="dk1"/>
                </a:solidFill>
                <a:latin typeface="Merriweather Sans"/>
                <a:ea typeface="Merriweather Sans"/>
                <a:cs typeface="Merriweather Sans"/>
                <a:sym typeface="Merriweather Sans"/>
              </a:rPr>
              <a:t>bài</a:t>
            </a:r>
            <a:r>
              <a:rPr lang="en-US" sz="1600" dirty="0" smtClean="0">
                <a:solidFill>
                  <a:schemeClr val="dk1"/>
                </a:solidFill>
                <a:latin typeface="Merriweather Sans"/>
                <a:ea typeface="Merriweather Sans"/>
                <a:cs typeface="Merriweather Sans"/>
                <a:sym typeface="Merriweather Sans"/>
              </a:rPr>
              <a:t> </a:t>
            </a:r>
            <a:r>
              <a:rPr lang="en-US" sz="1600" dirty="0" err="1" smtClean="0">
                <a:solidFill>
                  <a:schemeClr val="dk1"/>
                </a:solidFill>
                <a:latin typeface="Merriweather Sans"/>
                <a:ea typeface="Merriweather Sans"/>
                <a:cs typeface="Merriweather Sans"/>
                <a:sym typeface="Merriweather Sans"/>
              </a:rPr>
              <a:t>toán</a:t>
            </a:r>
            <a:endParaRPr sz="1600" dirty="0">
              <a:solidFill>
                <a:schemeClr val="dk1"/>
              </a:solidFill>
              <a:latin typeface="Merriweather Sans"/>
              <a:ea typeface="Merriweather Sans"/>
              <a:cs typeface="Merriweather Sans"/>
              <a:sym typeface="Merriweather Sans"/>
            </a:endParaRPr>
          </a:p>
        </p:txBody>
      </p:sp>
      <p:sp>
        <p:nvSpPr>
          <p:cNvPr id="6" name="Google Shape;132;p14">
            <a:extLst>
              <a:ext uri="{FF2B5EF4-FFF2-40B4-BE49-F238E27FC236}">
                <a16:creationId xmlns:a16="http://schemas.microsoft.com/office/drawing/2014/main" id="{FE41E014-488D-E211-F866-3E210190C2B6}"/>
              </a:ext>
            </a:extLst>
          </p:cNvPr>
          <p:cNvSpPr txBox="1"/>
          <p:nvPr/>
        </p:nvSpPr>
        <p:spPr>
          <a:xfrm>
            <a:off x="6930714" y="1771353"/>
            <a:ext cx="1698806" cy="849463"/>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600" dirty="0" err="1">
                <a:solidFill>
                  <a:schemeClr val="dk1"/>
                </a:solidFill>
                <a:latin typeface="Merriweather Sans"/>
                <a:ea typeface="Merriweather Sans"/>
                <a:cs typeface="Merriweather Sans"/>
                <a:sym typeface="Merriweather Sans"/>
              </a:rPr>
              <a:t>Đối</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tượng</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và</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phạm</a:t>
            </a:r>
            <a:r>
              <a:rPr lang="en-US" sz="1600" dirty="0">
                <a:solidFill>
                  <a:schemeClr val="dk1"/>
                </a:solidFill>
                <a:latin typeface="Merriweather Sans"/>
                <a:ea typeface="Merriweather Sans"/>
                <a:cs typeface="Merriweather Sans"/>
                <a:sym typeface="Merriweather Sans"/>
              </a:rPr>
              <a:t> vi </a:t>
            </a:r>
            <a:r>
              <a:rPr lang="en-US" sz="1600" dirty="0" err="1">
                <a:solidFill>
                  <a:schemeClr val="dk1"/>
                </a:solidFill>
                <a:latin typeface="Merriweather Sans"/>
                <a:ea typeface="Merriweather Sans"/>
                <a:cs typeface="Merriweather Sans"/>
                <a:sym typeface="Merriweather Sans"/>
              </a:rPr>
              <a:t>nghiên</a:t>
            </a:r>
            <a:r>
              <a:rPr lang="en-US" sz="1600" dirty="0">
                <a:solidFill>
                  <a:schemeClr val="dk1"/>
                </a:solidFill>
                <a:latin typeface="Merriweather Sans"/>
                <a:ea typeface="Merriweather Sans"/>
                <a:cs typeface="Merriweather Sans"/>
                <a:sym typeface="Merriweather Sans"/>
              </a:rPr>
              <a:t> </a:t>
            </a:r>
            <a:r>
              <a:rPr lang="en-US" sz="1600" dirty="0" err="1">
                <a:solidFill>
                  <a:schemeClr val="dk1"/>
                </a:solidFill>
                <a:latin typeface="Merriweather Sans"/>
                <a:ea typeface="Merriweather Sans"/>
                <a:cs typeface="Merriweather Sans"/>
                <a:sym typeface="Merriweather Sans"/>
              </a:rPr>
              <a:t>cứu</a:t>
            </a:r>
            <a:endParaRPr sz="1600" dirty="0">
              <a:solidFill>
                <a:schemeClr val="dk1"/>
              </a:solidFill>
              <a:latin typeface="Merriweather Sans"/>
              <a:ea typeface="Merriweather Sans"/>
              <a:cs typeface="Merriweather Sans"/>
              <a:sym typeface="Merriweather Sans"/>
            </a:endParaRPr>
          </a:p>
        </p:txBody>
      </p:sp>
      <p:sp>
        <p:nvSpPr>
          <p:cNvPr id="7" name="Google Shape;133;p14">
            <a:extLst>
              <a:ext uri="{FF2B5EF4-FFF2-40B4-BE49-F238E27FC236}">
                <a16:creationId xmlns:a16="http://schemas.microsoft.com/office/drawing/2014/main" id="{18330B96-F877-5A33-2D26-872ED5F7262B}"/>
              </a:ext>
            </a:extLst>
          </p:cNvPr>
          <p:cNvSpPr txBox="1"/>
          <p:nvPr/>
        </p:nvSpPr>
        <p:spPr>
          <a:xfrm>
            <a:off x="6122852" y="2488641"/>
            <a:ext cx="2506668" cy="2141355"/>
          </a:xfrm>
          <a:prstGeom prst="rect">
            <a:avLst/>
          </a:prstGeom>
          <a:noFill/>
          <a:ln>
            <a:noFill/>
          </a:ln>
        </p:spPr>
        <p:txBody>
          <a:bodyPr spcFirstLastPara="1" wrap="square" lIns="0" tIns="0" rIns="0" bIns="0" anchor="t" anchorCtr="0">
            <a:spAutoFit/>
          </a:bodyPr>
          <a:lstStyle/>
          <a:p>
            <a:pPr marL="171450" marR="0" lvl="0" indent="-171450" algn="l" rtl="0">
              <a:lnSpc>
                <a:spcPct val="115000"/>
              </a:lnSpc>
              <a:spcBef>
                <a:spcPts val="0"/>
              </a:spcBef>
              <a:spcAft>
                <a:spcPts val="0"/>
              </a:spcAft>
              <a:buFontTx/>
              <a:buChar char="-"/>
            </a:pPr>
            <a:endParaRPr lang="en-US" sz="1100" dirty="0">
              <a:solidFill>
                <a:schemeClr val="dk1"/>
              </a:solidFill>
              <a:latin typeface="Merriweather Sans"/>
              <a:ea typeface="Merriweather Sans"/>
              <a:cs typeface="Merriweather Sans"/>
              <a:sym typeface="Merriweather Sans"/>
            </a:endParaRPr>
          </a:p>
          <a:p>
            <a:pPr marL="171450" lvl="0" indent="-171450">
              <a:lnSpc>
                <a:spcPct val="115000"/>
              </a:lnSpc>
              <a:buFontTx/>
              <a:buChar char="-"/>
            </a:pPr>
            <a:r>
              <a:rPr lang="vi-VN" sz="1100" dirty="0">
                <a:solidFill>
                  <a:schemeClr val="dk1"/>
                </a:solidFill>
                <a:latin typeface="Merriweather Sans"/>
                <a:ea typeface="Merriweather Sans"/>
                <a:cs typeface="Merriweather Sans"/>
                <a:sym typeface="Merriweather Sans"/>
              </a:rPr>
              <a:t>Khách </a:t>
            </a:r>
            <a:r>
              <a:rPr lang="vi-VN" sz="1100" dirty="0" smtClean="0">
                <a:solidFill>
                  <a:schemeClr val="dk1"/>
                </a:solidFill>
                <a:latin typeface="Merriweather Sans"/>
                <a:ea typeface="Merriweather Sans"/>
                <a:cs typeface="Merriweather Sans"/>
                <a:sym typeface="Merriweather Sans"/>
              </a:rPr>
              <a:t>Hàng</a:t>
            </a:r>
            <a:r>
              <a:rPr lang="en-US" sz="1100" dirty="0" smtClean="0">
                <a:solidFill>
                  <a:schemeClr val="dk1"/>
                </a:solidFill>
                <a:latin typeface="Merriweather Sans"/>
                <a:ea typeface="Merriweather Sans"/>
                <a:cs typeface="Merriweather Sans"/>
                <a:sym typeface="Merriweather Sans"/>
              </a:rPr>
              <a:t>:</a:t>
            </a:r>
            <a:r>
              <a:rPr lang="vi-VN" sz="1100" dirty="0" smtClean="0">
                <a:solidFill>
                  <a:schemeClr val="dk1"/>
                </a:solidFill>
                <a:latin typeface="Merriweather Sans"/>
                <a:ea typeface="Merriweather Sans"/>
                <a:cs typeface="Merriweather Sans"/>
                <a:sym typeface="Merriweather Sans"/>
              </a:rPr>
              <a:t> </a:t>
            </a:r>
            <a:r>
              <a:rPr lang="en-US" sz="1100" dirty="0" smtClean="0">
                <a:solidFill>
                  <a:schemeClr val="dk1"/>
                </a:solidFill>
                <a:latin typeface="Merriweather Sans"/>
                <a:ea typeface="Merriweather Sans"/>
                <a:cs typeface="Merriweather Sans"/>
                <a:sym typeface="Merriweather Sans"/>
              </a:rPr>
              <a:t>n</a:t>
            </a:r>
            <a:r>
              <a:rPr lang="vi-VN" sz="1100" dirty="0" smtClean="0">
                <a:solidFill>
                  <a:schemeClr val="dk1"/>
                </a:solidFill>
                <a:latin typeface="Merriweather Sans"/>
                <a:ea typeface="Merriweather Sans"/>
                <a:cs typeface="Merriweather Sans"/>
                <a:sym typeface="Merriweather Sans"/>
              </a:rPr>
              <a:t>hững </a:t>
            </a:r>
            <a:r>
              <a:rPr lang="vi-VN" sz="1100" dirty="0">
                <a:solidFill>
                  <a:schemeClr val="dk1"/>
                </a:solidFill>
                <a:latin typeface="Merriweather Sans"/>
                <a:ea typeface="Merriweather Sans"/>
                <a:cs typeface="Merriweather Sans"/>
                <a:sym typeface="Merriweather Sans"/>
              </a:rPr>
              <a:t>người sử dụng ứng dụng để đặt </a:t>
            </a:r>
            <a:r>
              <a:rPr lang="vi-VN" sz="1100" dirty="0" smtClean="0">
                <a:solidFill>
                  <a:schemeClr val="dk1"/>
                </a:solidFill>
                <a:latin typeface="Merriweather Sans"/>
                <a:ea typeface="Merriweather Sans"/>
                <a:cs typeface="Merriweather Sans"/>
                <a:sym typeface="Merriweather Sans"/>
              </a:rPr>
              <a:t>xe</a:t>
            </a:r>
            <a:r>
              <a:rPr lang="en-US" sz="1100" dirty="0" smtClean="0">
                <a:solidFill>
                  <a:schemeClr val="dk1"/>
                </a:solidFill>
                <a:latin typeface="Merriweather Sans"/>
                <a:ea typeface="Merriweather Sans"/>
                <a:cs typeface="Merriweather Sans"/>
                <a:sym typeface="Merriweather Sans"/>
              </a:rPr>
              <a:t>.</a:t>
            </a:r>
          </a:p>
          <a:p>
            <a:pPr marL="171450" lvl="0" indent="-171450">
              <a:lnSpc>
                <a:spcPct val="115000"/>
              </a:lnSpc>
              <a:buFontTx/>
              <a:buChar char="-"/>
            </a:pPr>
            <a:r>
              <a:rPr lang="en-US" sz="1100" dirty="0" smtClean="0">
                <a:solidFill>
                  <a:schemeClr val="dk1"/>
                </a:solidFill>
                <a:latin typeface="Merriweather Sans"/>
                <a:ea typeface="Merriweather Sans"/>
                <a:cs typeface="Merriweather Sans"/>
                <a:sym typeface="Merriweather Sans"/>
              </a:rPr>
              <a:t>Tài </a:t>
            </a:r>
            <a:r>
              <a:rPr lang="en-US" sz="1100" dirty="0" err="1" smtClean="0">
                <a:solidFill>
                  <a:schemeClr val="dk1"/>
                </a:solidFill>
                <a:latin typeface="Merriweather Sans"/>
                <a:ea typeface="Merriweather Sans"/>
                <a:cs typeface="Merriweather Sans"/>
                <a:sym typeface="Merriweather Sans"/>
              </a:rPr>
              <a:t>xế</a:t>
            </a:r>
            <a:r>
              <a:rPr lang="en-US" sz="1100" dirty="0" smtClean="0">
                <a:solidFill>
                  <a:schemeClr val="dk1"/>
                </a:solidFill>
                <a:latin typeface="Merriweather Sans"/>
                <a:ea typeface="Merriweather Sans"/>
                <a:cs typeface="Merriweather Sans"/>
                <a:sym typeface="Merriweather Sans"/>
              </a:rPr>
              <a:t>: n</a:t>
            </a:r>
            <a:r>
              <a:rPr lang="vi-VN" sz="1100" dirty="0" smtClean="0">
                <a:solidFill>
                  <a:schemeClr val="dk1"/>
                </a:solidFill>
                <a:latin typeface="Merriweather Sans"/>
                <a:ea typeface="Merriweather Sans"/>
                <a:cs typeface="Merriweather Sans"/>
                <a:sym typeface="Merriweather Sans"/>
              </a:rPr>
              <a:t>hững </a:t>
            </a:r>
            <a:r>
              <a:rPr lang="vi-VN" sz="1100" dirty="0">
                <a:solidFill>
                  <a:schemeClr val="dk1"/>
                </a:solidFill>
                <a:latin typeface="Merriweather Sans"/>
                <a:ea typeface="Merriweather Sans"/>
                <a:cs typeface="Merriweather Sans"/>
                <a:sym typeface="Merriweather Sans"/>
              </a:rPr>
              <a:t>người cung cấp dịch vụ vận chuyển thông qua ứng </a:t>
            </a:r>
            <a:r>
              <a:rPr lang="vi-VN" sz="1100" dirty="0" smtClean="0">
                <a:solidFill>
                  <a:schemeClr val="dk1"/>
                </a:solidFill>
                <a:latin typeface="Merriweather Sans"/>
                <a:ea typeface="Merriweather Sans"/>
                <a:cs typeface="Merriweather Sans"/>
                <a:sym typeface="Merriweather Sans"/>
              </a:rPr>
              <a:t>dụng</a:t>
            </a:r>
            <a:r>
              <a:rPr lang="en-US" sz="1100" dirty="0" smtClean="0">
                <a:solidFill>
                  <a:schemeClr val="dk1"/>
                </a:solidFill>
                <a:latin typeface="Merriweather Sans"/>
                <a:ea typeface="Merriweather Sans"/>
                <a:cs typeface="Merriweather Sans"/>
                <a:sym typeface="Merriweather Sans"/>
              </a:rPr>
              <a:t>.</a:t>
            </a:r>
            <a:endParaRPr lang="en-US" sz="1100" dirty="0">
              <a:solidFill>
                <a:schemeClr val="dk1"/>
              </a:solidFill>
              <a:latin typeface="Merriweather Sans"/>
              <a:ea typeface="Merriweather Sans"/>
              <a:cs typeface="Merriweather Sans"/>
              <a:sym typeface="Merriweather Sans"/>
            </a:endParaRPr>
          </a:p>
          <a:p>
            <a:pPr marL="171450" lvl="0" indent="-171450">
              <a:lnSpc>
                <a:spcPct val="115000"/>
              </a:lnSpc>
              <a:buFontTx/>
              <a:buChar char="-"/>
            </a:pPr>
            <a:r>
              <a:rPr lang="vi-VN" sz="1100" dirty="0">
                <a:solidFill>
                  <a:schemeClr val="dk1"/>
                </a:solidFill>
                <a:latin typeface="Merriweather Sans"/>
                <a:ea typeface="Merriweather Sans"/>
                <a:cs typeface="Merriweather Sans"/>
                <a:sym typeface="Merriweather Sans"/>
              </a:rPr>
              <a:t>Quản trị hệ thống: Những người quản lý và duy trì hệ thống đặt xe trực </a:t>
            </a:r>
            <a:r>
              <a:rPr lang="vi-VN" sz="1100" dirty="0" smtClean="0">
                <a:solidFill>
                  <a:schemeClr val="dk1"/>
                </a:solidFill>
                <a:latin typeface="Merriweather Sans"/>
                <a:ea typeface="Merriweather Sans"/>
                <a:cs typeface="Merriweather Sans"/>
                <a:sym typeface="Merriweather Sans"/>
              </a:rPr>
              <a:t>tuyến</a:t>
            </a:r>
            <a:r>
              <a:rPr lang="en-US" sz="1100" dirty="0" smtClean="0">
                <a:solidFill>
                  <a:schemeClr val="dk1"/>
                </a:solidFill>
                <a:latin typeface="Merriweather Sans"/>
                <a:ea typeface="Merriweather Sans"/>
                <a:cs typeface="Merriweather Sans"/>
                <a:sym typeface="Merriweather Sans"/>
              </a:rPr>
              <a:t>.</a:t>
            </a:r>
          </a:p>
          <a:p>
            <a:pPr marL="171450" lvl="0" indent="-171450">
              <a:lnSpc>
                <a:spcPct val="115000"/>
              </a:lnSpc>
              <a:buFontTx/>
              <a:buChar char="-"/>
            </a:pPr>
            <a:r>
              <a:rPr lang="en-US" sz="1100" dirty="0" err="1" smtClean="0">
                <a:solidFill>
                  <a:schemeClr val="dk1"/>
                </a:solidFill>
                <a:latin typeface="Merriweather Sans"/>
                <a:ea typeface="Merriweather Sans"/>
                <a:cs typeface="Merriweather Sans"/>
                <a:sym typeface="Merriweather Sans"/>
              </a:rPr>
              <a:t>Phát</a:t>
            </a:r>
            <a:r>
              <a:rPr lang="en-US" sz="1100" dirty="0" smtClean="0">
                <a:solidFill>
                  <a:schemeClr val="dk1"/>
                </a:solidFill>
                <a:latin typeface="Merriweather Sans"/>
                <a:ea typeface="Merriweather Sans"/>
                <a:cs typeface="Merriweather Sans"/>
                <a:sym typeface="Merriweather Sans"/>
              </a:rPr>
              <a:t> </a:t>
            </a:r>
            <a:r>
              <a:rPr lang="vi-VN" sz="1100" dirty="0" smtClean="0">
                <a:solidFill>
                  <a:schemeClr val="dk1"/>
                </a:solidFill>
                <a:latin typeface="Merriweather Sans"/>
                <a:ea typeface="Merriweather Sans"/>
                <a:cs typeface="Merriweather Sans"/>
                <a:sym typeface="Merriweather Sans"/>
              </a:rPr>
              <a:t>triển </a:t>
            </a:r>
            <a:r>
              <a:rPr lang="vi-VN" sz="1100" dirty="0">
                <a:solidFill>
                  <a:schemeClr val="dk1"/>
                </a:solidFill>
                <a:latin typeface="Merriweather Sans"/>
                <a:ea typeface="Merriweather Sans"/>
                <a:cs typeface="Merriweather Sans"/>
                <a:sym typeface="Merriweather Sans"/>
              </a:rPr>
              <a:t>và tối ưu hóa hệ thống đặt </a:t>
            </a:r>
            <a:r>
              <a:rPr lang="vi-VN" sz="1100" dirty="0" smtClean="0">
                <a:solidFill>
                  <a:schemeClr val="dk1"/>
                </a:solidFill>
                <a:latin typeface="Merriweather Sans"/>
                <a:ea typeface="Merriweather Sans"/>
                <a:cs typeface="Merriweather Sans"/>
                <a:sym typeface="Merriweather Sans"/>
              </a:rPr>
              <a:t>xe</a:t>
            </a:r>
            <a:r>
              <a:rPr lang="en-US" sz="1100" dirty="0" smtClean="0">
                <a:solidFill>
                  <a:schemeClr val="dk1"/>
                </a:solidFill>
                <a:latin typeface="Merriweather Sans"/>
                <a:ea typeface="Merriweather Sans"/>
                <a:cs typeface="Merriweather Sans"/>
                <a:sym typeface="Merriweather Sans"/>
              </a:rPr>
              <a:t>, </a:t>
            </a:r>
            <a:r>
              <a:rPr lang="en-US" sz="1100" dirty="0" err="1" smtClean="0">
                <a:solidFill>
                  <a:schemeClr val="dk1"/>
                </a:solidFill>
                <a:latin typeface="Merriweather Sans"/>
                <a:ea typeface="Merriweather Sans"/>
                <a:cs typeface="Merriweather Sans"/>
                <a:sym typeface="Merriweather Sans"/>
              </a:rPr>
              <a:t>dễ</a:t>
            </a:r>
            <a:r>
              <a:rPr lang="en-US" sz="1100" dirty="0" smtClean="0">
                <a:solidFill>
                  <a:schemeClr val="dk1"/>
                </a:solidFill>
                <a:latin typeface="Merriweather Sans"/>
                <a:ea typeface="Merriweather Sans"/>
                <a:cs typeface="Merriweather Sans"/>
                <a:sym typeface="Merriweather Sans"/>
              </a:rPr>
              <a:t> </a:t>
            </a:r>
            <a:r>
              <a:rPr lang="en-US" sz="1100" dirty="0" err="1" smtClean="0">
                <a:solidFill>
                  <a:schemeClr val="dk1"/>
                </a:solidFill>
                <a:latin typeface="Merriweather Sans"/>
                <a:ea typeface="Merriweather Sans"/>
                <a:cs typeface="Merriweather Sans"/>
                <a:sym typeface="Merriweather Sans"/>
              </a:rPr>
              <a:t>sử</a:t>
            </a:r>
            <a:r>
              <a:rPr lang="en-US" sz="1100" dirty="0" smtClean="0">
                <a:solidFill>
                  <a:schemeClr val="dk1"/>
                </a:solidFill>
                <a:latin typeface="Merriweather Sans"/>
                <a:ea typeface="Merriweather Sans"/>
                <a:cs typeface="Merriweather Sans"/>
                <a:sym typeface="Merriweather Sans"/>
              </a:rPr>
              <a:t> dụng, </a:t>
            </a:r>
            <a:r>
              <a:rPr lang="en-US" sz="1100" dirty="0" err="1" smtClean="0">
                <a:solidFill>
                  <a:schemeClr val="dk1"/>
                </a:solidFill>
                <a:latin typeface="Merriweather Sans"/>
                <a:ea typeface="Merriweather Sans"/>
                <a:cs typeface="Merriweather Sans"/>
                <a:sym typeface="Merriweather Sans"/>
              </a:rPr>
              <a:t>ít</a:t>
            </a:r>
            <a:r>
              <a:rPr lang="en-US" sz="1100" dirty="0" smtClean="0">
                <a:solidFill>
                  <a:schemeClr val="dk1"/>
                </a:solidFill>
                <a:latin typeface="Merriweather Sans"/>
                <a:ea typeface="Merriweather Sans"/>
                <a:cs typeface="Merriweather Sans"/>
                <a:sym typeface="Merriweather Sans"/>
              </a:rPr>
              <a:t> </a:t>
            </a:r>
            <a:r>
              <a:rPr lang="en-US" sz="1100" dirty="0" err="1" smtClean="0">
                <a:solidFill>
                  <a:schemeClr val="dk1"/>
                </a:solidFill>
                <a:latin typeface="Merriweather Sans"/>
                <a:ea typeface="Merriweather Sans"/>
                <a:cs typeface="Merriweather Sans"/>
                <a:sym typeface="Merriweather Sans"/>
              </a:rPr>
              <a:t>thao</a:t>
            </a:r>
            <a:r>
              <a:rPr lang="en-US" sz="1100" dirty="0" smtClean="0">
                <a:solidFill>
                  <a:schemeClr val="dk1"/>
                </a:solidFill>
                <a:latin typeface="Merriweather Sans"/>
                <a:ea typeface="Merriweather Sans"/>
                <a:cs typeface="Merriweather Sans"/>
                <a:sym typeface="Merriweather Sans"/>
              </a:rPr>
              <a:t> </a:t>
            </a:r>
            <a:r>
              <a:rPr lang="en-US" sz="1100" dirty="0" err="1" smtClean="0">
                <a:solidFill>
                  <a:schemeClr val="dk1"/>
                </a:solidFill>
                <a:latin typeface="Merriweather Sans"/>
                <a:ea typeface="Merriweather Sans"/>
                <a:cs typeface="Merriweather Sans"/>
                <a:sym typeface="Merriweather Sans"/>
              </a:rPr>
              <a:t>tác</a:t>
            </a:r>
            <a:r>
              <a:rPr lang="en-US" sz="1100" dirty="0" smtClean="0">
                <a:solidFill>
                  <a:schemeClr val="dk1"/>
                </a:solidFill>
                <a:latin typeface="Merriweather Sans"/>
                <a:ea typeface="Merriweather Sans"/>
                <a:cs typeface="Merriweather Sans"/>
                <a:sym typeface="Merriweather Sans"/>
              </a:rPr>
              <a:t>.</a:t>
            </a:r>
            <a:endParaRPr sz="1100" dirty="0">
              <a:solidFill>
                <a:schemeClr val="dk1"/>
              </a:solidFill>
              <a:latin typeface="Merriweather Sans"/>
              <a:ea typeface="Merriweather Sans"/>
              <a:cs typeface="Merriweather Sans"/>
              <a:sym typeface="Merriweather Sans"/>
            </a:endParaRPr>
          </a:p>
        </p:txBody>
      </p:sp>
      <p:sp>
        <p:nvSpPr>
          <p:cNvPr id="2" name="Google Shape;203;p19">
            <a:extLst>
              <a:ext uri="{FF2B5EF4-FFF2-40B4-BE49-F238E27FC236}">
                <a16:creationId xmlns:a16="http://schemas.microsoft.com/office/drawing/2014/main" id="{18811B81-9990-FBAB-F347-6334777E8E4E}"/>
              </a:ext>
            </a:extLst>
          </p:cNvPr>
          <p:cNvSpPr txBox="1"/>
          <p:nvPr/>
        </p:nvSpPr>
        <p:spPr>
          <a:xfrm>
            <a:off x="342900" y="0"/>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1. TỔNG QUAN</a:t>
            </a:r>
          </a:p>
        </p:txBody>
      </p:sp>
      <p:sp>
        <p:nvSpPr>
          <p:cNvPr id="3" name="Google Shape;206;p19">
            <a:extLst>
              <a:ext uri="{FF2B5EF4-FFF2-40B4-BE49-F238E27FC236}">
                <a16:creationId xmlns:a16="http://schemas.microsoft.com/office/drawing/2014/main" id="{987E65D4-D3B6-CF5E-C199-E94F91D379FF}"/>
              </a:ext>
            </a:extLst>
          </p:cNvPr>
          <p:cNvSpPr/>
          <p:nvPr/>
        </p:nvSpPr>
        <p:spPr>
          <a:xfrm>
            <a:off x="0" y="690752"/>
            <a:ext cx="9144000" cy="673861"/>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8" name="Google Shape;208;p19">
            <a:extLst>
              <a:ext uri="{FF2B5EF4-FFF2-40B4-BE49-F238E27FC236}">
                <a16:creationId xmlns:a16="http://schemas.microsoft.com/office/drawing/2014/main" id="{2C3F8883-FCD7-8724-5800-E6C73C325EFF}"/>
              </a:ext>
            </a:extLst>
          </p:cNvPr>
          <p:cNvSpPr txBox="1"/>
          <p:nvPr/>
        </p:nvSpPr>
        <p:spPr>
          <a:xfrm>
            <a:off x="717766" y="871746"/>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1.1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Giới</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thiệu</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đề</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tài</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và</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phạm</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vi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nghiên</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cứu</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50" y="0"/>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1. TỔNG QUAN</a:t>
            </a:r>
          </a:p>
        </p:txBody>
      </p:sp>
      <p:grpSp>
        <p:nvGrpSpPr>
          <p:cNvPr id="204" name="Google Shape;204;p19"/>
          <p:cNvGrpSpPr/>
          <p:nvPr/>
        </p:nvGrpSpPr>
        <p:grpSpPr>
          <a:xfrm>
            <a:off x="0" y="771785"/>
            <a:ext cx="9144000" cy="4371716"/>
            <a:chOff x="-415921" y="1"/>
            <a:chExt cx="7394155" cy="3023316"/>
          </a:xfrm>
        </p:grpSpPr>
        <p:sp>
          <p:nvSpPr>
            <p:cNvPr id="205" name="Google Shape;205;p19"/>
            <p:cNvSpPr/>
            <p:nvPr/>
          </p:nvSpPr>
          <p:spPr>
            <a:xfrm>
              <a:off x="-415921" y="369725"/>
              <a:ext cx="3414020" cy="2653592"/>
            </a:xfrm>
            <a:prstGeom prst="rect">
              <a:avLst/>
            </a:prstGeom>
            <a:solidFill>
              <a:schemeClr val="dk2"/>
            </a:solidFill>
            <a:ln>
              <a:noFill/>
            </a:ln>
          </p:spPr>
          <p:txBody>
            <a:bodyPr spcFirstLastPara="1" wrap="square" lIns="45725" tIns="91440" rIns="45725" bIns="45725" anchor="t" anchorCtr="0">
              <a:noAutofit/>
            </a:bodyPr>
            <a:lstStyle/>
            <a:p>
              <a:pPr lvl="0" algn="ctr" rtl="0">
                <a:lnSpc>
                  <a:spcPct val="150000"/>
                </a:lnSpc>
                <a:spcBef>
                  <a:spcPts val="0"/>
                </a:spcBef>
                <a:spcAft>
                  <a:spcPts val="0"/>
                </a:spcAft>
              </a:pPr>
              <a:r>
                <a:rPr lang="en-US" sz="1600" dirty="0">
                  <a:latin typeface="Times New Roman" panose="02020603050405020304" pitchFamily="18" charset="0"/>
                  <a:cs typeface="Times New Roman" panose="02020603050405020304" pitchFamily="18" charset="0"/>
                </a:rPr>
                <a:t>Input</a:t>
              </a:r>
            </a:p>
            <a:p>
              <a:pPr marL="285750" lvl="0" indent="-285750">
                <a:lnSpc>
                  <a:spcPct val="150000"/>
                </a:lnSpc>
                <a:buFont typeface="Wingdings" panose="05000000000000000000" pitchFamily="2" charset="2"/>
                <a:buChar char="v"/>
              </a:pPr>
              <a:r>
                <a:rPr lang="en-US" sz="1600" dirty="0" err="1" smtClean="0">
                  <a:latin typeface="Times New Roman" panose="02020603050405020304" pitchFamily="18" charset="0"/>
                  <a:cs typeface="Times New Roman" panose="02020603050405020304" pitchFamily="18" charset="0"/>
                </a:rPr>
                <a:t>Lựa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chọn</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a:t>
              </a:r>
              <a:r>
                <a:rPr lang="en-US" sz="1600" dirty="0" err="1" smtClean="0">
                  <a:latin typeface="Times New Roman" panose="02020603050405020304" pitchFamily="18" charset="0"/>
                  <a:cs typeface="Times New Roman" panose="02020603050405020304" pitchFamily="18" charset="0"/>
                </a:rPr>
                <a:t>oại</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xe</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và </a:t>
              </a:r>
              <a:r>
                <a:rPr lang="en-US" sz="1600" dirty="0" err="1" smtClean="0">
                  <a:latin typeface="Times New Roman" panose="02020603050405020304" pitchFamily="18" charset="0"/>
                  <a:cs typeface="Times New Roman" panose="02020603050405020304" pitchFamily="18" charset="0"/>
                </a:rPr>
                <a:t>chọn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đón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đến</a:t>
              </a:r>
              <a:r>
                <a:rPr lang="en-US" sz="1600" dirty="0" smtClean="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v"/>
              </a:pPr>
              <a:r>
                <a:rPr lang="en-US" sz="1600" dirty="0" err="1" smtClean="0">
                  <a:latin typeface="Times New Roman" panose="02020603050405020304" pitchFamily="18" charset="0"/>
                  <a:cs typeface="Times New Roman" panose="02020603050405020304" pitchFamily="18" charset="0"/>
                </a:rPr>
                <a:t>Áp</a:t>
              </a:r>
              <a:r>
                <a:rPr lang="en-US" sz="1600" dirty="0" smtClean="0">
                  <a:latin typeface="Times New Roman" panose="02020603050405020304" pitchFamily="18" charset="0"/>
                  <a:cs typeface="Times New Roman" panose="02020603050405020304" pitchFamily="18" charset="0"/>
                </a:rPr>
                <a:t> dụng </a:t>
              </a:r>
              <a:r>
                <a:rPr lang="en-US" sz="1600" dirty="0" err="1" smtClean="0">
                  <a:latin typeface="Times New Roman" panose="02020603050405020304" pitchFamily="18" charset="0"/>
                  <a:cs typeface="Times New Roman" panose="02020603050405020304" pitchFamily="18" charset="0"/>
                </a:rPr>
                <a:t>khuyến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mãi</a:t>
              </a:r>
              <a:r>
                <a:rPr lang="en-US" sz="1600" dirty="0" smtClean="0">
                  <a:latin typeface="Times New Roman" panose="02020603050405020304" pitchFamily="18" charset="0"/>
                  <a:cs typeface="Times New Roman" panose="02020603050405020304" pitchFamily="18" charset="0"/>
                </a:rPr>
                <a:t> và </a:t>
              </a:r>
              <a:r>
                <a:rPr lang="en-US" sz="1600" dirty="0" err="1" smtClean="0">
                  <a:latin typeface="Times New Roman" panose="02020603050405020304" pitchFamily="18" charset="0"/>
                  <a:cs typeface="Times New Roman" panose="02020603050405020304" pitchFamily="18" charset="0"/>
                </a:rPr>
                <a:t>chọn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phương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thức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thanh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toán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tiền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mặt</a:t>
              </a:r>
              <a:r>
                <a:rPr lang="en-US" sz="1600" dirty="0" smtClean="0">
                  <a:latin typeface="Times New Roman" panose="02020603050405020304" pitchFamily="18" charset="0"/>
                  <a:cs typeface="Times New Roman" panose="02020603050405020304" pitchFamily="18" charset="0"/>
                </a:rPr>
                <a:t>, qua </a:t>
              </a:r>
              <a:r>
                <a:rPr lang="en-US" sz="1600" dirty="0" err="1" smtClean="0">
                  <a:latin typeface="Times New Roman" panose="02020603050405020304" pitchFamily="18" charset="0"/>
                  <a:cs typeface="Times New Roman" panose="02020603050405020304" pitchFamily="18" charset="0"/>
                </a:rPr>
                <a:t>thẻ</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liên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kết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thẻ</a:t>
              </a:r>
              <a:r>
                <a:rPr lang="en-US" sz="1600" dirty="0" smtClean="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Xác </a:t>
              </a:r>
              <a:r>
                <a:rPr lang="en-US" sz="1600" dirty="0" err="1" smtClean="0">
                  <a:latin typeface="Times New Roman" panose="02020603050405020304" pitchFamily="18" charset="0"/>
                  <a:cs typeface="Times New Roman" panose="02020603050405020304" pitchFamily="18" charset="0"/>
                </a:rPr>
                <a:t>nhận</a:t>
              </a:r>
              <a:r>
                <a:rPr lang="en-US" sz="1600" dirty="0" smtClean="0">
                  <a:latin typeface="Times New Roman" panose="02020603050405020304" pitchFamily="18" charset="0"/>
                  <a:cs typeface="Times New Roman" panose="02020603050405020304" pitchFamily="18" charset="0"/>
                </a:rPr>
                <a:t> đặt </a:t>
              </a:r>
              <a:r>
                <a:rPr lang="en-US" sz="1600" dirty="0" err="1" smtClean="0">
                  <a:latin typeface="Times New Roman" panose="02020603050405020304" pitchFamily="18" charset="0"/>
                  <a:cs typeface="Times New Roman" panose="02020603050405020304" pitchFamily="18" charset="0"/>
                </a:rPr>
                <a:t>xe</a:t>
              </a:r>
              <a:r>
                <a:rPr lang="en-US" sz="1600" dirty="0" smtClean="0">
                  <a:latin typeface="Times New Roman" panose="02020603050405020304" pitchFamily="18" charset="0"/>
                  <a:cs typeface="Times New Roman" panose="02020603050405020304" pitchFamily="18" charset="0"/>
                </a:rPr>
                <a:t> và </a:t>
              </a:r>
              <a:r>
                <a:rPr lang="en-US" sz="1600" dirty="0" err="1" smtClean="0">
                  <a:latin typeface="Times New Roman" panose="02020603050405020304" pitchFamily="18" charset="0"/>
                  <a:cs typeface="Times New Roman" panose="02020603050405020304" pitchFamily="18" charset="0"/>
                </a:rPr>
                <a:t>nhận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xe</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thanh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toán</a:t>
              </a:r>
              <a:endParaRPr lang="en-US" sz="1600"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tin và </a:t>
              </a:r>
              <a:r>
                <a:rPr lang="en-US" sz="1600" dirty="0" err="1">
                  <a:latin typeface="Times New Roman" panose="02020603050405020304" pitchFamily="18" charset="0"/>
                  <a:cs typeface="Times New Roman" panose="02020603050405020304" pitchFamily="18" charset="0"/>
                </a:rPr>
                <a:t>tình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trạng</a:t>
              </a:r>
              <a:r>
                <a:rPr lang="en-US" sz="1600" dirty="0">
                  <a:latin typeface="Times New Roman" panose="02020603050405020304" pitchFamily="18" charset="0"/>
                  <a:cs typeface="Times New Roman" panose="02020603050405020304" pitchFamily="18" charset="0"/>
                </a:rPr>
                <a:t> của tài </a:t>
              </a:r>
              <a:r>
                <a:rPr lang="en-US" sz="1600" dirty="0" err="1">
                  <a:latin typeface="Times New Roman" panose="02020603050405020304" pitchFamily="18" charset="0"/>
                  <a:cs typeface="Times New Roman" panose="02020603050405020304" pitchFamily="18" charset="0"/>
                </a:rPr>
                <a:t>xế</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tuyến</a:t>
              </a:r>
              <a:r>
                <a:rPr lang="en-US" sz="1600" dirty="0" smtClean="0">
                  <a:latin typeface="Times New Roman" panose="02020603050405020304" pitchFamily="18" charset="0"/>
                  <a:cs typeface="Times New Roman" panose="02020603050405020304" pitchFamily="18" charset="0"/>
                </a:rPr>
                <a:t>).</a:t>
              </a:r>
            </a:p>
            <a:p>
              <a:pPr marL="285750" lvl="0" indent="-28575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Cập </a:t>
              </a:r>
              <a:r>
                <a:rPr lang="en-US" sz="1600" dirty="0" err="1" smtClean="0">
                  <a:latin typeface="Times New Roman" panose="02020603050405020304" pitchFamily="18" charset="0"/>
                  <a:cs typeface="Times New Roman" panose="02020603050405020304" pitchFamily="18" charset="0"/>
                </a:rPr>
                <a:t>nhật</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a:t>
              </a:r>
              <a:r>
                <a:rPr lang="vi-VN" sz="1600" dirty="0" smtClean="0">
                  <a:latin typeface="Times New Roman" panose="02020603050405020304" pitchFamily="18" charset="0"/>
                  <a:cs typeface="Times New Roman" panose="02020603050405020304" pitchFamily="18" charset="0"/>
                </a:rPr>
                <a:t>hông </a:t>
              </a:r>
              <a:r>
                <a:rPr lang="vi-VN" sz="1600" dirty="0">
                  <a:latin typeface="Times New Roman" panose="02020603050405020304" pitchFamily="18" charset="0"/>
                  <a:cs typeface="Times New Roman" panose="02020603050405020304" pitchFamily="18" charset="0"/>
                </a:rPr>
                <a:t>tin cá nhân của người đặt </a:t>
              </a:r>
              <a:r>
                <a:rPr lang="vi-VN" sz="1600" dirty="0" smtClean="0">
                  <a:latin typeface="Times New Roman" panose="02020603050405020304" pitchFamily="18" charset="0"/>
                  <a:cs typeface="Times New Roman" panose="02020603050405020304" pitchFamily="18" charset="0"/>
                </a:rPr>
                <a:t>xe</a:t>
              </a:r>
              <a:r>
                <a:rPr lang="en-US" sz="1600" dirty="0" smtClean="0">
                  <a:latin typeface="Times New Roman" panose="02020603050405020304" pitchFamily="18" charset="0"/>
                  <a:cs typeface="Times New Roman" panose="02020603050405020304" pitchFamily="18" charset="0"/>
                </a:rPr>
                <a:t> và tài </a:t>
              </a:r>
              <a:r>
                <a:rPr lang="en-US" sz="1600" dirty="0" err="1" smtClean="0">
                  <a:latin typeface="Times New Roman" panose="02020603050405020304" pitchFamily="18" charset="0"/>
                  <a:cs typeface="Times New Roman" panose="02020603050405020304" pitchFamily="18" charset="0"/>
                </a:rPr>
                <a:t>xế</a:t>
              </a:r>
              <a:r>
                <a:rPr lang="vi-VN" sz="1600" dirty="0" smtClean="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(tên, số điện thoại, địa chỉ</a:t>
              </a:r>
              <a:r>
                <a:rPr lang="vi-VN" sz="1600" dirty="0" smtClean="0">
                  <a:latin typeface="Times New Roman" panose="02020603050405020304" pitchFamily="18" charset="0"/>
                  <a:cs typeface="Times New Roman" panose="02020603050405020304" pitchFamily="18" charset="0"/>
                </a:rPr>
                <a:t>)</a:t>
              </a:r>
              <a:r>
                <a:rPr lang="en-US" sz="1600" dirty="0" smtClean="0">
                  <a:latin typeface="Times New Roman" panose="02020603050405020304" pitchFamily="18" charset="0"/>
                  <a:cs typeface="Times New Roman" panose="02020603050405020304" pitchFamily="18" charset="0"/>
                </a:rPr>
                <a:t>.</a:t>
              </a:r>
            </a:p>
            <a:p>
              <a:pPr marL="285750" lvl="0" indent="-28575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Cập </a:t>
              </a:r>
              <a:r>
                <a:rPr lang="en-US" sz="1600" dirty="0" err="1" smtClean="0">
                  <a:latin typeface="Times New Roman" panose="02020603050405020304" pitchFamily="18" charset="0"/>
                  <a:cs typeface="Times New Roman" panose="02020603050405020304" pitchFamily="18" charset="0"/>
                </a:rPr>
                <a:t>nhật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thông</a:t>
              </a:r>
              <a:r>
                <a:rPr lang="en-US" sz="1600" dirty="0" smtClean="0">
                  <a:latin typeface="Times New Roman" panose="02020603050405020304" pitchFamily="18" charset="0"/>
                  <a:cs typeface="Times New Roman" panose="02020603050405020304" pitchFamily="18" charset="0"/>
                </a:rPr>
                <a:t> tin tài khoản (SĐT, </a:t>
              </a:r>
              <a:r>
                <a:rPr lang="en-US" sz="1600" dirty="0" err="1" smtClean="0">
                  <a:latin typeface="Times New Roman" panose="02020603050405020304" pitchFamily="18" charset="0"/>
                  <a:cs typeface="Times New Roman" panose="02020603050405020304" pitchFamily="18" charset="0"/>
                </a:rPr>
                <a:t>mật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khẩu</a:t>
              </a:r>
              <a:r>
                <a:rPr lang="en-US" sz="1600" dirty="0" smtClean="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
          <p:nvSpPr>
            <p:cNvPr id="206" name="Google Shape;206;p19"/>
            <p:cNvSpPr/>
            <p:nvPr/>
          </p:nvSpPr>
          <p:spPr>
            <a:xfrm>
              <a:off x="-415921" y="1"/>
              <a:ext cx="7394155" cy="369725"/>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208" name="Google Shape;208;p19"/>
          <p:cNvSpPr txBox="1"/>
          <p:nvPr/>
        </p:nvSpPr>
        <p:spPr>
          <a:xfrm>
            <a:off x="820697" y="871270"/>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1.2 Input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và</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Output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đề</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tài</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sp>
        <p:nvSpPr>
          <p:cNvPr id="6" name="Google Shape;205;p19">
            <a:extLst>
              <a:ext uri="{FF2B5EF4-FFF2-40B4-BE49-F238E27FC236}">
                <a16:creationId xmlns:a16="http://schemas.microsoft.com/office/drawing/2014/main" id="{4F9839E9-6D7D-8686-2B05-B712472F3C59}"/>
              </a:ext>
            </a:extLst>
          </p:cNvPr>
          <p:cNvSpPr/>
          <p:nvPr/>
        </p:nvSpPr>
        <p:spPr>
          <a:xfrm>
            <a:off x="4922044" y="1314171"/>
            <a:ext cx="4221956" cy="3829329"/>
          </a:xfrm>
          <a:prstGeom prst="rect">
            <a:avLst/>
          </a:prstGeom>
          <a:solidFill>
            <a:schemeClr val="dk2"/>
          </a:solidFill>
          <a:ln>
            <a:noFill/>
          </a:ln>
        </p:spPr>
        <p:txBody>
          <a:bodyPr spcFirstLastPara="1" wrap="square" lIns="45725" tIns="91440" rIns="45725" bIns="45725" anchor="t" anchorCtr="0">
            <a:noAutofit/>
          </a:bodyPr>
          <a:lstStyle/>
          <a:p>
            <a:pPr lvl="0" algn="ctr" rtl="0">
              <a:lnSpc>
                <a:spcPct val="150000"/>
              </a:lnSpc>
              <a:spcBef>
                <a:spcPts val="0"/>
              </a:spcBef>
              <a:spcAft>
                <a:spcPts val="0"/>
              </a:spcAft>
            </a:pPr>
            <a:r>
              <a:rPr lang="en-US" sz="1600" dirty="0">
                <a:latin typeface="Times New Roman" panose="02020603050405020304" pitchFamily="18" charset="0"/>
                <a:cs typeface="Times New Roman" panose="02020603050405020304" pitchFamily="18" charset="0"/>
              </a:rPr>
              <a:t>Output</a:t>
            </a:r>
          </a:p>
          <a:p>
            <a:pPr marL="285750" lvl="0" indent="-28575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Đặt </a:t>
            </a:r>
            <a:r>
              <a:rPr lang="en-US" sz="1600" dirty="0" err="1" smtClean="0">
                <a:latin typeface="Times New Roman" panose="02020603050405020304" pitchFamily="18" charset="0"/>
                <a:cs typeface="Times New Roman" panose="02020603050405020304" pitchFamily="18" charset="0"/>
              </a:rPr>
              <a:t>xe</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và </a:t>
            </a:r>
            <a:r>
              <a:rPr lang="en-US" sz="1600" dirty="0" err="1" smtClean="0">
                <a:latin typeface="Times New Roman" panose="02020603050405020304" pitchFamily="18" charset="0"/>
                <a:cs typeface="Times New Roman" panose="02020603050405020304" pitchFamily="18" charset="0"/>
              </a:rPr>
              <a:t>hiển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thị</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thông</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tin </a:t>
            </a:r>
            <a:r>
              <a:rPr lang="en-US" sz="1600" dirty="0" err="1" smtClean="0">
                <a:latin typeface="Times New Roman" panose="02020603050405020304" pitchFamily="18" charset="0"/>
                <a:cs typeface="Times New Roman" panose="02020603050405020304" pitchFamily="18" charset="0"/>
              </a:rPr>
              <a:t>về</a:t>
            </a:r>
            <a:r>
              <a:rPr lang="en-US" sz="1600" dirty="0" smtClean="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chuyến</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thông</a:t>
            </a:r>
            <a:r>
              <a:rPr lang="en-US" sz="1600" dirty="0" smtClean="0">
                <a:latin typeface="Times New Roman" panose="02020603050405020304" pitchFamily="18" charset="0"/>
                <a:cs typeface="Times New Roman" panose="02020603050405020304" pitchFamily="18" charset="0"/>
              </a:rPr>
              <a:t> tin tài </a:t>
            </a:r>
            <a:r>
              <a:rPr lang="en-US" sz="1600" dirty="0" err="1" smtClean="0">
                <a:latin typeface="Times New Roman" panose="02020603050405020304" pitchFamily="18" charset="0"/>
                <a:cs typeface="Times New Roman" panose="02020603050405020304" pitchFamily="18" charset="0"/>
              </a:rPr>
              <a:t>xế</a:t>
            </a:r>
            <a:r>
              <a:rPr lang="en-US" sz="1600" dirty="0" smtClean="0">
                <a:latin typeface="Times New Roman" panose="02020603050405020304" pitchFamily="18" charset="0"/>
                <a:cs typeface="Times New Roman" panose="02020603050405020304" pitchFamily="18" charset="0"/>
              </a:rPr>
              <a:t> và </a:t>
            </a:r>
            <a:r>
              <a:rPr lang="en-US" sz="1600" dirty="0" err="1" smtClean="0">
                <a:latin typeface="Times New Roman" panose="02020603050405020304" pitchFamily="18" charset="0"/>
                <a:cs typeface="Times New Roman" panose="02020603050405020304" pitchFamily="18" charset="0"/>
              </a:rPr>
              <a:t>khách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hàng</a:t>
            </a:r>
            <a:endParaRPr lang="en-US" sz="1600" dirty="0" smtClean="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v"/>
            </a:pPr>
            <a:r>
              <a:rPr lang="en-US" sz="1600" dirty="0" err="1" smtClean="0">
                <a:latin typeface="Times New Roman" panose="02020603050405020304" pitchFamily="18" charset="0"/>
                <a:cs typeface="Times New Roman" panose="02020603050405020304" pitchFamily="18" charset="0"/>
              </a:rPr>
              <a:t>Thanh</a:t>
            </a:r>
            <a:r>
              <a:rPr lang="en-US" sz="1600" dirty="0" smtClean="0">
                <a:latin typeface="Times New Roman" panose="02020603050405020304" pitchFamily="18" charset="0"/>
                <a:cs typeface="Times New Roman" panose="02020603050405020304" pitchFamily="18" charset="0"/>
              </a:rPr>
              <a:t> </a:t>
            </a:r>
            <a:r>
              <a:rPr lang="vi-VN" sz="1600" dirty="0" smtClean="0">
                <a:latin typeface="Times New Roman" panose="02020603050405020304" pitchFamily="18" charset="0"/>
                <a:cs typeface="Times New Roman" panose="02020603050405020304" pitchFamily="18" charset="0"/>
              </a:rPr>
              <a:t>toán </a:t>
            </a:r>
            <a:r>
              <a:rPr lang="vi-VN" sz="1600" dirty="0">
                <a:latin typeface="Times New Roman" panose="02020603050405020304" pitchFamily="18" charset="0"/>
                <a:cs typeface="Times New Roman" panose="02020603050405020304" pitchFamily="18" charset="0"/>
              </a:rPr>
              <a:t>và cung cấp hóa đơn chi </a:t>
            </a:r>
            <a:r>
              <a:rPr lang="vi-VN" sz="1600" dirty="0" smtClean="0">
                <a:latin typeface="Times New Roman" panose="02020603050405020304" pitchFamily="18" charset="0"/>
                <a:cs typeface="Times New Roman" panose="02020603050405020304" pitchFamily="18" charset="0"/>
              </a:rPr>
              <a:t>tiế</a:t>
            </a:r>
            <a:r>
              <a:rPr lang="en-US" sz="1600" dirty="0" smtClean="0">
                <a:latin typeface="Times New Roman" panose="02020603050405020304" pitchFamily="18" charset="0"/>
                <a:cs typeface="Times New Roman" panose="02020603050405020304" pitchFamily="18" charset="0"/>
              </a:rPr>
              <a:t>t, </a:t>
            </a:r>
            <a:r>
              <a:rPr lang="en-US" sz="1600" dirty="0" err="1" smtClean="0">
                <a:latin typeface="Times New Roman" panose="02020603050405020304" pitchFamily="18" charset="0"/>
                <a:cs typeface="Times New Roman" panose="02020603050405020304" pitchFamily="18" charset="0"/>
              </a:rPr>
              <a:t>trạng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thái</a:t>
            </a:r>
            <a:r>
              <a:rPr lang="en-US" sz="1600" dirty="0" smtClean="0">
                <a:latin typeface="Times New Roman" panose="02020603050405020304" pitchFamily="18" charset="0"/>
                <a:cs typeface="Times New Roman" panose="02020603050405020304" pitchFamily="18" charset="0"/>
              </a:rPr>
              <a:t> hóa </a:t>
            </a:r>
            <a:r>
              <a:rPr lang="en-US" sz="1600" dirty="0" err="1" smtClean="0">
                <a:latin typeface="Times New Roman" panose="02020603050405020304" pitchFamily="18" charset="0"/>
                <a:cs typeface="Times New Roman" panose="02020603050405020304" pitchFamily="18" charset="0"/>
              </a:rPr>
              <a:t>đơn</a:t>
            </a:r>
            <a:r>
              <a:rPr lang="en-US" sz="1600" dirty="0" smtClean="0">
                <a:latin typeface="Times New Roman" panose="02020603050405020304" pitchFamily="18" charset="0"/>
                <a:cs typeface="Times New Roman" panose="02020603050405020304" pitchFamily="18" charset="0"/>
              </a:rPr>
              <a:t>.</a:t>
            </a:r>
          </a:p>
          <a:p>
            <a:pPr marL="285750" lvl="0" indent="-285750">
              <a:lnSpc>
                <a:spcPct val="150000"/>
              </a:lnSpc>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Cập </a:t>
            </a:r>
            <a:r>
              <a:rPr lang="en-US" sz="1600" dirty="0" err="1">
                <a:latin typeface="Times New Roman" panose="02020603050405020304" pitchFamily="18" charset="0"/>
                <a:cs typeface="Times New Roman" panose="02020603050405020304" pitchFamily="18" charset="0"/>
              </a:rPr>
              <a:t>nhật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thái</a:t>
            </a:r>
            <a:r>
              <a:rPr lang="en-US" sz="1600" dirty="0">
                <a:latin typeface="Times New Roman" panose="02020603050405020304" pitchFamily="18" charset="0"/>
                <a:cs typeface="Times New Roman" panose="02020603050405020304" pitchFamily="18" charset="0"/>
              </a:rPr>
              <a:t> của </a:t>
            </a:r>
            <a:r>
              <a:rPr lang="en-US" sz="1600" dirty="0" err="1">
                <a:latin typeface="Times New Roman" panose="02020603050405020304" pitchFamily="18" charset="0"/>
                <a:cs typeface="Times New Roman" panose="02020603050405020304" pitchFamily="18" charset="0"/>
              </a:rPr>
              <a:t>chuyến</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hiển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thị</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theo</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dõi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theo</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thời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gian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thực</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v"/>
            </a:pPr>
            <a:r>
              <a:rPr lang="vi-VN" sz="1600" dirty="0">
                <a:latin typeface="Times New Roman" panose="02020603050405020304" pitchFamily="18" charset="0"/>
                <a:cs typeface="Times New Roman" panose="02020603050405020304" pitchFamily="18" charset="0"/>
              </a:rPr>
              <a:t>Dữ liệu truyền đi và nhận được giữa </a:t>
            </a:r>
            <a:r>
              <a:rPr lang="en-US" sz="1600" dirty="0" err="1" smtClean="0">
                <a:latin typeface="Times New Roman" panose="02020603050405020304" pitchFamily="18" charset="0"/>
                <a:cs typeface="Times New Roman" panose="02020603050405020304" pitchFamily="18" charset="0"/>
              </a:rPr>
              <a:t>khách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hàng</a:t>
            </a:r>
            <a:r>
              <a:rPr lang="vi-VN" sz="1600" dirty="0" smtClean="0">
                <a:latin typeface="Times New Roman" panose="02020603050405020304" pitchFamily="18" charset="0"/>
                <a:cs typeface="Times New Roman" panose="02020603050405020304" pitchFamily="18" charset="0"/>
              </a:rPr>
              <a:t>, tài </a:t>
            </a:r>
            <a:r>
              <a:rPr lang="vi-VN" sz="1600" dirty="0">
                <a:latin typeface="Times New Roman" panose="02020603050405020304" pitchFamily="18" charset="0"/>
                <a:cs typeface="Times New Roman" panose="02020603050405020304" pitchFamily="18" charset="0"/>
              </a:rPr>
              <a:t>xế, và hệ thống quản </a:t>
            </a:r>
            <a:r>
              <a:rPr lang="vi-VN" sz="1600" dirty="0" smtClean="0">
                <a:latin typeface="Times New Roman" panose="02020603050405020304" pitchFamily="18" charset="0"/>
                <a:cs typeface="Times New Roman" panose="02020603050405020304" pitchFamily="18" charset="0"/>
              </a:rPr>
              <a:t>lý</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theo</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thời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gian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thực</a:t>
            </a:r>
            <a:r>
              <a:rPr lang="en-US" sz="1600" dirty="0" smtClean="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6940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1610400"/>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nvGrpSpPr>
          <p:cNvPr id="179" name="Google Shape;179;p18"/>
          <p:cNvGrpSpPr/>
          <p:nvPr/>
        </p:nvGrpSpPr>
        <p:grpSpPr>
          <a:xfrm>
            <a:off x="514350" y="2218321"/>
            <a:ext cx="570825" cy="492975"/>
            <a:chOff x="0" y="0"/>
            <a:chExt cx="1522200" cy="1314600"/>
          </a:xfrm>
        </p:grpSpPr>
        <p:sp>
          <p:nvSpPr>
            <p:cNvPr id="180" name="Google Shape;180;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1" name="Google Shape;181;p18"/>
            <p:cNvSpPr txBox="1"/>
            <p:nvPr/>
          </p:nvSpPr>
          <p:spPr>
            <a:xfrm>
              <a:off x="289644" y="318571"/>
              <a:ext cx="942900" cy="697800"/>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a:solidFill>
                    <a:schemeClr val="dk1"/>
                  </a:solidFill>
                  <a:latin typeface="Merriweather Sans"/>
                  <a:ea typeface="Merriweather Sans"/>
                  <a:cs typeface="Merriweather Sans"/>
                  <a:sym typeface="Merriweather Sans"/>
                </a:rPr>
                <a:t>1</a:t>
              </a:r>
              <a:endParaRPr sz="1700">
                <a:solidFill>
                  <a:schemeClr val="dk1"/>
                </a:solidFill>
                <a:latin typeface="Merriweather Sans"/>
                <a:ea typeface="Merriweather Sans"/>
                <a:cs typeface="Merriweather Sans"/>
                <a:sym typeface="Merriweather Sans"/>
              </a:endParaRPr>
            </a:p>
          </p:txBody>
        </p:sp>
      </p:grpSp>
      <p:grpSp>
        <p:nvGrpSpPr>
          <p:cNvPr id="182" name="Google Shape;182;p18"/>
          <p:cNvGrpSpPr/>
          <p:nvPr/>
        </p:nvGrpSpPr>
        <p:grpSpPr>
          <a:xfrm>
            <a:off x="493702" y="3865487"/>
            <a:ext cx="570825" cy="492975"/>
            <a:chOff x="0" y="0"/>
            <a:chExt cx="1522200" cy="1314600"/>
          </a:xfrm>
        </p:grpSpPr>
        <p:sp>
          <p:nvSpPr>
            <p:cNvPr id="183" name="Google Shape;183;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4" name="Google Shape;184;p18"/>
            <p:cNvSpPr txBox="1"/>
            <p:nvPr/>
          </p:nvSpPr>
          <p:spPr>
            <a:xfrm>
              <a:off x="289645" y="318571"/>
              <a:ext cx="942901" cy="802272"/>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dirty="0">
                  <a:solidFill>
                    <a:schemeClr val="dk1"/>
                  </a:solidFill>
                  <a:latin typeface="Merriweather Sans"/>
                  <a:ea typeface="Merriweather Sans"/>
                  <a:cs typeface="Merriweather Sans"/>
                  <a:sym typeface="Merriweather Sans"/>
                </a:rPr>
                <a:t>3</a:t>
              </a:r>
              <a:endParaRPr sz="700" dirty="0">
                <a:solidFill>
                  <a:schemeClr val="dk1"/>
                </a:solidFill>
                <a:latin typeface="Merriweather Sans"/>
                <a:ea typeface="Merriweather Sans"/>
                <a:cs typeface="Merriweather Sans"/>
                <a:sym typeface="Merriweather Sans"/>
              </a:endParaRPr>
            </a:p>
          </p:txBody>
        </p:sp>
      </p:grpSp>
      <p:sp>
        <p:nvSpPr>
          <p:cNvPr id="189" name="Google Shape;189;p18"/>
          <p:cNvSpPr txBox="1"/>
          <p:nvPr/>
        </p:nvSpPr>
        <p:spPr>
          <a:xfrm>
            <a:off x="1598130" y="2391624"/>
            <a:ext cx="5734020"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Công nghệ sử dụng</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2" name="Google Shape;192;p18"/>
          <p:cNvSpPr txBox="1"/>
          <p:nvPr/>
        </p:nvSpPr>
        <p:spPr>
          <a:xfrm>
            <a:off x="1635099" y="4039913"/>
            <a:ext cx="3958875"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Mô hình hệ thống</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7" name="Google Shape;197;p18"/>
          <p:cNvSpPr txBox="1"/>
          <p:nvPr/>
        </p:nvSpPr>
        <p:spPr>
          <a:xfrm>
            <a:off x="514350" y="509588"/>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2. CƠ SỞ LÝ THUYẾT</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grpSp>
        <p:nvGrpSpPr>
          <p:cNvPr id="2" name="Google Shape;182;p18">
            <a:extLst>
              <a:ext uri="{FF2B5EF4-FFF2-40B4-BE49-F238E27FC236}">
                <a16:creationId xmlns:a16="http://schemas.microsoft.com/office/drawing/2014/main" id="{E43F84FA-1517-3B65-4FB3-05EDC3C57067}"/>
              </a:ext>
            </a:extLst>
          </p:cNvPr>
          <p:cNvGrpSpPr/>
          <p:nvPr/>
        </p:nvGrpSpPr>
        <p:grpSpPr>
          <a:xfrm>
            <a:off x="493704" y="3011079"/>
            <a:ext cx="570825" cy="492975"/>
            <a:chOff x="0" y="0"/>
            <a:chExt cx="1522200" cy="1314600"/>
          </a:xfrm>
        </p:grpSpPr>
        <p:sp>
          <p:nvSpPr>
            <p:cNvPr id="3" name="Google Shape;183;p18">
              <a:extLst>
                <a:ext uri="{FF2B5EF4-FFF2-40B4-BE49-F238E27FC236}">
                  <a16:creationId xmlns:a16="http://schemas.microsoft.com/office/drawing/2014/main" id="{1C6982E8-6892-34AF-3F9E-A8F3A03D954C}"/>
                </a:ext>
              </a:extLst>
            </p:cNvPr>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4" name="Google Shape;184;p18">
              <a:extLst>
                <a:ext uri="{FF2B5EF4-FFF2-40B4-BE49-F238E27FC236}">
                  <a16:creationId xmlns:a16="http://schemas.microsoft.com/office/drawing/2014/main" id="{61B86CA4-A8B5-BC8B-5D29-99B60884EA4D}"/>
                </a:ext>
              </a:extLst>
            </p:cNvPr>
            <p:cNvSpPr txBox="1"/>
            <p:nvPr/>
          </p:nvSpPr>
          <p:spPr>
            <a:xfrm>
              <a:off x="289645" y="318571"/>
              <a:ext cx="942901" cy="802272"/>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dirty="0">
                  <a:solidFill>
                    <a:schemeClr val="dk1"/>
                  </a:solidFill>
                  <a:latin typeface="Merriweather Sans"/>
                  <a:ea typeface="Merriweather Sans"/>
                  <a:cs typeface="Merriweather Sans"/>
                  <a:sym typeface="Merriweather Sans"/>
                </a:rPr>
                <a:t>2</a:t>
              </a:r>
              <a:endParaRPr sz="700" dirty="0">
                <a:solidFill>
                  <a:schemeClr val="dk1"/>
                </a:solidFill>
                <a:latin typeface="Merriweather Sans"/>
                <a:ea typeface="Merriweather Sans"/>
                <a:cs typeface="Merriweather Sans"/>
                <a:sym typeface="Merriweather Sans"/>
              </a:endParaRPr>
            </a:p>
          </p:txBody>
        </p:sp>
      </p:grpSp>
      <p:sp>
        <p:nvSpPr>
          <p:cNvPr id="5" name="Google Shape;192;p18">
            <a:extLst>
              <a:ext uri="{FF2B5EF4-FFF2-40B4-BE49-F238E27FC236}">
                <a16:creationId xmlns:a16="http://schemas.microsoft.com/office/drawing/2014/main" id="{C5B55F06-0F8D-8596-4E20-0292030F2257}"/>
              </a:ext>
            </a:extLst>
          </p:cNvPr>
          <p:cNvSpPr txBox="1"/>
          <p:nvPr/>
        </p:nvSpPr>
        <p:spPr>
          <a:xfrm>
            <a:off x="1635099" y="3185505"/>
            <a:ext cx="6450841"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Một</a:t>
            </a:r>
            <a:r>
              <a:rPr lang="en-US"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số</a:t>
            </a:r>
            <a:r>
              <a:rPr lang="en-US"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hệ </a:t>
            </a: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thống</a:t>
            </a:r>
            <a:r>
              <a:rPr lang="en-US"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ứng</a:t>
            </a:r>
            <a:r>
              <a:rPr lang="en-US"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dụng </a:t>
            </a: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thực</a:t>
            </a:r>
            <a:r>
              <a:rPr lang="en-US"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b="1"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tế</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Tree>
    <p:extLst>
      <p:ext uri="{BB962C8B-B14F-4D97-AF65-F5344CB8AC3E}">
        <p14:creationId xmlns:p14="http://schemas.microsoft.com/office/powerpoint/2010/main" val="39166814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49" y="0"/>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2. CƠ SỞ LÝ THUYẾT</a:t>
            </a:r>
          </a:p>
        </p:txBody>
      </p:sp>
      <p:sp>
        <p:nvSpPr>
          <p:cNvPr id="206" name="Google Shape;206;p19"/>
          <p:cNvSpPr/>
          <p:nvPr/>
        </p:nvSpPr>
        <p:spPr>
          <a:xfrm>
            <a:off x="0" y="678021"/>
            <a:ext cx="9144000" cy="813229"/>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208" name="Google Shape;208;p19"/>
          <p:cNvSpPr txBox="1"/>
          <p:nvPr/>
        </p:nvSpPr>
        <p:spPr>
          <a:xfrm>
            <a:off x="619617" y="812609"/>
            <a:ext cx="7704738" cy="637097"/>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2.1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Công</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nghệ</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sử</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dụng</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pic>
        <p:nvPicPr>
          <p:cNvPr id="1026" name="Picture 2" descr="GitHub - oguzhanKomcu/Game_MVC: I made a Mvc project with asp.net .net  framewo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98879"/>
            <a:ext cx="3303181" cy="1896451"/>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p:nvPr/>
        </p:nvPicPr>
        <p:blipFill>
          <a:blip r:embed="rId4">
            <a:extLst>
              <a:ext uri="{28A0092B-C50C-407E-A947-70E740481C1C}">
                <a14:useLocalDpi xmlns:a14="http://schemas.microsoft.com/office/drawing/2010/main" val="0"/>
              </a:ext>
            </a:extLst>
          </a:blip>
          <a:stretch>
            <a:fillRect/>
          </a:stretch>
        </p:blipFill>
        <p:spPr>
          <a:xfrm>
            <a:off x="3303181" y="1491250"/>
            <a:ext cx="3090530" cy="1904080"/>
          </a:xfrm>
          <a:prstGeom prst="rect">
            <a:avLst/>
          </a:prstGeom>
        </p:spPr>
      </p:pic>
      <p:pic>
        <p:nvPicPr>
          <p:cNvPr id="1028" name="Picture 4" descr="Free download Braintree logo | Vector logo, Braintree, ? log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93711" y="1491251"/>
            <a:ext cx="2750289" cy="191170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ow to get your Google Maps API key - with Javascript API &amp; Geocoding API -  Po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402959"/>
            <a:ext cx="3303181" cy="174054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pexcharts.js – JavaScript Chart Library | jQuery Plugin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03181" y="3395330"/>
            <a:ext cx="3090530" cy="174054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 Hướng dẫn demo ứng dụng chat sử dụng công nghệ SignaI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3711" y="3395330"/>
            <a:ext cx="2750289" cy="1748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1452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49" y="0"/>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2. CƠ SỞ LÝ THUYẾT</a:t>
            </a:r>
          </a:p>
        </p:txBody>
      </p:sp>
      <p:sp>
        <p:nvSpPr>
          <p:cNvPr id="206" name="Google Shape;206;p19"/>
          <p:cNvSpPr/>
          <p:nvPr/>
        </p:nvSpPr>
        <p:spPr>
          <a:xfrm>
            <a:off x="0" y="678021"/>
            <a:ext cx="9144000" cy="813229"/>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208" name="Google Shape;208;p19"/>
          <p:cNvSpPr txBox="1"/>
          <p:nvPr/>
        </p:nvSpPr>
        <p:spPr>
          <a:xfrm>
            <a:off x="619617" y="812609"/>
            <a:ext cx="7704738" cy="318549"/>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2.2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Một</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số</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ứng</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dụng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thực</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tế</a:t>
            </a: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pic>
        <p:nvPicPr>
          <p:cNvPr id="3084" name="Picture 12" descr="GOJEK VIETNAM Tuyển Dụng, Việc Làm Mới Nhất | CareerBuilder.v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7566" y="1649032"/>
            <a:ext cx="2513634" cy="109594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Grab. Siêu Ứng Dụng Đa Dịch Vụ Hàng Đầ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71" y="3042236"/>
            <a:ext cx="2495107" cy="1146992"/>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Tập tin:Uber logo 2018.svg – Wikipedia tiếng Việ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6101" y="3097619"/>
            <a:ext cx="2140689" cy="106608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2" descr="Top 10 Car Rental Booking Software to Use | BookingPr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102" name="Picture 30" descr="Vehicle booking - Optimize your fleet | Navirec - Logistic solu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0803" y="3008126"/>
            <a:ext cx="28575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9604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2"/>
        <p:cNvGrpSpPr/>
        <p:nvPr/>
      </p:nvGrpSpPr>
      <p:grpSpPr>
        <a:xfrm>
          <a:off x="0" y="0"/>
          <a:ext cx="0" cy="0"/>
          <a:chOff x="0" y="0"/>
          <a:chExt cx="0" cy="0"/>
        </a:xfrm>
      </p:grpSpPr>
      <p:sp>
        <p:nvSpPr>
          <p:cNvPr id="203" name="Google Shape;203;p19"/>
          <p:cNvSpPr txBox="1"/>
          <p:nvPr/>
        </p:nvSpPr>
        <p:spPr>
          <a:xfrm>
            <a:off x="514350" y="79937"/>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2. CƠ SỞ LÝ THUYẾT</a:t>
            </a:r>
          </a:p>
        </p:txBody>
      </p:sp>
      <p:sp>
        <p:nvSpPr>
          <p:cNvPr id="206" name="Google Shape;206;p19"/>
          <p:cNvSpPr/>
          <p:nvPr/>
        </p:nvSpPr>
        <p:spPr>
          <a:xfrm>
            <a:off x="0" y="721648"/>
            <a:ext cx="9144000" cy="673861"/>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208" name="Google Shape;208;p19"/>
          <p:cNvSpPr txBox="1"/>
          <p:nvPr/>
        </p:nvSpPr>
        <p:spPr>
          <a:xfrm>
            <a:off x="820697" y="870801"/>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2.3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Mô</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hình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hệ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thống</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sp>
        <p:nvSpPr>
          <p:cNvPr id="6" name="Google Shape;205;p19">
            <a:extLst>
              <a:ext uri="{FF2B5EF4-FFF2-40B4-BE49-F238E27FC236}">
                <a16:creationId xmlns:a16="http://schemas.microsoft.com/office/drawing/2014/main" id="{8D171BD3-F4EF-00BC-1519-5A3D61DF62B9}"/>
              </a:ext>
            </a:extLst>
          </p:cNvPr>
          <p:cNvSpPr/>
          <p:nvPr/>
        </p:nvSpPr>
        <p:spPr>
          <a:xfrm>
            <a:off x="0" y="1409356"/>
            <a:ext cx="3586163" cy="3734144"/>
          </a:xfrm>
          <a:prstGeom prst="rect">
            <a:avLst/>
          </a:prstGeom>
          <a:solidFill>
            <a:schemeClr val="dk2"/>
          </a:solidFill>
          <a:ln>
            <a:noFill/>
          </a:ln>
        </p:spPr>
        <p:txBody>
          <a:bodyPr spcFirstLastPara="1" wrap="square" lIns="45725" tIns="91440" rIns="45725" bIns="45725" anchor="t" anchorCtr="0">
            <a:noAutofit/>
          </a:bodyPr>
          <a:lstStyle/>
          <a:p>
            <a:pPr marL="342900" lvl="0" indent="-34290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Model: </a:t>
            </a:r>
            <a:r>
              <a:rPr lang="vi-VN" sz="1600" dirty="0">
                <a:latin typeface="Times New Roman" panose="02020603050405020304" pitchFamily="18" charset="0"/>
                <a:cs typeface="Times New Roman" panose="02020603050405020304" pitchFamily="18" charset="0"/>
              </a:rPr>
              <a:t>Chứa các đối tượng đại diện cho dữ liệu ứng dụng và logic xử lý dữ </a:t>
            </a:r>
            <a:r>
              <a:rPr lang="vi-VN" sz="1600" dirty="0" smtClean="0">
                <a:latin typeface="Times New Roman" panose="02020603050405020304" pitchFamily="18" charset="0"/>
                <a:cs typeface="Times New Roman" panose="02020603050405020304" pitchFamily="18" charset="0"/>
              </a:rPr>
              <a:t>liệu</a:t>
            </a:r>
            <a:endParaRPr lang="en-US" sz="1600" dirty="0" smtClean="0">
              <a:latin typeface="Times New Roman" panose="02020603050405020304" pitchFamily="18" charset="0"/>
              <a:cs typeface="Times New Roman" panose="02020603050405020304" pitchFamily="18" charset="0"/>
            </a:endParaRPr>
          </a:p>
          <a:p>
            <a:pPr marL="342900" lvl="0" indent="-34290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View: </a:t>
            </a:r>
            <a:r>
              <a:rPr lang="vi-VN" sz="1600" dirty="0">
                <a:latin typeface="Times New Roman" panose="02020603050405020304" pitchFamily="18" charset="0"/>
                <a:cs typeface="Times New Roman" panose="02020603050405020304" pitchFamily="18" charset="0"/>
              </a:rPr>
              <a:t>Đại diện cho giao diện người dùng và hiển thị thông tin từ </a:t>
            </a:r>
            <a:r>
              <a:rPr lang="en-US" sz="1600" dirty="0" smtClean="0">
                <a:latin typeface="Times New Roman" panose="02020603050405020304" pitchFamily="18" charset="0"/>
                <a:cs typeface="Times New Roman" panose="02020603050405020304" pitchFamily="18" charset="0"/>
              </a:rPr>
              <a:t>model.</a:t>
            </a:r>
          </a:p>
          <a:p>
            <a:pPr marL="342900" lvl="0" indent="-342900">
              <a:lnSpc>
                <a:spcPct val="15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Controller</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Gọi các phương thức trong </a:t>
            </a:r>
            <a:r>
              <a:rPr lang="en-US" sz="1600" dirty="0" smtClean="0">
                <a:latin typeface="Times New Roman" panose="02020603050405020304" pitchFamily="18" charset="0"/>
                <a:cs typeface="Times New Roman" panose="02020603050405020304" pitchFamily="18" charset="0"/>
              </a:rPr>
              <a:t>model </a:t>
            </a:r>
            <a:r>
              <a:rPr lang="vi-VN" sz="1600" dirty="0" smtClean="0">
                <a:latin typeface="Times New Roman" panose="02020603050405020304" pitchFamily="18" charset="0"/>
                <a:cs typeface="Times New Roman" panose="02020603050405020304" pitchFamily="18" charset="0"/>
              </a:rPr>
              <a:t>để </a:t>
            </a:r>
            <a:r>
              <a:rPr lang="vi-VN" sz="1600" dirty="0">
                <a:latin typeface="Times New Roman" panose="02020603050405020304" pitchFamily="18" charset="0"/>
                <a:cs typeface="Times New Roman" panose="02020603050405020304" pitchFamily="18" charset="0"/>
              </a:rPr>
              <a:t>xử lý logic nghiệp và sau đó chuyển dữ liệu cho </a:t>
            </a:r>
            <a:r>
              <a:rPr lang="en-US" sz="1600" dirty="0" smtClean="0">
                <a:latin typeface="Times New Roman" panose="02020603050405020304" pitchFamily="18" charset="0"/>
                <a:cs typeface="Times New Roman" panose="02020603050405020304" pitchFamily="18" charset="0"/>
              </a:rPr>
              <a:t>view </a:t>
            </a:r>
            <a:r>
              <a:rPr lang="vi-VN" sz="1600" dirty="0" smtClean="0">
                <a:latin typeface="Times New Roman" panose="02020603050405020304" pitchFamily="18" charset="0"/>
                <a:cs typeface="Times New Roman" panose="02020603050405020304" pitchFamily="18" charset="0"/>
              </a:rPr>
              <a:t>hiển </a:t>
            </a:r>
            <a:r>
              <a:rPr lang="vi-VN" sz="1600" dirty="0">
                <a:latin typeface="Times New Roman" panose="02020603050405020304" pitchFamily="18" charset="0"/>
                <a:cs typeface="Times New Roman" panose="02020603050405020304" pitchFamily="18" charset="0"/>
              </a:rPr>
              <a:t>thị</a:t>
            </a:r>
            <a:endParaRPr sz="1600" dirty="0">
              <a:latin typeface="Times New Roman" panose="02020603050405020304" pitchFamily="18" charset="0"/>
              <a:cs typeface="Times New Roman" panose="02020603050405020304" pitchFamily="18" charset="0"/>
            </a:endParaRPr>
          </a:p>
        </p:txBody>
      </p:sp>
      <p:pic>
        <p:nvPicPr>
          <p:cNvPr id="2" name="Picture 2" descr="02. ASP.NET Core MVC - Erdinç Uzu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162" y="1395508"/>
            <a:ext cx="5557837" cy="37479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1610400"/>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nvGrpSpPr>
          <p:cNvPr id="179" name="Google Shape;179;p18"/>
          <p:cNvGrpSpPr/>
          <p:nvPr/>
        </p:nvGrpSpPr>
        <p:grpSpPr>
          <a:xfrm>
            <a:off x="527666" y="2078822"/>
            <a:ext cx="570825" cy="492975"/>
            <a:chOff x="0" y="0"/>
            <a:chExt cx="1522200" cy="1314600"/>
          </a:xfrm>
        </p:grpSpPr>
        <p:sp>
          <p:nvSpPr>
            <p:cNvPr id="180" name="Google Shape;180;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1" name="Google Shape;181;p18"/>
            <p:cNvSpPr txBox="1"/>
            <p:nvPr/>
          </p:nvSpPr>
          <p:spPr>
            <a:xfrm>
              <a:off x="289644" y="318571"/>
              <a:ext cx="942900" cy="697800"/>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a:solidFill>
                    <a:schemeClr val="dk1"/>
                  </a:solidFill>
                  <a:latin typeface="Merriweather Sans"/>
                  <a:ea typeface="Merriweather Sans"/>
                  <a:cs typeface="Merriweather Sans"/>
                  <a:sym typeface="Merriweather Sans"/>
                </a:rPr>
                <a:t>1</a:t>
              </a:r>
              <a:endParaRPr sz="1700">
                <a:solidFill>
                  <a:schemeClr val="dk1"/>
                </a:solidFill>
                <a:latin typeface="Merriweather Sans"/>
                <a:ea typeface="Merriweather Sans"/>
                <a:cs typeface="Merriweather Sans"/>
                <a:sym typeface="Merriweather Sans"/>
              </a:endParaRPr>
            </a:p>
          </p:txBody>
        </p:sp>
      </p:grpSp>
      <p:grpSp>
        <p:nvGrpSpPr>
          <p:cNvPr id="182" name="Google Shape;182;p18"/>
          <p:cNvGrpSpPr/>
          <p:nvPr/>
        </p:nvGrpSpPr>
        <p:grpSpPr>
          <a:xfrm>
            <a:off x="514350" y="2963780"/>
            <a:ext cx="570825" cy="492975"/>
            <a:chOff x="0" y="0"/>
            <a:chExt cx="1522200" cy="1314600"/>
          </a:xfrm>
        </p:grpSpPr>
        <p:sp>
          <p:nvSpPr>
            <p:cNvPr id="183" name="Google Shape;183;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4" name="Google Shape;184;p18"/>
            <p:cNvSpPr txBox="1"/>
            <p:nvPr/>
          </p:nvSpPr>
          <p:spPr>
            <a:xfrm>
              <a:off x="289644" y="318571"/>
              <a:ext cx="942900" cy="697800"/>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a:solidFill>
                    <a:schemeClr val="dk1"/>
                  </a:solidFill>
                  <a:latin typeface="Merriweather Sans"/>
                  <a:ea typeface="Merriweather Sans"/>
                  <a:cs typeface="Merriweather Sans"/>
                  <a:sym typeface="Merriweather Sans"/>
                </a:rPr>
                <a:t>2</a:t>
              </a:r>
              <a:endParaRPr sz="700">
                <a:solidFill>
                  <a:schemeClr val="dk1"/>
                </a:solidFill>
                <a:latin typeface="Merriweather Sans"/>
                <a:ea typeface="Merriweather Sans"/>
                <a:cs typeface="Merriweather Sans"/>
                <a:sym typeface="Merriweather Sans"/>
              </a:endParaRPr>
            </a:p>
          </p:txBody>
        </p:sp>
      </p:grpSp>
      <p:sp>
        <p:nvSpPr>
          <p:cNvPr id="189" name="Google Shape;189;p18"/>
          <p:cNvSpPr txBox="1"/>
          <p:nvPr/>
        </p:nvSpPr>
        <p:spPr>
          <a:xfrm>
            <a:off x="1598130" y="2159109"/>
            <a:ext cx="5734020"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800" b="1" dirty="0">
                <a:solidFill>
                  <a:schemeClr val="dk1"/>
                </a:solidFill>
                <a:latin typeface="Times New Roman" panose="02020603050405020304" pitchFamily="18" charset="0"/>
                <a:ea typeface="Merriweather Sans"/>
                <a:cs typeface="Times New Roman" panose="02020603050405020304" pitchFamily="18" charset="0"/>
                <a:sym typeface="Merriweather Sans"/>
              </a:rPr>
              <a:t>Kiến trúc đề xuất </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2" name="Google Shape;192;p18"/>
          <p:cNvSpPr txBox="1"/>
          <p:nvPr/>
        </p:nvSpPr>
        <p:spPr>
          <a:xfrm>
            <a:off x="1635099" y="3044346"/>
            <a:ext cx="3958875"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800" b="1" dirty="0">
                <a:solidFill>
                  <a:schemeClr val="dk1"/>
                </a:solidFill>
                <a:latin typeface="Times New Roman" panose="02020603050405020304" pitchFamily="18" charset="0"/>
                <a:ea typeface="Merriweather Sans"/>
                <a:cs typeface="Times New Roman" panose="02020603050405020304" pitchFamily="18" charset="0"/>
                <a:sym typeface="Merriweather Sans"/>
              </a:rPr>
              <a:t>Quy trình nghiệp vụ</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7" name="Google Shape;197;p18"/>
          <p:cNvSpPr txBox="1"/>
          <p:nvPr/>
        </p:nvSpPr>
        <p:spPr>
          <a:xfrm>
            <a:off x="514350" y="509588"/>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3. </a:t>
            </a:r>
            <a:r>
              <a:rPr lang="en-US" sz="3800" b="1" dirty="0">
                <a:solidFill>
                  <a:schemeClr val="dk2"/>
                </a:solidFill>
                <a:latin typeface="Times New Roman" panose="02020603050405020304" pitchFamily="18" charset="0"/>
                <a:ea typeface="Merriweather"/>
                <a:cs typeface="Times New Roman" panose="02020603050405020304" pitchFamily="18" charset="0"/>
                <a:sym typeface="Merriweather"/>
              </a:rPr>
              <a:t>HỆ THỐNG ĐỀ XUẤT</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grpSp>
        <p:nvGrpSpPr>
          <p:cNvPr id="2" name="Google Shape;182;p18">
            <a:extLst>
              <a:ext uri="{FF2B5EF4-FFF2-40B4-BE49-F238E27FC236}">
                <a16:creationId xmlns:a16="http://schemas.microsoft.com/office/drawing/2014/main" id="{D9A8CE1A-5F2C-392E-4694-2EBA61D941D2}"/>
              </a:ext>
            </a:extLst>
          </p:cNvPr>
          <p:cNvGrpSpPr/>
          <p:nvPr/>
        </p:nvGrpSpPr>
        <p:grpSpPr>
          <a:xfrm>
            <a:off x="527666" y="3844611"/>
            <a:ext cx="570825" cy="492975"/>
            <a:chOff x="0" y="0"/>
            <a:chExt cx="1522200" cy="1314600"/>
          </a:xfrm>
        </p:grpSpPr>
        <p:sp>
          <p:nvSpPr>
            <p:cNvPr id="3" name="Google Shape;183;p18">
              <a:extLst>
                <a:ext uri="{FF2B5EF4-FFF2-40B4-BE49-F238E27FC236}">
                  <a16:creationId xmlns:a16="http://schemas.microsoft.com/office/drawing/2014/main" id="{1065CDF4-BCC7-0EE3-B9D8-3505DD8F8C64}"/>
                </a:ext>
              </a:extLst>
            </p:cNvPr>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4" name="Google Shape;184;p18">
              <a:extLst>
                <a:ext uri="{FF2B5EF4-FFF2-40B4-BE49-F238E27FC236}">
                  <a16:creationId xmlns:a16="http://schemas.microsoft.com/office/drawing/2014/main" id="{25D47DB4-8CF5-11B5-84E7-F1E322B87947}"/>
                </a:ext>
              </a:extLst>
            </p:cNvPr>
            <p:cNvSpPr txBox="1"/>
            <p:nvPr/>
          </p:nvSpPr>
          <p:spPr>
            <a:xfrm>
              <a:off x="289645" y="318571"/>
              <a:ext cx="942901" cy="802272"/>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dirty="0">
                  <a:solidFill>
                    <a:schemeClr val="dk1"/>
                  </a:solidFill>
                  <a:latin typeface="Merriweather Sans"/>
                  <a:ea typeface="Merriweather Sans"/>
                  <a:cs typeface="Merriweather Sans"/>
                  <a:sym typeface="Merriweather Sans"/>
                </a:rPr>
                <a:t>3</a:t>
              </a:r>
              <a:endParaRPr sz="700" dirty="0">
                <a:solidFill>
                  <a:schemeClr val="dk1"/>
                </a:solidFill>
                <a:latin typeface="Merriweather Sans"/>
                <a:ea typeface="Merriweather Sans"/>
                <a:cs typeface="Merriweather Sans"/>
                <a:sym typeface="Merriweather Sans"/>
              </a:endParaRPr>
            </a:p>
          </p:txBody>
        </p:sp>
      </p:grpSp>
      <p:sp>
        <p:nvSpPr>
          <p:cNvPr id="5" name="Google Shape;192;p18">
            <a:extLst>
              <a:ext uri="{FF2B5EF4-FFF2-40B4-BE49-F238E27FC236}">
                <a16:creationId xmlns:a16="http://schemas.microsoft.com/office/drawing/2014/main" id="{F17ADE7E-E471-C7A1-ECA2-F39EF0B89C74}"/>
              </a:ext>
            </a:extLst>
          </p:cNvPr>
          <p:cNvSpPr txBox="1"/>
          <p:nvPr/>
        </p:nvSpPr>
        <p:spPr>
          <a:xfrm>
            <a:off x="1648415" y="3925177"/>
            <a:ext cx="3958875" cy="318549"/>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800" b="1"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Thuật toán xử lý</a:t>
            </a:r>
            <a:endParaRPr sz="1800" b="1"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Tree>
    <p:extLst>
      <p:ext uri="{BB962C8B-B14F-4D97-AF65-F5344CB8AC3E}">
        <p14:creationId xmlns:p14="http://schemas.microsoft.com/office/powerpoint/2010/main" val="18546557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27914" y="20483"/>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3. HỆ THỐNG ĐỀ XUẤT</a:t>
            </a:r>
          </a:p>
        </p:txBody>
      </p:sp>
      <p:grpSp>
        <p:nvGrpSpPr>
          <p:cNvPr id="204" name="Google Shape;204;p19"/>
          <p:cNvGrpSpPr/>
          <p:nvPr/>
        </p:nvGrpSpPr>
        <p:grpSpPr>
          <a:xfrm>
            <a:off x="-1" y="544050"/>
            <a:ext cx="9143999" cy="4706606"/>
            <a:chOff x="-467326" y="1"/>
            <a:chExt cx="7394154" cy="2818536"/>
          </a:xfrm>
        </p:grpSpPr>
        <p:sp>
          <p:nvSpPr>
            <p:cNvPr id="205" name="Google Shape;205;p19"/>
            <p:cNvSpPr/>
            <p:nvPr/>
          </p:nvSpPr>
          <p:spPr>
            <a:xfrm>
              <a:off x="-467326" y="412199"/>
              <a:ext cx="7394154" cy="2406338"/>
            </a:xfrm>
            <a:prstGeom prst="rect">
              <a:avLst/>
            </a:prstGeom>
            <a:solidFill>
              <a:schemeClr val="dk2"/>
            </a:solidFill>
            <a:ln>
              <a:noFill/>
            </a:ln>
          </p:spPr>
          <p:txBody>
            <a:bodyPr spcFirstLastPara="1" wrap="square" lIns="45725" tIns="91440" rIns="45725" bIns="45725" anchor="t" anchorCtr="0">
              <a:noAutofit/>
            </a:bodyPr>
            <a:lstStyle/>
            <a:p>
              <a:pPr lvl="0" algn="l" rtl="0">
                <a:spcBef>
                  <a:spcPts val="0"/>
                </a:spcBef>
                <a:spcAft>
                  <a:spcPts val="0"/>
                </a:spcAft>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206" name="Google Shape;206;p19"/>
            <p:cNvSpPr/>
            <p:nvPr/>
          </p:nvSpPr>
          <p:spPr>
            <a:xfrm>
              <a:off x="-467326" y="1"/>
              <a:ext cx="7394154"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208" name="Google Shape;208;p19"/>
          <p:cNvSpPr txBox="1"/>
          <p:nvPr/>
        </p:nvSpPr>
        <p:spPr>
          <a:xfrm>
            <a:off x="527914" y="721553"/>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3.1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Kiến</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trúc</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đề</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xuất</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pic>
        <p:nvPicPr>
          <p:cNvPr id="1030" name="Picture 6" descr="Uber like Apps | Driving app like Uber | Uber for Android 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129" y="1336667"/>
            <a:ext cx="4637438" cy="37863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ab Booking App: How to make a Taxi/Cab Booking App like U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67" y="1305577"/>
            <a:ext cx="4253393" cy="2897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9061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50" y="168629"/>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3. HỆ THỐNG ĐỀ XUẤT</a:t>
            </a:r>
          </a:p>
        </p:txBody>
      </p:sp>
      <p:grpSp>
        <p:nvGrpSpPr>
          <p:cNvPr id="204" name="Google Shape;204;p19"/>
          <p:cNvGrpSpPr/>
          <p:nvPr/>
        </p:nvGrpSpPr>
        <p:grpSpPr>
          <a:xfrm>
            <a:off x="0" y="796495"/>
            <a:ext cx="9144000" cy="4293217"/>
            <a:chOff x="0" y="1"/>
            <a:chExt cx="6722700" cy="2818536"/>
          </a:xfrm>
        </p:grpSpPr>
        <p:sp>
          <p:nvSpPr>
            <p:cNvPr id="205" name="Google Shape;205;p19"/>
            <p:cNvSpPr/>
            <p:nvPr/>
          </p:nvSpPr>
          <p:spPr>
            <a:xfrm>
              <a:off x="0" y="412199"/>
              <a:ext cx="6722700" cy="2406338"/>
            </a:xfrm>
            <a:prstGeom prst="rect">
              <a:avLst/>
            </a:prstGeom>
            <a:solidFill>
              <a:schemeClr val="dk2"/>
            </a:solidFill>
            <a:ln>
              <a:noFill/>
            </a:ln>
          </p:spPr>
          <p:txBody>
            <a:bodyPr spcFirstLastPara="1" wrap="square" lIns="45725" tIns="91440" rIns="45725" bIns="45725" anchor="t" anchorCtr="0">
              <a:noAutofit/>
            </a:bodyPr>
            <a:lstStyle/>
            <a:p>
              <a:pPr marL="342900" lvl="0" indent="-342900" algn="l" rtl="0">
                <a:spcBef>
                  <a:spcPts val="0"/>
                </a:spcBef>
                <a:spcAft>
                  <a:spcPts val="0"/>
                </a:spcAft>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Quy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đặt </a:t>
              </a:r>
              <a:r>
                <a:rPr lang="en-US" sz="1600" dirty="0" err="1" smtClean="0">
                  <a:latin typeface="Times New Roman" panose="02020603050405020304" pitchFamily="18" charset="0"/>
                  <a:cs typeface="Times New Roman" panose="02020603050405020304" pitchFamily="18" charset="0"/>
                </a:rPr>
                <a:t>xe</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342900" lvl="0" indent="-342900" algn="l" rtl="0">
                <a:spcBef>
                  <a:spcPts val="0"/>
                </a:spcBef>
                <a:spcAft>
                  <a:spcPts val="0"/>
                </a:spcAf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206" name="Google Shape;206;p19"/>
            <p:cNvSpPr/>
            <p:nvPr/>
          </p:nvSpPr>
          <p:spPr>
            <a:xfrm>
              <a:off x="0" y="1"/>
              <a:ext cx="6722700"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208" name="Google Shape;208;p19"/>
          <p:cNvSpPr txBox="1"/>
          <p:nvPr/>
        </p:nvSpPr>
        <p:spPr>
          <a:xfrm>
            <a:off x="719631" y="989704"/>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3.2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Quy</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trình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nghiệp</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vụ</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pic>
        <p:nvPicPr>
          <p:cNvPr id="2052" name="Picture 4" descr="Cab booking public process - Collaboration BPMN 2.0 diagram | Business  Process Diagrams | Business Process Modeling Notation Template | Taxi  Booking Proc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2645" y="1802312"/>
            <a:ext cx="4951671" cy="328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6698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50" y="168629"/>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3. HỆ THỐNG ĐỀ XUẤT</a:t>
            </a:r>
          </a:p>
        </p:txBody>
      </p:sp>
      <p:grpSp>
        <p:nvGrpSpPr>
          <p:cNvPr id="204" name="Google Shape;204;p19"/>
          <p:cNvGrpSpPr/>
          <p:nvPr/>
        </p:nvGrpSpPr>
        <p:grpSpPr>
          <a:xfrm>
            <a:off x="0" y="796495"/>
            <a:ext cx="9144000" cy="4293217"/>
            <a:chOff x="0" y="1"/>
            <a:chExt cx="6722700" cy="2818536"/>
          </a:xfrm>
        </p:grpSpPr>
        <p:sp>
          <p:nvSpPr>
            <p:cNvPr id="205" name="Google Shape;205;p19"/>
            <p:cNvSpPr/>
            <p:nvPr/>
          </p:nvSpPr>
          <p:spPr>
            <a:xfrm>
              <a:off x="0" y="412199"/>
              <a:ext cx="6722700" cy="2406338"/>
            </a:xfrm>
            <a:prstGeom prst="rect">
              <a:avLst/>
            </a:prstGeom>
            <a:solidFill>
              <a:schemeClr val="dk2"/>
            </a:solidFill>
            <a:ln>
              <a:noFill/>
            </a:ln>
          </p:spPr>
          <p:txBody>
            <a:bodyPr spcFirstLastPara="1" wrap="square" lIns="45725" tIns="91440" rIns="45725" bIns="45725" anchor="t" anchorCtr="0">
              <a:noAutofit/>
            </a:bodyPr>
            <a:lstStyle/>
            <a:p>
              <a:pPr marL="342900" indent="-342900">
                <a:lnSpc>
                  <a:spcPct val="150000"/>
                </a:lnSpc>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Tích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qua smart contract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về</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v"/>
              </a:pPr>
              <a:r>
                <a:rPr lang="vi-VN" sz="1600" dirty="0">
                  <a:solidFill>
                    <a:srgbClr val="000000"/>
                  </a:solidFill>
                  <a:effectLst/>
                  <a:latin typeface="Times New Roman" panose="02020603050405020304" pitchFamily="18" charset="0"/>
                  <a:ea typeface="Times New Roman" panose="02020603050405020304" pitchFamily="18" charset="0"/>
                </a:rPr>
                <a:t>Tích hợp thực thi bất đồng bộ: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qua smart contract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Nếu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liệu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chưa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chế</a:t>
              </a:r>
              <a:r>
                <a:rPr lang="en-US" sz="1600" dirty="0">
                  <a:latin typeface="Times New Roman" panose="02020603050405020304" pitchFamily="18" charset="0"/>
                  <a:cs typeface="Times New Roman" panose="02020603050405020304" pitchFamily="18" charset="0"/>
                </a:rPr>
                <a:t> rollback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dịch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342900" lvl="0" indent="-342900" algn="l" rtl="0">
                <a:spcBef>
                  <a:spcPts val="0"/>
                </a:spcBef>
                <a:spcAft>
                  <a:spcPts val="0"/>
                </a:spcAf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206" name="Google Shape;206;p19"/>
            <p:cNvSpPr/>
            <p:nvPr/>
          </p:nvSpPr>
          <p:spPr>
            <a:xfrm>
              <a:off x="0" y="1"/>
              <a:ext cx="6722700"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208" name="Google Shape;208;p19"/>
          <p:cNvSpPr txBox="1"/>
          <p:nvPr/>
        </p:nvSpPr>
        <p:spPr>
          <a:xfrm>
            <a:off x="719631" y="989704"/>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3.3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Phương</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pháp</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tích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hợp</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Blockchain</a:t>
            </a: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grpSp>
        <p:nvGrpSpPr>
          <p:cNvPr id="2" name="Google Shape;204;p19">
            <a:extLst>
              <a:ext uri="{FF2B5EF4-FFF2-40B4-BE49-F238E27FC236}">
                <a16:creationId xmlns:a16="http://schemas.microsoft.com/office/drawing/2014/main" id="{3A77F93B-62A6-38C8-4477-20FF06F16FF2}"/>
              </a:ext>
            </a:extLst>
          </p:cNvPr>
          <p:cNvGrpSpPr/>
          <p:nvPr/>
        </p:nvGrpSpPr>
        <p:grpSpPr>
          <a:xfrm>
            <a:off x="0" y="732201"/>
            <a:ext cx="9144000" cy="4293217"/>
            <a:chOff x="0" y="1"/>
            <a:chExt cx="6722700" cy="2818536"/>
          </a:xfrm>
        </p:grpSpPr>
        <p:sp>
          <p:nvSpPr>
            <p:cNvPr id="3" name="Google Shape;205;p19">
              <a:extLst>
                <a:ext uri="{FF2B5EF4-FFF2-40B4-BE49-F238E27FC236}">
                  <a16:creationId xmlns:a16="http://schemas.microsoft.com/office/drawing/2014/main" id="{CCDA4790-306F-CB3C-9CF6-8B71524EDBB2}"/>
                </a:ext>
              </a:extLst>
            </p:cNvPr>
            <p:cNvSpPr/>
            <p:nvPr/>
          </p:nvSpPr>
          <p:spPr>
            <a:xfrm>
              <a:off x="0" y="412199"/>
              <a:ext cx="6722700" cy="2406338"/>
            </a:xfrm>
            <a:prstGeom prst="rect">
              <a:avLst/>
            </a:prstGeom>
            <a:solidFill>
              <a:schemeClr val="dk2"/>
            </a:solidFill>
            <a:ln>
              <a:noFill/>
            </a:ln>
          </p:spPr>
          <p:txBody>
            <a:bodyPr spcFirstLastPara="1" wrap="square" lIns="45725" tIns="91440" rIns="45725" bIns="45725" anchor="t" anchorCtr="0">
              <a:noAutofit/>
            </a:bodyPr>
            <a:lstStyle/>
            <a:p>
              <a:pPr marL="342900" indent="-342900">
                <a:lnSpc>
                  <a:spcPct val="150000"/>
                </a:lnSpc>
                <a:buFont typeface="Wingdings" panose="05000000000000000000" pitchFamily="2" charset="2"/>
                <a:buChar char="v"/>
              </a:pPr>
              <a:r>
                <a:rPr lang="en-US" sz="1600" dirty="0" err="1" smtClean="0">
                  <a:latin typeface="Times New Roman" panose="02020603050405020304" pitchFamily="18" charset="0"/>
                  <a:cs typeface="Times New Roman" panose="02020603050405020304" pitchFamily="18" charset="0"/>
                </a:rPr>
                <a:t>Thuật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toán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định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Sử</a:t>
              </a:r>
              <a:r>
                <a:rPr lang="en-US" sz="16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dụng </a:t>
              </a:r>
              <a:r>
                <a:rPr lang="en-US" sz="1600" dirty="0" err="1">
                  <a:latin typeface="Times New Roman" panose="02020603050405020304" pitchFamily="18" charset="0"/>
                  <a:cs typeface="Times New Roman" panose="02020603050405020304" pitchFamily="18" charset="0"/>
                </a:rPr>
                <a:t>google.maps.TravelMode</a:t>
              </a:r>
              <a:r>
                <a:rPr lang="en-US" sz="1600" dirty="0">
                  <a:latin typeface="Times New Roman" panose="02020603050405020304" pitchFamily="18" charset="0"/>
                  <a:cs typeface="Times New Roman" panose="02020603050405020304" pitchFamily="18" charset="0"/>
                </a:rPr>
                <a:t>["DRIVING"], </a:t>
              </a:r>
              <a:r>
                <a:rPr lang="en-US" sz="1600" dirty="0" err="1" smtClean="0">
                  <a:latin typeface="Times New Roman" panose="02020603050405020304" pitchFamily="18" charset="0"/>
                  <a:cs typeface="Times New Roman" panose="02020603050405020304" pitchFamily="18" charset="0"/>
                </a:rPr>
                <a:t>google.maps.directionsRenderer</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google.maps.route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google.maps.places.Autocomplete</a:t>
              </a:r>
              <a:r>
                <a:rPr lang="en-US" sz="1600" dirty="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để</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kết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nối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các</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đón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đến</a:t>
              </a:r>
              <a:r>
                <a:rPr lang="en-US" sz="1600" dirty="0" smtClean="0">
                  <a:latin typeface="Times New Roman" panose="02020603050405020304" pitchFamily="18" charset="0"/>
                  <a:cs typeface="Times New Roman" panose="02020603050405020304" pitchFamily="18" charset="0"/>
                </a:rPr>
                <a:t> và xác </a:t>
              </a:r>
              <a:r>
                <a:rPr lang="en-US" sz="1600" dirty="0" err="1" smtClean="0">
                  <a:latin typeface="Times New Roman" panose="02020603050405020304" pitchFamily="18" charset="0"/>
                  <a:cs typeface="Times New Roman" panose="02020603050405020304" pitchFamily="18" charset="0"/>
                </a:rPr>
                <a:t>định</a:t>
              </a:r>
              <a:r>
                <a:rPr lang="en-US" sz="1600" dirty="0" smtClean="0">
                  <a:latin typeface="Times New Roman" panose="02020603050405020304" pitchFamily="18" charset="0"/>
                  <a:cs typeface="Times New Roman" panose="02020603050405020304" pitchFamily="18" charset="0"/>
                </a:rPr>
                <a:t> được chi </a:t>
              </a:r>
              <a:r>
                <a:rPr lang="en-US" sz="1600" dirty="0" err="1" smtClean="0">
                  <a:latin typeface="Times New Roman" panose="02020603050405020304" pitchFamily="18" charset="0"/>
                  <a:cs typeface="Times New Roman" panose="02020603050405020304" pitchFamily="18" charset="0"/>
                </a:rPr>
                <a:t>tiết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chuyến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a:t>
              </a:r>
              <a:r>
                <a:rPr lang="en-US" sz="1600" dirty="0" smtClean="0">
                  <a:latin typeface="Times New Roman" panose="02020603050405020304" pitchFamily="18" charset="0"/>
                  <a:cs typeface="Times New Roman" panose="02020603050405020304" pitchFamily="18" charset="0"/>
                </a:rPr>
                <a:t> trên </a:t>
              </a:r>
              <a:r>
                <a:rPr lang="en-US" sz="1600" dirty="0" err="1" smtClean="0">
                  <a:latin typeface="Times New Roman" panose="02020603050405020304" pitchFamily="18" charset="0"/>
                  <a:cs typeface="Times New Roman" panose="02020603050405020304" pitchFamily="18" charset="0"/>
                </a:rPr>
                <a:t>bản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đồ</a:t>
              </a:r>
              <a:r>
                <a:rPr lang="en-US" sz="1600" dirty="0" smtClean="0">
                  <a:latin typeface="Times New Roman" panose="02020603050405020304" pitchFamily="18" charset="0"/>
                  <a:cs typeface="Times New Roman" panose="02020603050405020304" pitchFamily="18" charset="0"/>
                </a:rPr>
                <a:t> như </a:t>
              </a:r>
              <a:r>
                <a:rPr lang="en-US" sz="1600" dirty="0" err="1" smtClean="0">
                  <a:latin typeface="Times New Roman" panose="02020603050405020304" pitchFamily="18" charset="0"/>
                  <a:cs typeface="Times New Roman" panose="02020603050405020304" pitchFamily="18" charset="0"/>
                </a:rPr>
                <a:t>thời</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gian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giá</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tiền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quãng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đường</a:t>
              </a:r>
              <a:r>
                <a:rPr lang="en-US" sz="1600" dirty="0" smtClean="0">
                  <a:latin typeface="Times New Roman" panose="02020603050405020304" pitchFamily="18" charset="0"/>
                  <a:cs typeface="Times New Roman" panose="02020603050405020304" pitchFamily="18" charset="0"/>
                </a:rPr>
                <a:t>...khi </a:t>
              </a:r>
              <a:r>
                <a:rPr lang="en-US" sz="1600" dirty="0" err="1" smtClean="0">
                  <a:latin typeface="Times New Roman" panose="02020603050405020304" pitchFamily="18" charset="0"/>
                  <a:cs typeface="Times New Roman" panose="02020603050405020304" pitchFamily="18" charset="0"/>
                </a:rPr>
                <a:t>lựa</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chọn</a:t>
              </a:r>
              <a:r>
                <a:rPr lang="en-US" sz="1600" dirty="0" smtClean="0">
                  <a:latin typeface="Times New Roman" panose="02020603050405020304" pitchFamily="18" charset="0"/>
                  <a:cs typeface="Times New Roman" panose="02020603050405020304" pitchFamily="18" charset="0"/>
                </a:rPr>
                <a:t>.</a:t>
              </a:r>
              <a:endParaRPr lang="en-US" sz="1600" dirty="0" smtClean="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v"/>
              </a:pP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Thuật</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toán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mô</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phỏng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động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Sử</a:t>
              </a:r>
              <a:r>
                <a:rPr lang="en-US" sz="1600" dirty="0">
                  <a:latin typeface="Times New Roman" panose="02020603050405020304" pitchFamily="18" charset="0"/>
                  <a:ea typeface="Calibri" panose="020F0502020204030204" pitchFamily="34" charset="0"/>
                  <a:cs typeface="Times New Roman" panose="02020603050405020304" pitchFamily="18" charset="0"/>
                </a:rPr>
                <a:t> dụng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google.maps.TravelMode</a:t>
              </a:r>
              <a:r>
                <a:rPr lang="en-US" sz="1600" dirty="0">
                  <a:latin typeface="Times New Roman" panose="02020603050405020304" pitchFamily="18" charset="0"/>
                  <a:ea typeface="Calibri" panose="020F0502020204030204" pitchFamily="34" charset="0"/>
                  <a:cs typeface="Times New Roman" panose="02020603050405020304" pitchFamily="18" charset="0"/>
                </a:rPr>
                <a:t>["DRIVING"],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google.maps.geometry.spherical.computeLength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google.maps.geometry.spherical.computeHeading</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google.maps.geometry.spherical.interpolate</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google.maps.geometry.spherical.computeDistanceBetween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để</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thực</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hiện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mô</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phỏng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động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tài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xế</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di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từ</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điểm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đón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tới</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điểm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đến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trên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bản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đồ</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lvl="0" algn="l" rtl="0">
                <a:spcBef>
                  <a:spcPts val="0"/>
                </a:spcBef>
                <a:spcAft>
                  <a:spcPts val="0"/>
                </a:spcAft>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4" name="Google Shape;206;p19">
              <a:extLst>
                <a:ext uri="{FF2B5EF4-FFF2-40B4-BE49-F238E27FC236}">
                  <a16:creationId xmlns:a16="http://schemas.microsoft.com/office/drawing/2014/main" id="{2E4FE55C-AA0B-7121-51B7-3A2ADCF75B0F}"/>
                </a:ext>
              </a:extLst>
            </p:cNvPr>
            <p:cNvSpPr/>
            <p:nvPr/>
          </p:nvSpPr>
          <p:spPr>
            <a:xfrm>
              <a:off x="0" y="1"/>
              <a:ext cx="6722700"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6" name="Rectangle 5"/>
          <p:cNvSpPr/>
          <p:nvPr/>
        </p:nvSpPr>
        <p:spPr>
          <a:xfrm>
            <a:off x="3137875" y="860787"/>
            <a:ext cx="2060179" cy="410882"/>
          </a:xfrm>
          <a:prstGeom prst="rect">
            <a:avLst/>
          </a:prstGeom>
        </p:spPr>
        <p:txBody>
          <a:bodyPr wrap="none">
            <a:spAutoFit/>
          </a:bodyPr>
          <a:lstStyle/>
          <a:p>
            <a:pPr algn="ctr">
              <a:lnSpc>
                <a:spcPct val="115000"/>
              </a:lnSpc>
            </a:pPr>
            <a:r>
              <a:rPr lang="en"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3.3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Thuật</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toán</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xử</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lý</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Tree>
    <p:extLst>
      <p:ext uri="{BB962C8B-B14F-4D97-AF65-F5344CB8AC3E}">
        <p14:creationId xmlns:p14="http://schemas.microsoft.com/office/powerpoint/2010/main" val="11539070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p:nvPr/>
        </p:nvSpPr>
        <p:spPr>
          <a:xfrm>
            <a:off x="514350" y="168629"/>
            <a:ext cx="8115300" cy="62786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400" b="1" dirty="0">
                <a:solidFill>
                  <a:schemeClr val="dk1"/>
                </a:solidFill>
                <a:latin typeface="Times New Roman" panose="02020603050405020304" pitchFamily="18" charset="0"/>
                <a:ea typeface="Merriweather"/>
                <a:cs typeface="Times New Roman" panose="02020603050405020304" pitchFamily="18" charset="0"/>
                <a:sym typeface="Merriweather"/>
              </a:rPr>
              <a:t>3. HỆ THỐNG ĐỀ XUẤT</a:t>
            </a:r>
          </a:p>
        </p:txBody>
      </p:sp>
      <p:grpSp>
        <p:nvGrpSpPr>
          <p:cNvPr id="204" name="Google Shape;204;p19"/>
          <p:cNvGrpSpPr/>
          <p:nvPr/>
        </p:nvGrpSpPr>
        <p:grpSpPr>
          <a:xfrm>
            <a:off x="0" y="796495"/>
            <a:ext cx="9144000" cy="4293217"/>
            <a:chOff x="0" y="1"/>
            <a:chExt cx="6722700" cy="2818536"/>
          </a:xfrm>
        </p:grpSpPr>
        <p:sp>
          <p:nvSpPr>
            <p:cNvPr id="205" name="Google Shape;205;p19"/>
            <p:cNvSpPr/>
            <p:nvPr/>
          </p:nvSpPr>
          <p:spPr>
            <a:xfrm>
              <a:off x="0" y="412199"/>
              <a:ext cx="6722700" cy="2406338"/>
            </a:xfrm>
            <a:prstGeom prst="rect">
              <a:avLst/>
            </a:prstGeom>
            <a:solidFill>
              <a:schemeClr val="dk2"/>
            </a:solidFill>
            <a:ln>
              <a:noFill/>
            </a:ln>
          </p:spPr>
          <p:txBody>
            <a:bodyPr spcFirstLastPara="1" wrap="square" lIns="45725" tIns="91440" rIns="45725" bIns="45725" anchor="t" anchorCtr="0">
              <a:noAutofit/>
            </a:bodyPr>
            <a:lstStyle/>
            <a:p>
              <a:pPr marL="342900" indent="-342900">
                <a:lnSpc>
                  <a:spcPct val="150000"/>
                </a:lnSpc>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Tích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qua smart contract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về</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v"/>
              </a:pPr>
              <a:r>
                <a:rPr lang="vi-VN" sz="1600" dirty="0">
                  <a:solidFill>
                    <a:srgbClr val="000000"/>
                  </a:solidFill>
                  <a:effectLst/>
                  <a:latin typeface="Times New Roman" panose="02020603050405020304" pitchFamily="18" charset="0"/>
                  <a:ea typeface="Times New Roman" panose="02020603050405020304" pitchFamily="18" charset="0"/>
                </a:rPr>
                <a:t>Tích hợp thực thi bất đồng bộ: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qua smart contract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Nếu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dữ</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liệu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chưa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lưới</a:t>
              </a:r>
              <a:r>
                <a:rPr lang="en-US" sz="1600" dirty="0">
                  <a:latin typeface="Times New Roman" panose="02020603050405020304" pitchFamily="18" charset="0"/>
                  <a:cs typeface="Times New Roman" panose="02020603050405020304" pitchFamily="18" charset="0"/>
                </a:rPr>
                <a:t> blockchain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chế</a:t>
              </a:r>
              <a:r>
                <a:rPr lang="en-US" sz="1600" dirty="0">
                  <a:latin typeface="Times New Roman" panose="02020603050405020304" pitchFamily="18" charset="0"/>
                  <a:cs typeface="Times New Roman" panose="02020603050405020304" pitchFamily="18" charset="0"/>
                </a:rPr>
                <a:t> rollback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dịch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vụ</a:t>
              </a:r>
              <a:r>
                <a:rPr lang="en-US" sz="16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342900" lvl="0" indent="-342900" algn="l" rtl="0">
                <a:spcBef>
                  <a:spcPts val="0"/>
                </a:spcBef>
                <a:spcAft>
                  <a:spcPts val="0"/>
                </a:spcAf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206" name="Google Shape;206;p19"/>
            <p:cNvSpPr/>
            <p:nvPr/>
          </p:nvSpPr>
          <p:spPr>
            <a:xfrm>
              <a:off x="0" y="1"/>
              <a:ext cx="6722700"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208" name="Google Shape;208;p19"/>
          <p:cNvSpPr txBox="1"/>
          <p:nvPr/>
        </p:nvSpPr>
        <p:spPr>
          <a:xfrm>
            <a:off x="719631" y="989704"/>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3.3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Phương</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pháp</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tích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hợp</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Blockchain</a:t>
            </a: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grpSp>
        <p:nvGrpSpPr>
          <p:cNvPr id="2" name="Google Shape;204;p19">
            <a:extLst>
              <a:ext uri="{FF2B5EF4-FFF2-40B4-BE49-F238E27FC236}">
                <a16:creationId xmlns:a16="http://schemas.microsoft.com/office/drawing/2014/main" id="{3A77F93B-62A6-38C8-4477-20FF06F16FF2}"/>
              </a:ext>
            </a:extLst>
          </p:cNvPr>
          <p:cNvGrpSpPr/>
          <p:nvPr/>
        </p:nvGrpSpPr>
        <p:grpSpPr>
          <a:xfrm>
            <a:off x="0" y="732201"/>
            <a:ext cx="9144000" cy="4293217"/>
            <a:chOff x="0" y="1"/>
            <a:chExt cx="6722700" cy="2818536"/>
          </a:xfrm>
        </p:grpSpPr>
        <p:sp>
          <p:nvSpPr>
            <p:cNvPr id="3" name="Google Shape;205;p19">
              <a:extLst>
                <a:ext uri="{FF2B5EF4-FFF2-40B4-BE49-F238E27FC236}">
                  <a16:creationId xmlns:a16="http://schemas.microsoft.com/office/drawing/2014/main" id="{CCDA4790-306F-CB3C-9CF6-8B71524EDBB2}"/>
                </a:ext>
              </a:extLst>
            </p:cNvPr>
            <p:cNvSpPr/>
            <p:nvPr/>
          </p:nvSpPr>
          <p:spPr>
            <a:xfrm>
              <a:off x="0" y="412199"/>
              <a:ext cx="6722700" cy="2406338"/>
            </a:xfrm>
            <a:prstGeom prst="rect">
              <a:avLst/>
            </a:prstGeom>
            <a:solidFill>
              <a:schemeClr val="dk2"/>
            </a:solidFill>
            <a:ln>
              <a:noFill/>
            </a:ln>
          </p:spPr>
          <p:txBody>
            <a:bodyPr spcFirstLastPara="1" wrap="square" lIns="45725" tIns="91440" rIns="45725" bIns="45725" anchor="t" anchorCtr="0">
              <a:noAutofit/>
            </a:bodyPr>
            <a:lstStyle/>
            <a:p>
              <a:pPr marL="342900" indent="-342900">
                <a:lnSpc>
                  <a:spcPct val="150000"/>
                </a:lnSpc>
                <a:buFont typeface="Wingdings" panose="05000000000000000000" pitchFamily="2" charset="2"/>
                <a:buChar char="v"/>
              </a:pPr>
              <a:r>
                <a:rPr lang="en-US" sz="1600" dirty="0" err="1">
                  <a:latin typeface="Times New Roman" panose="02020603050405020304" pitchFamily="18" charset="0"/>
                  <a:ea typeface="Calibri" panose="020F0502020204030204" pitchFamily="34" charset="0"/>
                  <a:cs typeface="Times New Roman" panose="02020603050405020304" pitchFamily="18" charset="0"/>
                </a:rPr>
                <a:t>Thuật</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toán</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theo</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dõi</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điều</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khiển</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Sử</a:t>
              </a:r>
              <a:r>
                <a:rPr lang="en-US" sz="1600" dirty="0">
                  <a:latin typeface="Times New Roman" panose="02020603050405020304" pitchFamily="18" charset="0"/>
                  <a:ea typeface="Calibri" panose="020F0502020204030204" pitchFamily="34" charset="0"/>
                  <a:cs typeface="Times New Roman" panose="02020603050405020304" pitchFamily="18" charset="0"/>
                </a:rPr>
                <a:t> dụng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route.overview_path</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google.maps.geometry.spherical.computeDistanceBetween</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google.maps.TravelMode</a:t>
              </a:r>
              <a:r>
                <a:rPr lang="en-US" sz="1600" dirty="0">
                  <a:latin typeface="Times New Roman" panose="02020603050405020304" pitchFamily="18" charset="0"/>
                  <a:ea typeface="Calibri" panose="020F0502020204030204" pitchFamily="34" charset="0"/>
                  <a:cs typeface="Times New Roman" panose="02020603050405020304" pitchFamily="18" charset="0"/>
                </a:rPr>
                <a:t>["DRIVING"]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để</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thực</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hiện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tìm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kiếm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theo</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dõi</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động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và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phát</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hiện được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vị</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trí</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của tài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xế</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trên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bản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đồ</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thông</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qua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một</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thiết</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bị</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smtClean="0">
                  <a:latin typeface="Times New Roman" panose="02020603050405020304" pitchFamily="18" charset="0"/>
                  <a:ea typeface="Calibri" panose="020F0502020204030204" pitchFamily="34" charset="0"/>
                  <a:cs typeface="Times New Roman" panose="02020603050405020304" pitchFamily="18" charset="0"/>
                </a:rPr>
                <a:t>khác</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nSpc>
                  <a:spcPct val="150000"/>
                </a:lnSpc>
                <a:buFont typeface="Wingdings" panose="05000000000000000000" pitchFamily="2" charset="2"/>
                <a:buChar char="v"/>
              </a:pPr>
              <a:r>
                <a:rPr lang="en-US" sz="1600" dirty="0" err="1" smtClean="0">
                  <a:solidFill>
                    <a:srgbClr val="000000"/>
                  </a:solidFill>
                  <a:effectLst/>
                  <a:latin typeface="Times New Roman" panose="02020603050405020304" pitchFamily="18" charset="0"/>
                  <a:ea typeface="Times New Roman" panose="02020603050405020304" pitchFamily="18" charset="0"/>
                </a:rPr>
                <a:t>Thuật</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toán</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tìm</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kiếm</a:t>
              </a:r>
              <a:r>
                <a:rPr lang="en-US" sz="1600" dirty="0" smtClean="0">
                  <a:solidFill>
                    <a:srgbClr val="000000"/>
                  </a:solidFill>
                  <a:effectLst/>
                  <a:latin typeface="Times New Roman" panose="02020603050405020304" pitchFamily="18" charset="0"/>
                  <a:ea typeface="Times New Roman" panose="02020603050405020304" pitchFamily="18" charset="0"/>
                </a:rPr>
                <a:t> tài </a:t>
              </a:r>
              <a:r>
                <a:rPr lang="en-US" sz="1600" dirty="0" err="1" smtClean="0">
                  <a:solidFill>
                    <a:srgbClr val="000000"/>
                  </a:solidFill>
                  <a:effectLst/>
                  <a:latin typeface="Times New Roman" panose="02020603050405020304" pitchFamily="18" charset="0"/>
                  <a:ea typeface="Times New Roman" panose="02020603050405020304" pitchFamily="18" charset="0"/>
                </a:rPr>
                <a:t>xế</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Là</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thuật</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toán</a:t>
              </a:r>
              <a:r>
                <a:rPr lang="en-US" sz="1600" dirty="0" smtClean="0">
                  <a:solidFill>
                    <a:srgbClr val="000000"/>
                  </a:solidFill>
                  <a:effectLst/>
                  <a:latin typeface="Times New Roman" panose="02020603050405020304" pitchFamily="18" charset="0"/>
                  <a:ea typeface="Times New Roman" panose="02020603050405020304" pitchFamily="18" charset="0"/>
                </a:rPr>
                <a:t> </a:t>
              </a:r>
              <a:r>
                <a:rPr lang="en-US" sz="1600" dirty="0" err="1" smtClean="0">
                  <a:solidFill>
                    <a:srgbClr val="000000"/>
                  </a:solidFill>
                  <a:effectLst/>
                  <a:latin typeface="Times New Roman" panose="02020603050405020304" pitchFamily="18" charset="0"/>
                  <a:ea typeface="Times New Roman" panose="02020603050405020304" pitchFamily="18" charset="0"/>
                </a:rPr>
                <a:t>phát</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cuốc</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cho</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tài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xế</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hoạt</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động</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gần</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với</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khách</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hàng</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nhất</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sử</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dụng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các</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giải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thuật</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của google map AP</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I</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như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distanceService.getDistanceMatrix</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google.maps.UnitSystem.METRIC</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google.maps.places.Autocomplete</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google.maps.Geocoder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geometry.location</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để</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tính</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toán</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khoảng</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cách</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giữa</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hai</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của tài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xế</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và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khách</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hàng</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gần</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ea typeface="Times New Roman" panose="02020603050405020304" pitchFamily="18" charset="0"/>
                  <a:cs typeface="Times New Roman" panose="02020603050405020304" pitchFamily="18" charset="0"/>
                </a:rPr>
                <a:t>nhất</a:t>
              </a:r>
              <a:r>
                <a:rPr lang="en-US"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smtClean="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v"/>
              </a:pPr>
              <a:r>
                <a:rPr lang="en-US" sz="1600" dirty="0" err="1" smtClean="0">
                  <a:latin typeface="Times New Roman" panose="02020603050405020304" pitchFamily="18" charset="0"/>
                  <a:cs typeface="Times New Roman" panose="02020603050405020304" pitchFamily="18" charset="0"/>
                </a:rPr>
                <a:t>Thuật</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toán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đánh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giá</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tính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điểm</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xếp</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hạng</a:t>
              </a:r>
              <a:r>
                <a:rPr lang="en-US" sz="1600" dirty="0" smtClean="0">
                  <a:latin typeface="Times New Roman" panose="02020603050405020304" pitchFamily="18" charset="0"/>
                  <a:cs typeface="Times New Roman" panose="02020603050405020304" pitchFamily="18" charset="0"/>
                </a:rPr>
                <a:t> tài </a:t>
              </a:r>
              <a:r>
                <a:rPr lang="en-US" sz="1600" dirty="0" err="1" smtClean="0">
                  <a:latin typeface="Times New Roman" panose="02020603050405020304" pitchFamily="18" charset="0"/>
                  <a:cs typeface="Times New Roman" panose="02020603050405020304" pitchFamily="18" charset="0"/>
                </a:rPr>
                <a:t>xế</a:t>
              </a:r>
              <a:r>
                <a:rPr lang="en-US" sz="1600"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342900" lvl="0" indent="-342900" algn="l" rtl="0">
                <a:spcBef>
                  <a:spcPts val="0"/>
                </a:spcBef>
                <a:spcAft>
                  <a:spcPts val="0"/>
                </a:spcAf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4"/>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dirty="0"/>
            </a:p>
          </p:txBody>
        </p:sp>
        <p:sp>
          <p:nvSpPr>
            <p:cNvPr id="4" name="Google Shape;206;p19">
              <a:extLst>
                <a:ext uri="{FF2B5EF4-FFF2-40B4-BE49-F238E27FC236}">
                  <a16:creationId xmlns:a16="http://schemas.microsoft.com/office/drawing/2014/main" id="{2E4FE55C-AA0B-7121-51B7-3A2ADCF75B0F}"/>
                </a:ext>
              </a:extLst>
            </p:cNvPr>
            <p:cNvSpPr/>
            <p:nvPr/>
          </p:nvSpPr>
          <p:spPr>
            <a:xfrm>
              <a:off x="0" y="1"/>
              <a:ext cx="6722700" cy="412198"/>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grpSp>
      <p:sp>
        <p:nvSpPr>
          <p:cNvPr id="6" name="Rectangle 5"/>
          <p:cNvSpPr/>
          <p:nvPr/>
        </p:nvSpPr>
        <p:spPr>
          <a:xfrm>
            <a:off x="3137875" y="860787"/>
            <a:ext cx="2060179" cy="410882"/>
          </a:xfrm>
          <a:prstGeom prst="rect">
            <a:avLst/>
          </a:prstGeom>
        </p:spPr>
        <p:txBody>
          <a:bodyPr wrap="none">
            <a:spAutoFit/>
          </a:bodyPr>
          <a:lstStyle/>
          <a:p>
            <a:pPr algn="ctr">
              <a:lnSpc>
                <a:spcPct val="115000"/>
              </a:lnSpc>
            </a:pPr>
            <a:r>
              <a:rPr lang="en"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3.3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Thuật</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toán</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smtClean="0">
                <a:solidFill>
                  <a:schemeClr val="dk1"/>
                </a:solidFill>
                <a:latin typeface="Times New Roman" panose="02020603050405020304" pitchFamily="18" charset="0"/>
                <a:ea typeface="Merriweather Sans"/>
                <a:cs typeface="Times New Roman" panose="02020603050405020304" pitchFamily="18" charset="0"/>
                <a:sym typeface="Merriweather Sans"/>
              </a:rPr>
              <a:t>xử</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lý</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Tree>
    <p:extLst>
      <p:ext uri="{BB962C8B-B14F-4D97-AF65-F5344CB8AC3E}">
        <p14:creationId xmlns:p14="http://schemas.microsoft.com/office/powerpoint/2010/main" val="20379280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1"/>
            <a:ext cx="9144000" cy="5143451"/>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7" name="Google Shape;197;p18"/>
          <p:cNvSpPr txBox="1"/>
          <p:nvPr/>
        </p:nvSpPr>
        <p:spPr>
          <a:xfrm>
            <a:off x="998108" y="2220858"/>
            <a:ext cx="7414372"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4. THỬ NGHIỆM</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Tree>
    <p:extLst>
      <p:ext uri="{BB962C8B-B14F-4D97-AF65-F5344CB8AC3E}">
        <p14:creationId xmlns:p14="http://schemas.microsoft.com/office/powerpoint/2010/main" val="23221751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163" y="0"/>
            <a:ext cx="7665421" cy="298420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163" y="2984156"/>
            <a:ext cx="7665421" cy="2159295"/>
          </a:xfrm>
          <a:prstGeom prst="rect">
            <a:avLst/>
          </a:prstGeom>
        </p:spPr>
      </p:pic>
    </p:spTree>
    <p:extLst>
      <p:ext uri="{BB962C8B-B14F-4D97-AF65-F5344CB8AC3E}">
        <p14:creationId xmlns:p14="http://schemas.microsoft.com/office/powerpoint/2010/main" val="7195943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805" y="-1"/>
            <a:ext cx="7346448" cy="384189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805" y="3841897"/>
            <a:ext cx="7346448" cy="1235876"/>
          </a:xfrm>
          <a:prstGeom prst="rect">
            <a:avLst/>
          </a:prstGeom>
        </p:spPr>
      </p:pic>
    </p:spTree>
    <p:extLst>
      <p:ext uri="{BB962C8B-B14F-4D97-AF65-F5344CB8AC3E}">
        <p14:creationId xmlns:p14="http://schemas.microsoft.com/office/powerpoint/2010/main" val="32623148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1610400"/>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grpSp>
        <p:nvGrpSpPr>
          <p:cNvPr id="179" name="Google Shape;179;p18"/>
          <p:cNvGrpSpPr/>
          <p:nvPr/>
        </p:nvGrpSpPr>
        <p:grpSpPr>
          <a:xfrm>
            <a:off x="419042" y="2673741"/>
            <a:ext cx="570825" cy="492975"/>
            <a:chOff x="0" y="0"/>
            <a:chExt cx="1522200" cy="1314600"/>
          </a:xfrm>
        </p:grpSpPr>
        <p:sp>
          <p:nvSpPr>
            <p:cNvPr id="180" name="Google Shape;180;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1" name="Google Shape;181;p18"/>
            <p:cNvSpPr txBox="1"/>
            <p:nvPr/>
          </p:nvSpPr>
          <p:spPr>
            <a:xfrm>
              <a:off x="289644" y="318571"/>
              <a:ext cx="942900" cy="697800"/>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dirty="0">
                  <a:solidFill>
                    <a:schemeClr val="dk1"/>
                  </a:solidFill>
                  <a:latin typeface="Merriweather Sans"/>
                  <a:ea typeface="Merriweather Sans"/>
                  <a:cs typeface="Merriweather Sans"/>
                  <a:sym typeface="Merriweather Sans"/>
                </a:rPr>
                <a:t>1</a:t>
              </a:r>
              <a:endParaRPr sz="1700" dirty="0">
                <a:solidFill>
                  <a:schemeClr val="dk1"/>
                </a:solidFill>
                <a:latin typeface="Merriweather Sans"/>
                <a:ea typeface="Merriweather Sans"/>
                <a:cs typeface="Merriweather Sans"/>
                <a:sym typeface="Merriweather Sans"/>
              </a:endParaRPr>
            </a:p>
          </p:txBody>
        </p:sp>
      </p:grpSp>
      <p:grpSp>
        <p:nvGrpSpPr>
          <p:cNvPr id="182" name="Google Shape;182;p18"/>
          <p:cNvGrpSpPr/>
          <p:nvPr/>
        </p:nvGrpSpPr>
        <p:grpSpPr>
          <a:xfrm>
            <a:off x="419042" y="3919703"/>
            <a:ext cx="570825" cy="492975"/>
            <a:chOff x="0" y="0"/>
            <a:chExt cx="1522200" cy="1314600"/>
          </a:xfrm>
        </p:grpSpPr>
        <p:sp>
          <p:nvSpPr>
            <p:cNvPr id="183" name="Google Shape;183;p18"/>
            <p:cNvSpPr/>
            <p:nvPr/>
          </p:nvSpPr>
          <p:spPr>
            <a:xfrm>
              <a:off x="0" y="0"/>
              <a:ext cx="1522200" cy="1314600"/>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lnSpc>
                  <a:spcPct val="115000"/>
                </a:lnSpc>
                <a:spcBef>
                  <a:spcPts val="0"/>
                </a:spcBef>
                <a:spcAft>
                  <a:spcPts val="0"/>
                </a:spcAft>
                <a:buNone/>
              </a:pPr>
              <a:endParaRPr>
                <a:latin typeface="Merriweather Sans"/>
                <a:ea typeface="Merriweather Sans"/>
                <a:cs typeface="Merriweather Sans"/>
                <a:sym typeface="Merriweather Sans"/>
              </a:endParaRPr>
            </a:p>
          </p:txBody>
        </p:sp>
        <p:sp>
          <p:nvSpPr>
            <p:cNvPr id="184" name="Google Shape;184;p18"/>
            <p:cNvSpPr txBox="1"/>
            <p:nvPr/>
          </p:nvSpPr>
          <p:spPr>
            <a:xfrm>
              <a:off x="289644" y="318571"/>
              <a:ext cx="942900" cy="697800"/>
            </a:xfrm>
            <a:prstGeom prst="rect">
              <a:avLst/>
            </a:prstGeom>
            <a:solidFill>
              <a:schemeClr val="accent2"/>
            </a:solid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 sz="1700">
                  <a:solidFill>
                    <a:schemeClr val="dk1"/>
                  </a:solidFill>
                  <a:latin typeface="Merriweather Sans"/>
                  <a:ea typeface="Merriweather Sans"/>
                  <a:cs typeface="Merriweather Sans"/>
                  <a:sym typeface="Merriweather Sans"/>
                </a:rPr>
                <a:t>2</a:t>
              </a:r>
              <a:endParaRPr sz="700">
                <a:solidFill>
                  <a:schemeClr val="dk1"/>
                </a:solidFill>
                <a:latin typeface="Merriweather Sans"/>
                <a:ea typeface="Merriweather Sans"/>
                <a:cs typeface="Merriweather Sans"/>
                <a:sym typeface="Merriweather Sans"/>
              </a:endParaRPr>
            </a:p>
          </p:txBody>
        </p:sp>
      </p:grpSp>
      <p:sp>
        <p:nvSpPr>
          <p:cNvPr id="189" name="Google Shape;189;p18"/>
          <p:cNvSpPr txBox="1"/>
          <p:nvPr/>
        </p:nvSpPr>
        <p:spPr>
          <a:xfrm>
            <a:off x="1174547" y="2637073"/>
            <a:ext cx="7550411" cy="849463"/>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1600" dirty="0" err="1">
                <a:solidFill>
                  <a:srgbClr val="000000"/>
                </a:solidFill>
                <a:effectLst/>
                <a:latin typeface="Times New Roman" panose="02020603050405020304" pitchFamily="18" charset="0"/>
                <a:ea typeface="Calibri" panose="020F0502020204030204" pitchFamily="34" charset="0"/>
              </a:rPr>
              <a:t>Trong</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phạm</a:t>
            </a:r>
            <a:r>
              <a:rPr lang="en-US" sz="1600" dirty="0">
                <a:solidFill>
                  <a:srgbClr val="000000"/>
                </a:solidFill>
                <a:effectLst/>
                <a:latin typeface="Times New Roman" panose="02020603050405020304" pitchFamily="18" charset="0"/>
                <a:ea typeface="Calibri" panose="020F0502020204030204" pitchFamily="34" charset="0"/>
              </a:rPr>
              <a:t> vi </a:t>
            </a:r>
            <a:r>
              <a:rPr lang="en-US" sz="1600" dirty="0" err="1">
                <a:solidFill>
                  <a:srgbClr val="000000"/>
                </a:solidFill>
                <a:effectLst/>
                <a:latin typeface="Times New Roman" panose="02020603050405020304" pitchFamily="18" charset="0"/>
                <a:ea typeface="Calibri" panose="020F0502020204030204" pitchFamily="34" charset="0"/>
              </a:rPr>
              <a:t>đề</a:t>
            </a:r>
            <a:r>
              <a:rPr lang="en-US" sz="1600" dirty="0">
                <a:solidFill>
                  <a:srgbClr val="000000"/>
                </a:solidFill>
                <a:effectLst/>
                <a:latin typeface="Times New Roman" panose="02020603050405020304" pitchFamily="18" charset="0"/>
                <a:ea typeface="Calibri" panose="020F0502020204030204" pitchFamily="34" charset="0"/>
              </a:rPr>
              <a:t> tài, </a:t>
            </a:r>
            <a:r>
              <a:rPr lang="en-US" sz="1600" dirty="0" err="1">
                <a:solidFill>
                  <a:srgbClr val="000000"/>
                </a:solidFill>
                <a:effectLst/>
                <a:latin typeface="Times New Roman" panose="02020603050405020304" pitchFamily="18" charset="0"/>
                <a:ea typeface="Calibri" panose="020F0502020204030204" pitchFamily="34" charset="0"/>
              </a:rPr>
              <a:t>sản</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phẩm</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phát</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triển</a:t>
            </a:r>
            <a:r>
              <a:rPr lang="en-US" sz="1600" dirty="0">
                <a:latin typeface="Times New Roman" panose="02020603050405020304" pitchFamily="18" charset="0"/>
                <a:ea typeface="Calibri" panose="020F0502020204030204" pitchFamily="34" charset="0"/>
              </a:rPr>
              <a:t>,</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thử</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nghiệm</a:t>
            </a:r>
            <a:r>
              <a:rPr lang="en-US" sz="1600" dirty="0">
                <a:solidFill>
                  <a:srgbClr val="000000"/>
                </a:solidFill>
                <a:effectLst/>
                <a:latin typeface="Times New Roman" panose="02020603050405020304" pitchFamily="18" charset="0"/>
                <a:ea typeface="Calibri" panose="020F0502020204030204" pitchFamily="34" charset="0"/>
              </a:rPr>
              <a:t> và </a:t>
            </a:r>
            <a:r>
              <a:rPr lang="en-US" sz="1600" dirty="0" err="1">
                <a:solidFill>
                  <a:srgbClr val="000000"/>
                </a:solidFill>
                <a:effectLst/>
                <a:latin typeface="Times New Roman" panose="02020603050405020304" pitchFamily="18" charset="0"/>
                <a:ea typeface="Calibri" panose="020F0502020204030204" pitchFamily="34" charset="0"/>
              </a:rPr>
              <a:t>tập</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trung</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chủ</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yếu</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a:solidFill>
                  <a:srgbClr val="000000"/>
                </a:solidFill>
                <a:effectLst/>
                <a:latin typeface="Times New Roman" panose="02020603050405020304" pitchFamily="18" charset="0"/>
                <a:ea typeface="Calibri" panose="020F0502020204030204" pitchFamily="34" charset="0"/>
              </a:rPr>
              <a:t>vào </a:t>
            </a:r>
            <a:r>
              <a:rPr lang="en-US" sz="1600" dirty="0" err="1">
                <a:solidFill>
                  <a:srgbClr val="000000"/>
                </a:solidFill>
                <a:effectLst/>
                <a:latin typeface="Times New Roman" panose="02020603050405020304" pitchFamily="18" charset="0"/>
                <a:ea typeface="Calibri" panose="020F0502020204030204" pitchFamily="34" charset="0"/>
              </a:rPr>
              <a:t>các</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smtClean="0">
                <a:solidFill>
                  <a:srgbClr val="000000"/>
                </a:solidFill>
                <a:effectLst/>
                <a:latin typeface="Times New Roman" panose="02020603050405020304" pitchFamily="18" charset="0"/>
                <a:ea typeface="Calibri" panose="020F0502020204030204" pitchFamily="34" charset="0"/>
              </a:rPr>
              <a:t>module </a:t>
            </a:r>
            <a:r>
              <a:rPr lang="en-US" sz="1600" dirty="0" err="1" smtClean="0">
                <a:solidFill>
                  <a:srgbClr val="000000"/>
                </a:solidFill>
                <a:effectLst/>
                <a:latin typeface="Times New Roman" panose="02020603050405020304" pitchFamily="18" charset="0"/>
                <a:ea typeface="Calibri" panose="020F0502020204030204" pitchFamily="34" charset="0"/>
              </a:rPr>
              <a:t>quan</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trọng</a:t>
            </a:r>
            <a:r>
              <a:rPr lang="en-US" sz="1600" dirty="0" smtClean="0">
                <a:solidFill>
                  <a:srgbClr val="000000"/>
                </a:solidFill>
                <a:effectLst/>
                <a:latin typeface="Times New Roman" panose="02020603050405020304" pitchFamily="18" charset="0"/>
                <a:ea typeface="Calibri" panose="020F0502020204030204" pitchFamily="34" charset="0"/>
              </a:rPr>
              <a:t> của </a:t>
            </a:r>
            <a:r>
              <a:rPr lang="en-US" sz="1600" dirty="0" err="1">
                <a:solidFill>
                  <a:srgbClr val="000000"/>
                </a:solidFill>
                <a:effectLst/>
                <a:latin typeface="Times New Roman" panose="02020603050405020304" pitchFamily="18" charset="0"/>
                <a:ea typeface="Calibri" panose="020F0502020204030204" pitchFamily="34" charset="0"/>
              </a:rPr>
              <a:t>ứng</a:t>
            </a:r>
            <a:r>
              <a:rPr lang="en-US" sz="1600" dirty="0">
                <a:solidFill>
                  <a:srgbClr val="000000"/>
                </a:solidFill>
                <a:effectLst/>
                <a:latin typeface="Times New Roman" panose="02020603050405020304" pitchFamily="18" charset="0"/>
                <a:ea typeface="Calibri" panose="020F0502020204030204" pitchFamily="34" charset="0"/>
              </a:rPr>
              <a:t> dụng </a:t>
            </a:r>
            <a:r>
              <a:rPr lang="en-US" sz="1600" dirty="0" smtClean="0">
                <a:solidFill>
                  <a:srgbClr val="000000"/>
                </a:solidFill>
                <a:effectLst/>
                <a:latin typeface="Times New Roman" panose="02020603050405020304" pitchFamily="18" charset="0"/>
                <a:ea typeface="Calibri" panose="020F0502020204030204" pitchFamily="34" charset="0"/>
              </a:rPr>
              <a:t>như đặt </a:t>
            </a:r>
            <a:r>
              <a:rPr lang="en-US" sz="1600" dirty="0" err="1" smtClean="0">
                <a:solidFill>
                  <a:srgbClr val="000000"/>
                </a:solidFill>
                <a:effectLst/>
                <a:latin typeface="Times New Roman" panose="02020603050405020304" pitchFamily="18" charset="0"/>
                <a:ea typeface="Calibri" panose="020F0502020204030204" pitchFamily="34" charset="0"/>
              </a:rPr>
              <a:t>xe</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nhận</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xe</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thanh</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toán</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theo</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dõi</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quản</a:t>
            </a:r>
            <a:r>
              <a:rPr lang="en-US" sz="1600" dirty="0" smtClean="0">
                <a:solidFill>
                  <a:srgbClr val="000000"/>
                </a:solidFill>
                <a:effectLst/>
                <a:latin typeface="Times New Roman" panose="02020603050405020304" pitchFamily="18" charset="0"/>
                <a:ea typeface="Calibri" panose="020F0502020204030204" pitchFamily="34" charset="0"/>
              </a:rPr>
              <a:t> lý, </a:t>
            </a:r>
            <a:r>
              <a:rPr lang="en-US" sz="1600" dirty="0" err="1" smtClean="0">
                <a:solidFill>
                  <a:srgbClr val="000000"/>
                </a:solidFill>
                <a:effectLst/>
                <a:latin typeface="Times New Roman" panose="02020603050405020304" pitchFamily="18" charset="0"/>
                <a:ea typeface="Calibri" panose="020F0502020204030204" pitchFamily="34" charset="0"/>
              </a:rPr>
              <a:t>đánh</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giá</a:t>
            </a:r>
            <a:r>
              <a:rPr lang="en-US" sz="1600" dirty="0">
                <a:latin typeface="Times New Roman" panose="02020603050405020304" pitchFamily="18" charset="0"/>
                <a:ea typeface="Calibri" panose="020F0502020204030204" pitchFamily="34" charset="0"/>
              </a:rPr>
              <a:t> </a:t>
            </a:r>
            <a:r>
              <a:rPr lang="en-US" sz="1600" dirty="0" smtClean="0">
                <a:latin typeface="Times New Roman" panose="02020603050405020304" pitchFamily="18" charset="0"/>
                <a:ea typeface="Calibri" panose="020F0502020204030204" pitchFamily="34" charset="0"/>
              </a:rPr>
              <a:t>và</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thống</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kê</a:t>
            </a:r>
            <a:r>
              <a:rPr lang="en-US" sz="1600" dirty="0" smtClean="0">
                <a:solidFill>
                  <a:srgbClr val="000000"/>
                </a:solidFill>
                <a:effectLst/>
                <a:latin typeface="Times New Roman" panose="02020603050405020304" pitchFamily="18" charset="0"/>
                <a:ea typeface="Calibri" panose="020F0502020204030204" pitchFamily="34" charset="0"/>
              </a:rPr>
              <a:t>.</a:t>
            </a:r>
            <a:endParaRPr sz="1600" dirty="0">
              <a:solidFill>
                <a:schemeClr val="dk1"/>
              </a:solidFill>
              <a:latin typeface="Merriweather Sans"/>
              <a:ea typeface="Merriweather Sans"/>
              <a:cs typeface="Merriweather Sans"/>
              <a:sym typeface="Merriweather Sans"/>
            </a:endParaRPr>
          </a:p>
        </p:txBody>
      </p:sp>
      <p:sp>
        <p:nvSpPr>
          <p:cNvPr id="192" name="Google Shape;192;p18"/>
          <p:cNvSpPr txBox="1"/>
          <p:nvPr/>
        </p:nvSpPr>
        <p:spPr>
          <a:xfrm>
            <a:off x="1198966" y="3848107"/>
            <a:ext cx="7525992" cy="566309"/>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None/>
            </a:pPr>
            <a:r>
              <a:rPr lang="en-US" sz="1600" dirty="0" err="1">
                <a:latin typeface="Times New Roman" panose="02020603050405020304" pitchFamily="18" charset="0"/>
                <a:ea typeface="Calibri" panose="020F0502020204030204" pitchFamily="34" charset="0"/>
              </a:rPr>
              <a:t>Đề</a:t>
            </a:r>
            <a:r>
              <a:rPr lang="en-US" sz="1600" dirty="0">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ra</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phương</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án</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xây</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dựng</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smtClean="0">
                <a:solidFill>
                  <a:srgbClr val="000000"/>
                </a:solidFill>
                <a:effectLst/>
                <a:latin typeface="Times New Roman" panose="02020603050405020304" pitchFamily="18" charset="0"/>
                <a:ea typeface="Calibri" panose="020F0502020204030204" pitchFamily="34" charset="0"/>
              </a:rPr>
              <a:t>hệ </a:t>
            </a:r>
            <a:r>
              <a:rPr lang="en-US" sz="1600" dirty="0" err="1" smtClean="0">
                <a:solidFill>
                  <a:srgbClr val="000000"/>
                </a:solidFill>
                <a:effectLst/>
                <a:latin typeface="Times New Roman" panose="02020603050405020304" pitchFamily="18" charset="0"/>
                <a:ea typeface="Calibri" panose="020F0502020204030204" pitchFamily="34" charset="0"/>
              </a:rPr>
              <a:t>thống</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kết</a:t>
            </a:r>
            <a:r>
              <a:rPr lang="en-US" sz="1600" dirty="0" smtClean="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hợp</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smtClean="0">
                <a:solidFill>
                  <a:srgbClr val="000000"/>
                </a:solidFill>
                <a:effectLst/>
                <a:latin typeface="Times New Roman" panose="02020603050405020304" pitchFamily="18" charset="0"/>
                <a:ea typeface="Calibri" panose="020F0502020204030204" pitchFamily="34" charset="0"/>
              </a:rPr>
              <a:t>các</a:t>
            </a:r>
            <a:r>
              <a:rPr lang="en-US" sz="1600" dirty="0" smtClean="0">
                <a:solidFill>
                  <a:srgbClr val="000000"/>
                </a:solidFill>
                <a:effectLst/>
                <a:latin typeface="Times New Roman" panose="02020603050405020304" pitchFamily="18" charset="0"/>
                <a:ea typeface="Calibri" panose="020F0502020204030204" pitchFamily="34" charset="0"/>
              </a:rPr>
              <a:t> giải </a:t>
            </a:r>
            <a:r>
              <a:rPr lang="en-US" sz="1600" dirty="0" err="1" smtClean="0">
                <a:solidFill>
                  <a:srgbClr val="000000"/>
                </a:solidFill>
                <a:effectLst/>
                <a:latin typeface="Times New Roman" panose="02020603050405020304" pitchFamily="18" charset="0"/>
                <a:ea typeface="Calibri" panose="020F0502020204030204" pitchFamily="34" charset="0"/>
              </a:rPr>
              <a:t>thuật</a:t>
            </a:r>
            <a:r>
              <a:rPr lang="en-US" sz="1600" dirty="0" smtClean="0">
                <a:solidFill>
                  <a:srgbClr val="000000"/>
                </a:solidFill>
                <a:effectLst/>
                <a:latin typeface="Times New Roman" panose="02020603050405020304" pitchFamily="18" charset="0"/>
                <a:ea typeface="Calibri" panose="020F0502020204030204" pitchFamily="34" charset="0"/>
              </a:rPr>
              <a:t> và </a:t>
            </a:r>
            <a:r>
              <a:rPr lang="en-US" sz="1600" dirty="0" err="1">
                <a:solidFill>
                  <a:srgbClr val="000000"/>
                </a:solidFill>
                <a:effectLst/>
                <a:latin typeface="Times New Roman" panose="02020603050405020304" pitchFamily="18" charset="0"/>
                <a:ea typeface="Calibri" panose="020F0502020204030204" pitchFamily="34" charset="0"/>
              </a:rPr>
              <a:t>công</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nghê</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phu</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hợp</a:t>
            </a:r>
            <a:r>
              <a:rPr lang="en-US" sz="1600" dirty="0">
                <a:solidFill>
                  <a:srgbClr val="000000"/>
                </a:solidFill>
                <a:effectLst/>
                <a:latin typeface="Times New Roman" panose="02020603050405020304" pitchFamily="18" charset="0"/>
                <a:ea typeface="Calibri" panose="020F0502020204030204" pitchFamily="34" charset="0"/>
              </a:rPr>
              <a:t> có </a:t>
            </a:r>
            <a:r>
              <a:rPr lang="en-US" sz="1600" dirty="0" err="1">
                <a:solidFill>
                  <a:srgbClr val="000000"/>
                </a:solidFill>
                <a:effectLst/>
                <a:latin typeface="Times New Roman" panose="02020603050405020304" pitchFamily="18" charset="0"/>
                <a:ea typeface="Calibri" panose="020F0502020204030204" pitchFamily="34" charset="0"/>
              </a:rPr>
              <a:t>thê</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hô</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trơ</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tối</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đa</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a:solidFill>
                  <a:srgbClr val="000000"/>
                </a:solidFill>
                <a:effectLst/>
                <a:latin typeface="Times New Roman" panose="02020603050405020304" pitchFamily="18" charset="0"/>
                <a:ea typeface="Calibri" panose="020F0502020204030204" pitchFamily="34" charset="0"/>
              </a:rPr>
              <a:t>cho</a:t>
            </a:r>
            <a:r>
              <a:rPr lang="en-US" sz="1600" dirty="0">
                <a:solidFill>
                  <a:srgbClr val="000000"/>
                </a:solidFill>
                <a:effectLst/>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ứng</a:t>
            </a:r>
            <a:r>
              <a:rPr lang="en-US" sz="1600" dirty="0" smtClean="0">
                <a:latin typeface="Times New Roman" panose="02020603050405020304" pitchFamily="18" charset="0"/>
                <a:ea typeface="Calibri" panose="020F0502020204030204" pitchFamily="34" charset="0"/>
              </a:rPr>
              <a:t> dụng khi </a:t>
            </a:r>
            <a:r>
              <a:rPr lang="en-US" sz="1600" dirty="0" err="1" smtClean="0">
                <a:latin typeface="Times New Roman" panose="02020603050405020304" pitchFamily="18" charset="0"/>
                <a:ea typeface="Calibri" panose="020F0502020204030204" pitchFamily="34" charset="0"/>
              </a:rPr>
              <a:t>vận</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hành</a:t>
            </a:r>
            <a:r>
              <a:rPr lang="en-US" sz="1600" dirty="0" smtClean="0">
                <a:solidFill>
                  <a:srgbClr val="000000"/>
                </a:solidFill>
                <a:effectLst/>
                <a:latin typeface="Times New Roman" panose="02020603050405020304" pitchFamily="18" charset="0"/>
                <a:ea typeface="Calibri" panose="020F0502020204030204" pitchFamily="34" charset="0"/>
              </a:rPr>
              <a:t>. </a:t>
            </a:r>
            <a:endParaRPr lang="en-US" sz="1600" dirty="0">
              <a:solidFill>
                <a:schemeClr val="dk1"/>
              </a:solidFill>
              <a:latin typeface="Merriweather Sans"/>
              <a:ea typeface="Merriweather Sans"/>
              <a:cs typeface="Merriweather Sans"/>
              <a:sym typeface="Merriweather Sans"/>
            </a:endParaRPr>
          </a:p>
        </p:txBody>
      </p:sp>
      <p:sp>
        <p:nvSpPr>
          <p:cNvPr id="197" name="Google Shape;197;p18"/>
          <p:cNvSpPr txBox="1"/>
          <p:nvPr/>
        </p:nvSpPr>
        <p:spPr>
          <a:xfrm>
            <a:off x="514350" y="509588"/>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5. Kết quả và hướng phát triển</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
        <p:nvSpPr>
          <p:cNvPr id="10" name="Google Shape;206;p19">
            <a:extLst>
              <a:ext uri="{FF2B5EF4-FFF2-40B4-BE49-F238E27FC236}">
                <a16:creationId xmlns:a16="http://schemas.microsoft.com/office/drawing/2014/main" id="{C934877B-AA11-AA70-9C55-46D04FDB39EE}"/>
              </a:ext>
            </a:extLst>
          </p:cNvPr>
          <p:cNvSpPr/>
          <p:nvPr/>
        </p:nvSpPr>
        <p:spPr>
          <a:xfrm>
            <a:off x="0" y="1610400"/>
            <a:ext cx="9144000" cy="627863"/>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11" name="Google Shape;208;p19">
            <a:extLst>
              <a:ext uri="{FF2B5EF4-FFF2-40B4-BE49-F238E27FC236}">
                <a16:creationId xmlns:a16="http://schemas.microsoft.com/office/drawing/2014/main" id="{39AD8B06-ECA6-C1B5-094B-6137DE28C8AE}"/>
              </a:ext>
            </a:extLst>
          </p:cNvPr>
          <p:cNvSpPr txBox="1"/>
          <p:nvPr/>
        </p:nvSpPr>
        <p:spPr>
          <a:xfrm>
            <a:off x="514350" y="1755295"/>
            <a:ext cx="7704738" cy="619400"/>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5.1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Kết</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quả</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700" dirty="0">
              <a:solidFill>
                <a:schemeClr val="dk1"/>
              </a:solidFill>
              <a:latin typeface="Merriweather Sans"/>
              <a:ea typeface="Merriweather Sans"/>
              <a:cs typeface="Merriweather Sans"/>
              <a:sym typeface="Merriweather Sans"/>
            </a:endParaRPr>
          </a:p>
        </p:txBody>
      </p:sp>
    </p:spTree>
    <p:extLst>
      <p:ext uri="{BB962C8B-B14F-4D97-AF65-F5344CB8AC3E}">
        <p14:creationId xmlns:p14="http://schemas.microsoft.com/office/powerpoint/2010/main" val="31506893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975516"/>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9" name="Google Shape;189;p18"/>
          <p:cNvSpPr txBox="1"/>
          <p:nvPr/>
        </p:nvSpPr>
        <p:spPr>
          <a:xfrm>
            <a:off x="542875" y="2033332"/>
            <a:ext cx="8313644" cy="2585323"/>
          </a:xfrm>
          <a:prstGeom prst="rect">
            <a:avLst/>
          </a:prstGeom>
          <a:noFill/>
          <a:ln>
            <a:noFill/>
          </a:ln>
        </p:spPr>
        <p:txBody>
          <a:bodyPr spcFirstLastPara="1" wrap="square" lIns="0" tIns="0" rIns="0" bIns="0" anchor="t" anchorCtr="0">
            <a:spAutoFit/>
          </a:bodyPr>
          <a:lstStyle/>
          <a:p>
            <a:pPr marL="285750" lvl="0" indent="-285750" algn="just">
              <a:lnSpc>
                <a:spcPct val="150000"/>
              </a:lnSpc>
              <a:buFont typeface="Arial" panose="020B0604020202020204" pitchFamily="34" charset="0"/>
              <a:buChar char="•"/>
            </a:pPr>
            <a:r>
              <a:rPr lang="vi-VN" sz="1600" dirty="0">
                <a:latin typeface="Times New Roman" panose="02020603050405020304" pitchFamily="18" charset="0"/>
                <a:ea typeface="Calibri" panose="020F0502020204030204" pitchFamily="34" charset="0"/>
              </a:rPr>
              <a:t>Chức năng đặt xe có thể xử lý linh hoạt, đáp ứng được </a:t>
            </a:r>
            <a:r>
              <a:rPr lang="en-US" sz="1600" dirty="0" err="1" smtClean="0">
                <a:latin typeface="Times New Roman" panose="02020603050405020304" pitchFamily="18" charset="0"/>
                <a:ea typeface="Calibri" panose="020F0502020204030204" pitchFamily="34" charset="0"/>
              </a:rPr>
              <a:t>một</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số</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yêu</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cầu</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thực</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tế</a:t>
            </a:r>
            <a:r>
              <a:rPr lang="en-US" sz="1600" dirty="0" smtClean="0">
                <a:solidFill>
                  <a:srgbClr val="000000"/>
                </a:solidFill>
                <a:effectLst/>
                <a:latin typeface="Times New Roman" panose="02020603050405020304" pitchFamily="18" charset="0"/>
                <a:ea typeface="Calibri" panose="020F0502020204030204" pitchFamily="34" charset="0"/>
              </a:rPr>
              <a:t>.</a:t>
            </a:r>
            <a:endParaRPr lang="en-US" sz="1600" dirty="0">
              <a:solidFill>
                <a:srgbClr val="000000"/>
              </a:solidFill>
              <a:effectLst/>
              <a:latin typeface="Times New Roman" panose="02020603050405020304" pitchFamily="18" charset="0"/>
              <a:ea typeface="Calibri" panose="020F0502020204030204" pitchFamily="34" charset="0"/>
            </a:endParaRPr>
          </a:p>
          <a:p>
            <a:pPr marL="285750" lvl="0" indent="-285750" algn="just">
              <a:lnSpc>
                <a:spcPct val="150000"/>
              </a:lnSpc>
              <a:buFont typeface="Arial" panose="020B0604020202020204" pitchFamily="34" charset="0"/>
              <a:buChar char="•"/>
            </a:pPr>
            <a:r>
              <a:rPr lang="vi-VN" sz="1600" dirty="0">
                <a:latin typeface="Times New Roman" panose="02020603050405020304" pitchFamily="18" charset="0"/>
                <a:ea typeface="Calibri" panose="020F0502020204030204" pitchFamily="34" charset="0"/>
              </a:rPr>
              <a:t>Ứng dụng giúp người dùng dễ dàng đặt xe một cách thuận tiện, dễ dàng sử dụng, quản lý các thông tin đơn </a:t>
            </a:r>
            <a:r>
              <a:rPr lang="vi-VN" sz="1600" dirty="0" smtClean="0">
                <a:latin typeface="Times New Roman" panose="02020603050405020304" pitchFamily="18" charset="0"/>
                <a:ea typeface="Calibri" panose="020F0502020204030204" pitchFamily="34" charset="0"/>
              </a:rPr>
              <a:t>giản</a:t>
            </a:r>
            <a:endParaRPr lang="en-US" sz="1600" dirty="0" smtClean="0">
              <a:latin typeface="Times New Roman" panose="02020603050405020304" pitchFamily="18" charset="0"/>
              <a:ea typeface="Calibri" panose="020F0502020204030204" pitchFamily="34" charset="0"/>
            </a:endParaRPr>
          </a:p>
          <a:p>
            <a:pPr marL="285750" lvl="0" indent="-285750" algn="just">
              <a:lnSpc>
                <a:spcPct val="150000"/>
              </a:lnSpc>
              <a:buFont typeface="Arial" panose="020B0604020202020204" pitchFamily="34" charset="0"/>
              <a:buChar char="•"/>
            </a:pPr>
            <a:r>
              <a:rPr lang="vi-VN" sz="1600" dirty="0">
                <a:latin typeface="Times New Roman" panose="02020603050405020304" pitchFamily="18" charset="0"/>
                <a:ea typeface="Calibri" panose="020F0502020204030204" pitchFamily="34" charset="0"/>
              </a:rPr>
              <a:t>Có khả năng theo dõi vị trí các xe trực tuyến, giúp khách hàng biết được thời gian đến và giúp quản lý hiệu quả tuyến đường và lịch </a:t>
            </a:r>
            <a:r>
              <a:rPr lang="vi-VN" sz="1600" dirty="0" smtClean="0">
                <a:latin typeface="Times New Roman" panose="02020603050405020304" pitchFamily="18" charset="0"/>
                <a:ea typeface="Calibri" panose="020F0502020204030204" pitchFamily="34" charset="0"/>
              </a:rPr>
              <a:t>trình</a:t>
            </a:r>
            <a:endParaRPr lang="en-US" sz="1600" dirty="0" smtClean="0">
              <a:latin typeface="Times New Roman" panose="02020603050405020304" pitchFamily="18" charset="0"/>
              <a:ea typeface="Calibri" panose="020F0502020204030204" pitchFamily="34" charset="0"/>
            </a:endParaRPr>
          </a:p>
          <a:p>
            <a:pPr marL="285750" lvl="0" indent="-285750" algn="just">
              <a:lnSpc>
                <a:spcPct val="150000"/>
              </a:lnSpc>
              <a:buFont typeface="Arial" panose="020B0604020202020204" pitchFamily="34" charset="0"/>
              <a:buChar char="•"/>
            </a:pPr>
            <a:r>
              <a:rPr lang="vi-VN" sz="1600" dirty="0">
                <a:latin typeface="Times New Roman" panose="02020603050405020304" pitchFamily="18" charset="0"/>
                <a:ea typeface="Calibri" panose="020F0502020204030204" pitchFamily="34" charset="0"/>
              </a:rPr>
              <a:t>Tích hợp hệ thống đánh giá và phản hồi giúp cải thiện chất lượng dịch vụ và ổn định trong quá trình vận hành.</a:t>
            </a:r>
            <a:endParaRPr lang="en-US" sz="1600" dirty="0">
              <a:solidFill>
                <a:srgbClr val="000000"/>
              </a:solidFill>
              <a:effectLst/>
              <a:latin typeface="Times New Roman" panose="02020603050405020304" pitchFamily="18" charset="0"/>
              <a:ea typeface="Calibri" panose="020F0502020204030204" pitchFamily="34" charset="0"/>
            </a:endParaRPr>
          </a:p>
        </p:txBody>
      </p:sp>
      <p:sp>
        <p:nvSpPr>
          <p:cNvPr id="197" name="Google Shape;197;p18"/>
          <p:cNvSpPr txBox="1"/>
          <p:nvPr/>
        </p:nvSpPr>
        <p:spPr>
          <a:xfrm>
            <a:off x="419042" y="137530"/>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5. Kết quả và hướng phát triển</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
        <p:nvSpPr>
          <p:cNvPr id="10" name="Google Shape;206;p19">
            <a:extLst>
              <a:ext uri="{FF2B5EF4-FFF2-40B4-BE49-F238E27FC236}">
                <a16:creationId xmlns:a16="http://schemas.microsoft.com/office/drawing/2014/main" id="{C934877B-AA11-AA70-9C55-46D04FDB39EE}"/>
              </a:ext>
            </a:extLst>
          </p:cNvPr>
          <p:cNvSpPr/>
          <p:nvPr/>
        </p:nvSpPr>
        <p:spPr>
          <a:xfrm>
            <a:off x="0" y="975259"/>
            <a:ext cx="9144000" cy="627863"/>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lang="en-US" dirty="0"/>
          </a:p>
        </p:txBody>
      </p:sp>
      <p:sp>
        <p:nvSpPr>
          <p:cNvPr id="11" name="Google Shape;208;p19">
            <a:extLst>
              <a:ext uri="{FF2B5EF4-FFF2-40B4-BE49-F238E27FC236}">
                <a16:creationId xmlns:a16="http://schemas.microsoft.com/office/drawing/2014/main" id="{39AD8B06-ECA6-C1B5-094B-6137DE28C8AE}"/>
              </a:ext>
            </a:extLst>
          </p:cNvPr>
          <p:cNvSpPr txBox="1"/>
          <p:nvPr/>
        </p:nvSpPr>
        <p:spPr>
          <a:xfrm>
            <a:off x="704453" y="1137417"/>
            <a:ext cx="7704738" cy="637097"/>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5.2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Ưu</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nhược</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điểm</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và</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thách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thức</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2" name="TextBox 1">
            <a:extLst>
              <a:ext uri="{FF2B5EF4-FFF2-40B4-BE49-F238E27FC236}">
                <a16:creationId xmlns:a16="http://schemas.microsoft.com/office/drawing/2014/main" id="{669F3AB4-70E2-6C3F-E3FA-CEC943313907}"/>
              </a:ext>
            </a:extLst>
          </p:cNvPr>
          <p:cNvSpPr txBox="1"/>
          <p:nvPr/>
        </p:nvSpPr>
        <p:spPr>
          <a:xfrm>
            <a:off x="135927" y="1694778"/>
            <a:ext cx="1197764" cy="338554"/>
          </a:xfrm>
          <a:prstGeom prst="rect">
            <a:avLst/>
          </a:prstGeom>
          <a:noFill/>
        </p:spPr>
        <p:txBody>
          <a:bodyPr wrap="none" rtlCol="0">
            <a:spAutoFit/>
          </a:bodyPr>
          <a:lstStyle/>
          <a:p>
            <a:pPr marL="285750" indent="-285750">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Ưu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267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975516"/>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7" name="Google Shape;197;p18"/>
          <p:cNvSpPr txBox="1"/>
          <p:nvPr/>
        </p:nvSpPr>
        <p:spPr>
          <a:xfrm>
            <a:off x="419042" y="137530"/>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5. Kết quả và hướng phát triển</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
        <p:nvSpPr>
          <p:cNvPr id="10" name="Google Shape;206;p19">
            <a:extLst>
              <a:ext uri="{FF2B5EF4-FFF2-40B4-BE49-F238E27FC236}">
                <a16:creationId xmlns:a16="http://schemas.microsoft.com/office/drawing/2014/main" id="{C934877B-AA11-AA70-9C55-46D04FDB39EE}"/>
              </a:ext>
            </a:extLst>
          </p:cNvPr>
          <p:cNvSpPr/>
          <p:nvPr/>
        </p:nvSpPr>
        <p:spPr>
          <a:xfrm>
            <a:off x="0" y="975259"/>
            <a:ext cx="9144000" cy="627863"/>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lang="en-US" dirty="0"/>
          </a:p>
        </p:txBody>
      </p:sp>
      <p:sp>
        <p:nvSpPr>
          <p:cNvPr id="11" name="Google Shape;208;p19">
            <a:extLst>
              <a:ext uri="{FF2B5EF4-FFF2-40B4-BE49-F238E27FC236}">
                <a16:creationId xmlns:a16="http://schemas.microsoft.com/office/drawing/2014/main" id="{39AD8B06-ECA6-C1B5-094B-6137DE28C8AE}"/>
              </a:ext>
            </a:extLst>
          </p:cNvPr>
          <p:cNvSpPr txBox="1"/>
          <p:nvPr/>
        </p:nvSpPr>
        <p:spPr>
          <a:xfrm>
            <a:off x="704453" y="1137417"/>
            <a:ext cx="7704738" cy="637097"/>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5.2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Ưu</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nhược</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điểm</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và</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thách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thức</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3" name="TextBox 2">
            <a:extLst>
              <a:ext uri="{FF2B5EF4-FFF2-40B4-BE49-F238E27FC236}">
                <a16:creationId xmlns:a16="http://schemas.microsoft.com/office/drawing/2014/main" id="{AEDB6CE9-E196-9813-5737-B81E3811273F}"/>
              </a:ext>
            </a:extLst>
          </p:cNvPr>
          <p:cNvSpPr txBox="1"/>
          <p:nvPr/>
        </p:nvSpPr>
        <p:spPr>
          <a:xfrm>
            <a:off x="141767" y="1645243"/>
            <a:ext cx="2653290" cy="338554"/>
          </a:xfrm>
          <a:prstGeom prst="rect">
            <a:avLst/>
          </a:prstGeom>
          <a:noFill/>
        </p:spPr>
        <p:txBody>
          <a:bodyPr wrap="none" rtlCol="0">
            <a:spAutoFit/>
          </a:bodyPr>
          <a:lstStyle/>
          <a:p>
            <a:pPr marL="285750" indent="-285750">
              <a:buFont typeface="Wingdings" panose="05000000000000000000" pitchFamily="2" charset="2"/>
              <a:buChar char="v"/>
            </a:pPr>
            <a:r>
              <a:rPr lang="en-US" sz="1600" dirty="0" err="1">
                <a:latin typeface="Times New Roman" panose="02020603050405020304" pitchFamily="18" charset="0"/>
                <a:cs typeface="Times New Roman" panose="02020603050405020304" pitchFamily="18" charset="0"/>
              </a:rPr>
              <a:t>Nhược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thức</a:t>
            </a:r>
            <a:endParaRPr lang="en-US" sz="1600" dirty="0">
              <a:latin typeface="Times New Roman" panose="02020603050405020304" pitchFamily="18" charset="0"/>
              <a:cs typeface="Times New Roman" panose="02020603050405020304" pitchFamily="18" charset="0"/>
            </a:endParaRPr>
          </a:p>
        </p:txBody>
      </p:sp>
      <p:sp>
        <p:nvSpPr>
          <p:cNvPr id="4" name="Google Shape;189;p18">
            <a:extLst>
              <a:ext uri="{FF2B5EF4-FFF2-40B4-BE49-F238E27FC236}">
                <a16:creationId xmlns:a16="http://schemas.microsoft.com/office/drawing/2014/main" id="{13BB8990-DC66-E09C-223F-5BFA625109D4}"/>
              </a:ext>
            </a:extLst>
          </p:cNvPr>
          <p:cNvSpPr txBox="1"/>
          <p:nvPr/>
        </p:nvSpPr>
        <p:spPr>
          <a:xfrm>
            <a:off x="400000" y="2107250"/>
            <a:ext cx="8313644" cy="1107996"/>
          </a:xfrm>
          <a:prstGeom prst="rect">
            <a:avLst/>
          </a:prstGeom>
          <a:noFill/>
          <a:ln>
            <a:noFill/>
          </a:ln>
        </p:spPr>
        <p:txBody>
          <a:bodyPr spcFirstLastPara="1" wrap="square" lIns="0" tIns="0" rIns="0" bIns="0" anchor="t" anchorCtr="0">
            <a:spAutoFit/>
          </a:bodyPr>
          <a:lstStyle/>
          <a:p>
            <a:pPr marL="285750" lvl="0" indent="-285750" algn="just">
              <a:lnSpc>
                <a:spcPct val="150000"/>
              </a:lnSpc>
              <a:buFont typeface="Arial" panose="020B0604020202020204" pitchFamily="34" charset="0"/>
              <a:buChar char="•"/>
            </a:pPr>
            <a:r>
              <a:rPr lang="vi-VN" sz="1600" dirty="0">
                <a:latin typeface="Times New Roman" panose="02020603050405020304" pitchFamily="18" charset="0"/>
                <a:ea typeface="Calibri" panose="020F0502020204030204" pitchFamily="34" charset="0"/>
              </a:rPr>
              <a:t>Đặc biệt quan trọng đối với thông tin thanh toán và dữ liệu cá nhân, hệ thống bảo mật cao chưa cao để tránh rủi ro mất thông tin</a:t>
            </a:r>
            <a:r>
              <a:rPr lang="vi-VN" sz="1600" dirty="0" smtClean="0">
                <a:latin typeface="Times New Roman" panose="02020603050405020304" pitchFamily="18" charset="0"/>
                <a:ea typeface="Calibri" panose="020F0502020204030204" pitchFamily="34" charset="0"/>
              </a:rPr>
              <a:t>.</a:t>
            </a:r>
            <a:endParaRPr lang="en-US" sz="1600" dirty="0" smtClean="0">
              <a:latin typeface="Times New Roman" panose="02020603050405020304" pitchFamily="18" charset="0"/>
              <a:ea typeface="Calibri" panose="020F0502020204030204" pitchFamily="34" charset="0"/>
            </a:endParaRPr>
          </a:p>
          <a:p>
            <a:pPr marL="285750" lvl="0" indent="-285750" algn="just">
              <a:lnSpc>
                <a:spcPct val="150000"/>
              </a:lnSpc>
              <a:buFont typeface="Arial" panose="020B0604020202020204" pitchFamily="34" charset="0"/>
              <a:buChar char="•"/>
            </a:pPr>
            <a:r>
              <a:rPr lang="en-US" sz="1600" dirty="0" err="1">
                <a:latin typeface="Times New Roman" panose="02020603050405020304" pitchFamily="18" charset="0"/>
                <a:ea typeface="Calibri" panose="020F0502020204030204" pitchFamily="34" charset="0"/>
              </a:rPr>
              <a:t>Chức</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năng</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thanh</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toán</a:t>
            </a:r>
            <a:r>
              <a:rPr lang="en-US" sz="1600" dirty="0">
                <a:latin typeface="Times New Roman" panose="02020603050405020304" pitchFamily="18" charset="0"/>
                <a:ea typeface="Calibri" panose="020F0502020204030204" pitchFamily="34" charset="0"/>
              </a:rPr>
              <a:t> qua VISA </a:t>
            </a:r>
            <a:r>
              <a:rPr lang="en-US" sz="1600" dirty="0" err="1">
                <a:latin typeface="Times New Roman" panose="02020603050405020304" pitchFamily="18" charset="0"/>
                <a:ea typeface="Calibri" panose="020F0502020204030204" pitchFamily="34" charset="0"/>
              </a:rPr>
              <a:t>vẫn</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còn</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nhiều</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hạn</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chế</a:t>
            </a:r>
            <a:r>
              <a:rPr lang="en-US" sz="1600" dirty="0">
                <a:latin typeface="Times New Roman" panose="02020603050405020304" pitchFamily="18" charset="0"/>
                <a:ea typeface="Calibri" panose="020F0502020204030204" pitchFamily="34" charset="0"/>
              </a:rPr>
              <a:t> do </a:t>
            </a:r>
            <a:r>
              <a:rPr lang="en-US" sz="1600" dirty="0" err="1">
                <a:latin typeface="Times New Roman" panose="02020603050405020304" pitchFamily="18" charset="0"/>
                <a:ea typeface="Calibri" panose="020F0502020204030204" pitchFamily="34" charset="0"/>
              </a:rPr>
              <a:t>vẫn</a:t>
            </a:r>
            <a:r>
              <a:rPr lang="en-US" sz="1600" dirty="0">
                <a:latin typeface="Times New Roman" panose="02020603050405020304" pitchFamily="18" charset="0"/>
                <a:ea typeface="Calibri" panose="020F0502020204030204" pitchFamily="34" charset="0"/>
              </a:rPr>
              <a:t> </a:t>
            </a:r>
            <a:r>
              <a:rPr lang="en-US" sz="1600" dirty="0" err="1">
                <a:latin typeface="Times New Roman" panose="02020603050405020304" pitchFamily="18" charset="0"/>
                <a:ea typeface="Calibri" panose="020F0502020204030204" pitchFamily="34" charset="0"/>
              </a:rPr>
              <a:t>sử</a:t>
            </a:r>
            <a:r>
              <a:rPr lang="en-US" sz="1600" dirty="0">
                <a:latin typeface="Times New Roman" panose="02020603050405020304" pitchFamily="18" charset="0"/>
                <a:ea typeface="Calibri" panose="020F0502020204030204" pitchFamily="34" charset="0"/>
              </a:rPr>
              <a:t> dụng tài khoản </a:t>
            </a:r>
            <a:r>
              <a:rPr lang="en-US" sz="1600" dirty="0" err="1" smtClean="0">
                <a:latin typeface="Times New Roman" panose="02020603050405020304" pitchFamily="18" charset="0"/>
                <a:ea typeface="Calibri" panose="020F0502020204030204" pitchFamily="34" charset="0"/>
              </a:rPr>
              <a:t>thử</a:t>
            </a:r>
            <a:r>
              <a:rPr lang="en-US" sz="1600" dirty="0" smtClean="0">
                <a:latin typeface="Times New Roman" panose="02020603050405020304" pitchFamily="18" charset="0"/>
                <a:ea typeface="Calibri" panose="020F0502020204030204" pitchFamily="34" charset="0"/>
              </a:rPr>
              <a:t> </a:t>
            </a:r>
            <a:r>
              <a:rPr lang="en-US" sz="1600" dirty="0" err="1" smtClean="0">
                <a:latin typeface="Times New Roman" panose="02020603050405020304" pitchFamily="18" charset="0"/>
                <a:ea typeface="Calibri" panose="020F0502020204030204" pitchFamily="34" charset="0"/>
              </a:rPr>
              <a:t>nghiệm</a:t>
            </a:r>
            <a:r>
              <a:rPr lang="en-US" sz="1600" dirty="0" smtClean="0">
                <a:latin typeface="Times New Roman" panose="02020603050405020304" pitchFamily="18" charset="0"/>
                <a:ea typeface="Calibri" panose="020F0502020204030204" pitchFamily="34" charset="0"/>
              </a:rPr>
              <a:t>.</a:t>
            </a:r>
            <a:endParaRPr lang="en-US" sz="1600"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7588173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975516"/>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9" name="Google Shape;189;p18"/>
          <p:cNvSpPr txBox="1"/>
          <p:nvPr/>
        </p:nvSpPr>
        <p:spPr>
          <a:xfrm>
            <a:off x="419042" y="1669431"/>
            <a:ext cx="8313644" cy="3000821"/>
          </a:xfrm>
          <a:prstGeom prst="rect">
            <a:avLst/>
          </a:prstGeom>
          <a:noFill/>
          <a:ln>
            <a:noFill/>
          </a:ln>
        </p:spPr>
        <p:txBody>
          <a:bodyPr spcFirstLastPara="1" wrap="square" lIns="0" tIns="0" rIns="0" bIns="0" anchor="t" anchorCtr="0">
            <a:spAutoFit/>
          </a:bodyPr>
          <a:lstStyle/>
          <a:p>
            <a:pPr marL="285750" lvl="0" indent="-285750" algn="just">
              <a:lnSpc>
                <a:spcPct val="150000"/>
              </a:lnSpc>
              <a:buFont typeface="Wingdings" panose="05000000000000000000" pitchFamily="2" charset="2"/>
              <a:buChar char="v"/>
            </a:pPr>
            <a:r>
              <a:rPr lang="vi-VN"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Phát triển mô hình đa nền tảng để xây dựng hệ thống tích hợp trên nhiều nền tảng khác như window, Android và thực hiện tập trung quản lý dữ liệu bằng web server</a:t>
            </a:r>
            <a:r>
              <a:rPr lang="vi-VN" sz="16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a:t>
            </a:r>
            <a:endParaRPr lang="en-US" sz="16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285750" lvl="0" indent="-285750" algn="just">
              <a:lnSpc>
                <a:spcPct val="150000"/>
              </a:lnSpc>
              <a:buFont typeface="Wingdings" panose="05000000000000000000" pitchFamily="2" charset="2"/>
              <a:buChar char="v"/>
            </a:pP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Ứng</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dụng tài khoản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doanh</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nghiệp</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vào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thanh</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toán</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VISA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để</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đáp</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ứng</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đầy</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đủ</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các</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chức</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năng</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thanh</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6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toán</a:t>
            </a:r>
            <a:r>
              <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 online</a:t>
            </a:r>
            <a:r>
              <a:rPr lang="en-US" sz="16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a:t>
            </a:r>
          </a:p>
          <a:p>
            <a:pPr marL="285750" lvl="0" indent="-285750" algn="just">
              <a:lnSpc>
                <a:spcPct val="150000"/>
              </a:lnSpc>
              <a:buFont typeface="Wingdings" panose="05000000000000000000" pitchFamily="2" charset="2"/>
              <a:buChar char="v"/>
            </a:pPr>
            <a:r>
              <a:rPr lang="vi-VN"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Tăng cường bảo mật và mã hoá dữ liệu: hệ thống sẽ được mã hoá mỗi khi người dùng thực hiện chức năng thông qua server thì dữ liệu sẽ được mã hoá để tăng tính bảo mật</a:t>
            </a:r>
            <a:r>
              <a:rPr lang="vi-VN" sz="16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rPr>
              <a:t>.</a:t>
            </a:r>
            <a:endParaRPr lang="en-US" sz="1600" dirty="0" smtClean="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285750" lvl="0" indent="-285750" algn="just">
              <a:lnSpc>
                <a:spcPct val="150000"/>
              </a:lnSpc>
              <a:buFont typeface="Wingdings" panose="05000000000000000000" pitchFamily="2" charset="2"/>
              <a:buChar char="v"/>
            </a:pPr>
            <a:r>
              <a:rPr lang="vi-VN" sz="1600" dirty="0">
                <a:solidFill>
                  <a:schemeClr val="dk1"/>
                </a:solidFill>
                <a:latin typeface="Times New Roman" panose="02020603050405020304" pitchFamily="18" charset="0"/>
                <a:ea typeface="Merriweather Sans"/>
                <a:cs typeface="Times New Roman" panose="02020603050405020304" pitchFamily="18" charset="0"/>
                <a:sym typeface="Merriweather Sans"/>
              </a:rPr>
              <a:t>Hỗ trợ thêm nhiều nền tảng thanh toán online như MOMO, ZALO PAY và các ứng dụng ngân hàng nội bộ.</a:t>
            </a: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7" name="Google Shape;197;p18"/>
          <p:cNvSpPr txBox="1"/>
          <p:nvPr/>
        </p:nvSpPr>
        <p:spPr>
          <a:xfrm>
            <a:off x="419042" y="137530"/>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5. Kết quả và hướng phát triển</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
        <p:nvSpPr>
          <p:cNvPr id="10" name="Google Shape;206;p19">
            <a:extLst>
              <a:ext uri="{FF2B5EF4-FFF2-40B4-BE49-F238E27FC236}">
                <a16:creationId xmlns:a16="http://schemas.microsoft.com/office/drawing/2014/main" id="{C934877B-AA11-AA70-9C55-46D04FDB39EE}"/>
              </a:ext>
            </a:extLst>
          </p:cNvPr>
          <p:cNvSpPr/>
          <p:nvPr/>
        </p:nvSpPr>
        <p:spPr>
          <a:xfrm>
            <a:off x="0" y="975259"/>
            <a:ext cx="9144000" cy="627863"/>
          </a:xfrm>
          <a:prstGeom prst="rect">
            <a:avLst/>
          </a:prstGeom>
          <a:solidFill>
            <a:schemeClr val="accen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dirty="0"/>
          </a:p>
        </p:txBody>
      </p:sp>
      <p:sp>
        <p:nvSpPr>
          <p:cNvPr id="11" name="Google Shape;208;p19">
            <a:extLst>
              <a:ext uri="{FF2B5EF4-FFF2-40B4-BE49-F238E27FC236}">
                <a16:creationId xmlns:a16="http://schemas.microsoft.com/office/drawing/2014/main" id="{39AD8B06-ECA6-C1B5-094B-6137DE28C8AE}"/>
              </a:ext>
            </a:extLst>
          </p:cNvPr>
          <p:cNvSpPr txBox="1"/>
          <p:nvPr/>
        </p:nvSpPr>
        <p:spPr>
          <a:xfrm>
            <a:off x="704453" y="1137417"/>
            <a:ext cx="7704738" cy="637097"/>
          </a:xfrm>
          <a:prstGeom prst="rect">
            <a:avLst/>
          </a:prstGeom>
          <a:noFill/>
          <a:ln>
            <a:noFill/>
          </a:ln>
        </p:spPr>
        <p:txBody>
          <a:bodyPr spcFirstLastPara="1" wrap="square" lIns="0" tIns="0" rIns="0" bIns="0" anchor="t" anchorCtr="0">
            <a:spAutoFit/>
          </a:bodyPr>
          <a:lstStyle/>
          <a:p>
            <a:pPr algn="ctr">
              <a:lnSpc>
                <a:spcPct val="115000"/>
              </a:lnSpc>
            </a:pPr>
            <a:r>
              <a:rPr lang="en"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5.3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Kế</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hoạch</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phát</a:t>
            </a:r>
            <a:r>
              <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rPr>
              <a:t> </a:t>
            </a:r>
            <a:r>
              <a:rPr lang="en-US" sz="1800" dirty="0" err="1">
                <a:solidFill>
                  <a:schemeClr val="dk1"/>
                </a:solidFill>
                <a:latin typeface="Times New Roman" panose="02020603050405020304" pitchFamily="18" charset="0"/>
                <a:ea typeface="Merriweather Sans"/>
                <a:cs typeface="Times New Roman" panose="02020603050405020304" pitchFamily="18" charset="0"/>
                <a:sym typeface="Merriweather Sans"/>
              </a:rPr>
              <a:t>triển</a:t>
            </a:r>
            <a:endParaRPr lang="en-US"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a:p>
            <a:pPr marL="0" marR="0" lvl="0" indent="0" algn="ctr" rtl="0">
              <a:lnSpc>
                <a:spcPct val="115000"/>
              </a:lnSpc>
              <a:spcBef>
                <a:spcPts val="0"/>
              </a:spcBef>
              <a:spcAft>
                <a:spcPts val="0"/>
              </a:spcAft>
              <a:buNone/>
            </a:pPr>
            <a:endParaRPr sz="18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Tree>
    <p:extLst>
      <p:ext uri="{BB962C8B-B14F-4D97-AF65-F5344CB8AC3E}">
        <p14:creationId xmlns:p14="http://schemas.microsoft.com/office/powerpoint/2010/main" val="1734464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944880"/>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9" name="Google Shape;189;p18"/>
          <p:cNvSpPr txBox="1"/>
          <p:nvPr/>
        </p:nvSpPr>
        <p:spPr>
          <a:xfrm>
            <a:off x="419042" y="1144431"/>
            <a:ext cx="8313644" cy="3893374"/>
          </a:xfrm>
          <a:prstGeom prst="rect">
            <a:avLst/>
          </a:prstGeom>
          <a:noFill/>
          <a:ln>
            <a:noFill/>
          </a:ln>
        </p:spPr>
        <p:txBody>
          <a:bodyPr spcFirstLastPara="1" wrap="square" lIns="0" tIns="0" rIns="0" bIns="0" anchor="t" anchorCtr="0">
            <a:spAutoFit/>
          </a:bodyPr>
          <a:lstStyle/>
          <a:p>
            <a:pPr algn="just"/>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[1</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1600" dirty="0">
                <a:latin typeface="Times New Roman" panose="02020603050405020304" pitchFamily="18" charset="0"/>
                <a:ea typeface="Calibri" panose="020F0502020204030204" pitchFamily="34" charset="0"/>
                <a:cs typeface="Times New Roman" panose="02020603050405020304" pitchFamily="18" charset="0"/>
              </a:rPr>
              <a:t>Lý </a:t>
            </a:r>
            <a:r>
              <a:rPr lang="en-US" sz="1600" dirty="0" err="1">
                <a:latin typeface="Times New Roman" panose="02020603050405020304" pitchFamily="18" charset="0"/>
                <a:ea typeface="Calibri" panose="020F0502020204030204" pitchFamily="34" charset="0"/>
                <a:cs typeface="Times New Roman" panose="02020603050405020304" pitchFamily="18" charset="0"/>
              </a:rPr>
              <a:t>Anh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Tuấn</a:t>
            </a:r>
            <a:r>
              <a:rPr lang="en-US" sz="1600" dirty="0">
                <a:latin typeface="Times New Roman" panose="02020603050405020304" pitchFamily="18" charset="0"/>
                <a:ea typeface="Calibri" panose="020F0502020204030204" pitchFamily="34" charset="0"/>
                <a:cs typeface="Times New Roman" panose="02020603050405020304" pitchFamily="18" charset="0"/>
              </a:rPr>
              <a:t> (2021),”</a:t>
            </a:r>
            <a:r>
              <a:rPr lang="en-US" sz="1600" dirty="0" err="1">
                <a:latin typeface="Times New Roman" panose="02020603050405020304" pitchFamily="18" charset="0"/>
                <a:ea typeface="Calibri" panose="020F0502020204030204" pitchFamily="34" charset="0"/>
                <a:cs typeface="Times New Roman" panose="02020603050405020304" pitchFamily="18" charset="0"/>
              </a:rPr>
              <a:t>Giáo</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lập</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Asp.net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mvc</a:t>
            </a:r>
            <a:r>
              <a:rPr lang="en-US" sz="1600" dirty="0">
                <a:latin typeface="Times New Roman" panose="02020603050405020304" pitchFamily="18" charset="0"/>
                <a:ea typeface="Calibri" panose="020F0502020204030204" pitchFamily="34" charset="0"/>
                <a:cs typeface="Times New Roman" panose="02020603050405020304" pitchFamily="18" charset="0"/>
              </a:rPr>
              <a:t> framework”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Đại</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Học</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Bách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Khoa</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Hà</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Nội</a:t>
            </a:r>
            <a:r>
              <a:rPr lang="en-US" sz="1600" dirty="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effectLst/>
              <a:latin typeface="Calibri Light" panose="020F0302020204030204" pitchFamily="34" charset="0"/>
              <a:ea typeface="Calibri" panose="020F0502020204030204" pitchFamily="34" charset="0"/>
              <a:cs typeface="Times New Roman" panose="02020603050405020304" pitchFamily="18" charset="0"/>
            </a:endParaRPr>
          </a:p>
          <a:p>
            <a:pPr algn="just">
              <a:spcAft>
                <a:spcPts val="600"/>
              </a:spcAft>
            </a:pP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Duy</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Phong</a:t>
            </a:r>
            <a:r>
              <a:rPr lang="en-US" sz="1600" dirty="0">
                <a:latin typeface="Times New Roman" panose="02020603050405020304" pitchFamily="18" charset="0"/>
                <a:ea typeface="Calibri" panose="020F0502020204030204" pitchFamily="34" charset="0"/>
                <a:cs typeface="Times New Roman" panose="02020603050405020304" pitchFamily="18" charset="0"/>
              </a:rPr>
              <a:t> (2016),”</a:t>
            </a:r>
            <a:r>
              <a:rPr lang="en-US" sz="1600" dirty="0" err="1">
                <a:latin typeface="Times New Roman" panose="02020603050405020304" pitchFamily="18" charset="0"/>
                <a:ea typeface="Calibri" panose="020F0502020204030204" pitchFamily="34" charset="0"/>
                <a:cs typeface="Times New Roman" panose="02020603050405020304" pitchFamily="18" charset="0"/>
              </a:rPr>
              <a:t>Xây</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dựng</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phần</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mềm</a:t>
            </a:r>
            <a:r>
              <a:rPr lang="en-US" sz="1600" dirty="0">
                <a:latin typeface="Times New Roman" panose="02020603050405020304" pitchFamily="18" charset="0"/>
                <a:ea typeface="Calibri" panose="020F0502020204030204" pitchFamily="34" charset="0"/>
                <a:cs typeface="Times New Roman" panose="02020603050405020304" pitchFamily="18" charset="0"/>
              </a:rPr>
              <a:t> đặt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xe</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Đại</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Học</a:t>
            </a:r>
            <a:r>
              <a:rPr lang="en-US" sz="1600" dirty="0">
                <a:latin typeface="Times New Roman" panose="02020603050405020304" pitchFamily="18" charset="0"/>
                <a:ea typeface="Calibri" panose="020F0502020204030204" pitchFamily="34" charset="0"/>
                <a:cs typeface="Times New Roman" panose="02020603050405020304" pitchFamily="18" charset="0"/>
              </a:rPr>
              <a:t> FPT TPHCM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3</a:t>
            </a: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Gia</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Quang</a:t>
            </a:r>
            <a:r>
              <a:rPr lang="en-US" sz="1600" dirty="0">
                <a:latin typeface="Times New Roman" panose="02020603050405020304" pitchFamily="18" charset="0"/>
                <a:ea typeface="Calibri" panose="020F0502020204030204" pitchFamily="34" charset="0"/>
                <a:cs typeface="Times New Roman" panose="02020603050405020304" pitchFamily="18" charset="0"/>
              </a:rPr>
              <a:t> Đăng (2006),”</a:t>
            </a:r>
            <a:r>
              <a:rPr lang="en-US" sz="1600" dirty="0" err="1">
                <a:latin typeface="Times New Roman" panose="02020603050405020304" pitchFamily="18" charset="0"/>
                <a:ea typeface="Calibri" panose="020F0502020204030204" pitchFamily="34" charset="0"/>
                <a:cs typeface="Times New Roman" panose="02020603050405020304" pitchFamily="18" charset="0"/>
              </a:rPr>
              <a:t>Giáo</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lập</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website C#”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Đại</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Học</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Công</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Nghệ</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Thông</a:t>
            </a:r>
            <a:r>
              <a:rPr lang="en-US" sz="1600" dirty="0">
                <a:latin typeface="Times New Roman" panose="02020603050405020304" pitchFamily="18" charset="0"/>
                <a:ea typeface="Calibri" panose="020F0502020204030204" pitchFamily="34" charset="0"/>
                <a:cs typeface="Times New Roman" panose="02020603050405020304" pitchFamily="18" charset="0"/>
              </a:rPr>
              <a:t> Tin</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4</a:t>
            </a: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vi-VN" sz="1600" dirty="0">
                <a:latin typeface="Times New Roman" panose="02020603050405020304" pitchFamily="18" charset="0"/>
                <a:ea typeface="Calibri" panose="020F0502020204030204" pitchFamily="34" charset="0"/>
                <a:cs typeface="Times New Roman" panose="02020603050405020304" pitchFamily="18" charset="0"/>
              </a:rPr>
              <a:t>Phương Lan (2002), “Lập trình Website với C# Asp.net mvc .NET” Lao động xã hội</a:t>
            </a:r>
            <a:r>
              <a:rPr lang="vi-VN"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[5]. </a:t>
            </a:r>
            <a:r>
              <a:rPr lang="vi-VN" sz="1600" dirty="0">
                <a:latin typeface="Times New Roman" panose="02020603050405020304" pitchFamily="18" charset="0"/>
                <a:ea typeface="Calibri" panose="020F0502020204030204" pitchFamily="34" charset="0"/>
                <a:cs typeface="Times New Roman" panose="02020603050405020304" pitchFamily="18" charset="0"/>
              </a:rPr>
              <a:t>Phạm Quang Huy (2008), “Lập trình hướng đối tượng” Đại Học Đà Lạt</a:t>
            </a:r>
            <a:r>
              <a:rPr lang="vi-VN"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[6]. </a:t>
            </a:r>
            <a:r>
              <a:rPr lang="vi-VN" sz="1600" dirty="0">
                <a:latin typeface="Times New Roman" panose="02020603050405020304" pitchFamily="18" charset="0"/>
                <a:ea typeface="Calibri" panose="020F0502020204030204" pitchFamily="34" charset="0"/>
                <a:cs typeface="Times New Roman" panose="02020603050405020304" pitchFamily="18" charset="0"/>
              </a:rPr>
              <a:t>Hoàng Vũ (2014),”Tài liệu hướng dẫn thực hành lập trình trên môi trường Asp.net mvc”, Đại Học Quốc Gia TPHCM</a:t>
            </a:r>
            <a:r>
              <a:rPr lang="vi-VN"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[7].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Trung</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Thành</a:t>
            </a:r>
            <a:r>
              <a:rPr lang="en-US" sz="1600" dirty="0">
                <a:latin typeface="Times New Roman" panose="02020603050405020304" pitchFamily="18" charset="0"/>
                <a:ea typeface="Calibri" panose="020F0502020204030204" pitchFamily="34" charset="0"/>
                <a:cs typeface="Times New Roman" panose="02020603050405020304" pitchFamily="18" charset="0"/>
              </a:rPr>
              <a:t> (2019),”</a:t>
            </a:r>
            <a:r>
              <a:rPr lang="en-US" sz="1600" dirty="0" err="1">
                <a:latin typeface="Times New Roman" panose="02020603050405020304" pitchFamily="18" charset="0"/>
                <a:ea typeface="Calibri" panose="020F0502020204030204" pitchFamily="34" charset="0"/>
                <a:cs typeface="Times New Roman" panose="02020603050405020304" pitchFamily="18" charset="0"/>
              </a:rPr>
              <a:t>Giáo</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lập</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trình</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nâng</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cao</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Đại</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Học</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Quốc</a:t>
            </a:r>
            <a:r>
              <a:rPr lang="en-US" sz="1600" dirty="0">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latin typeface="Times New Roman" panose="02020603050405020304" pitchFamily="18" charset="0"/>
                <a:ea typeface="Calibri" panose="020F0502020204030204" pitchFamily="34" charset="0"/>
                <a:cs typeface="Times New Roman" panose="02020603050405020304" pitchFamily="18" charset="0"/>
              </a:rPr>
              <a:t>Gia</a:t>
            </a:r>
            <a:r>
              <a:rPr lang="en-US" sz="1600" dirty="0">
                <a:latin typeface="Times New Roman" panose="02020603050405020304" pitchFamily="18" charset="0"/>
                <a:ea typeface="Calibri" panose="020F0502020204030204" pitchFamily="34" charset="0"/>
                <a:cs typeface="Times New Roman" panose="02020603050405020304" pitchFamily="18" charset="0"/>
              </a:rPr>
              <a:t> TPHCM</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[8]. </a:t>
            </a:r>
            <a:r>
              <a:rPr lang="vi-VN" sz="1600" dirty="0">
                <a:latin typeface="Times New Roman" panose="02020603050405020304" pitchFamily="18" charset="0"/>
                <a:ea typeface="Calibri" panose="020F0502020204030204" pitchFamily="34" charset="0"/>
                <a:cs typeface="Times New Roman" panose="02020603050405020304" pitchFamily="18" charset="0"/>
              </a:rPr>
              <a:t>Văn Xuân (2013),”Viết chương trình trò chuyện đơn giản bằng C#” Đại học sư phạm Đà Nẵng.sự, T. P. (2019). Thiết kế kiến trúc phần mềm. NXB Đại học Quốc gia Hà Nội</a:t>
            </a:r>
            <a:r>
              <a:rPr lang="vi-VN"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[9]. </a:t>
            </a:r>
            <a:r>
              <a:rPr lang="vi-VN" sz="1600" dirty="0">
                <a:latin typeface="Times New Roman" panose="02020603050405020304" pitchFamily="18" charset="0"/>
                <a:ea typeface="Calibri" panose="020F0502020204030204" pitchFamily="34" charset="0"/>
                <a:cs typeface="Times New Roman" panose="02020603050405020304" pitchFamily="18" charset="0"/>
              </a:rPr>
              <a:t>Thị Lan (2011), “Chuyển đổi giữa cơ sở dữ liệu quan hệ và XML” Đại Học Quốc Gia Hà Nội</a:t>
            </a:r>
            <a:r>
              <a:rPr lang="vi-VN" sz="1600" dirty="0" smtClean="0">
                <a:latin typeface="Times New Roman" panose="02020603050405020304" pitchFamily="18" charset="0"/>
                <a:ea typeface="Calibri" panose="020F0502020204030204" pitchFamily="34" charset="0"/>
                <a:cs typeface="Times New Roman" panose="02020603050405020304" pitchFamily="18" charset="0"/>
              </a:rPr>
              <a:t>.</a:t>
            </a:r>
            <a:endParaRPr lang="en-US" sz="16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[10]. </a:t>
            </a:r>
            <a:r>
              <a:rPr lang="vi-VN" sz="1600" dirty="0">
                <a:latin typeface="Times New Roman" panose="02020603050405020304" pitchFamily="18" charset="0"/>
                <a:ea typeface="Calibri" panose="020F0502020204030204" pitchFamily="34" charset="0"/>
                <a:cs typeface="Times New Roman" panose="02020603050405020304" pitchFamily="18" charset="0"/>
              </a:rPr>
              <a:t>Quý Hào (2012), “Nghiên cứu phối hợp hai phương pháp nén và mã hóa thông tin” Đại Học Quốc Gia Hà Nội.</a:t>
            </a:r>
            <a:endParaRPr lang="en-US" sz="1600" dirty="0">
              <a:effectLst/>
              <a:latin typeface="Calibri Light" panose="020F0302020204030204" pitchFamily="34" charset="0"/>
              <a:ea typeface="Calibri" panose="020F0502020204030204" pitchFamily="34" charset="0"/>
              <a:cs typeface="Times New Roman" panose="02020603050405020304" pitchFamily="18" charset="0"/>
            </a:endParaRPr>
          </a:p>
        </p:txBody>
      </p:sp>
      <p:sp>
        <p:nvSpPr>
          <p:cNvPr id="197" name="Google Shape;197;p18"/>
          <p:cNvSpPr txBox="1"/>
          <p:nvPr/>
        </p:nvSpPr>
        <p:spPr>
          <a:xfrm>
            <a:off x="419042" y="137530"/>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6. TÀI LIỆU THAM KHẢO</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Tree>
    <p:extLst>
      <p:ext uri="{BB962C8B-B14F-4D97-AF65-F5344CB8AC3E}">
        <p14:creationId xmlns:p14="http://schemas.microsoft.com/office/powerpoint/2010/main" val="7729044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p:nvPr/>
        </p:nvSpPr>
        <p:spPr>
          <a:xfrm>
            <a:off x="0" y="0"/>
            <a:ext cx="9144000" cy="944880"/>
          </a:xfrm>
          <a:prstGeom prst="rect">
            <a:avLst/>
          </a:prstGeom>
          <a:solidFill>
            <a:schemeClr val="lt2"/>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9" name="Google Shape;189;p18"/>
          <p:cNvSpPr txBox="1"/>
          <p:nvPr/>
        </p:nvSpPr>
        <p:spPr>
          <a:xfrm>
            <a:off x="419042" y="1144431"/>
            <a:ext cx="8313644" cy="3816429"/>
          </a:xfrm>
          <a:prstGeom prst="rect">
            <a:avLst/>
          </a:prstGeom>
          <a:noFill/>
          <a:ln>
            <a:noFill/>
          </a:ln>
        </p:spPr>
        <p:txBody>
          <a:bodyPr spcFirstLastPara="1" wrap="square" lIns="0" tIns="0" rIns="0" bIns="0" anchor="t" anchorCtr="0">
            <a:spAutoFit/>
          </a:bodyPr>
          <a:lstStyle/>
          <a:p>
            <a:pPr algn="just">
              <a:spcAft>
                <a:spcPts val="600"/>
              </a:spcAft>
            </a:pPr>
            <a:r>
              <a:rPr lang="en-US" sz="1600" dirty="0" smtClean="0">
                <a:effectLst/>
                <a:latin typeface="Times New Roman" panose="02020603050405020304" pitchFamily="18" charset="0"/>
                <a:ea typeface="Calibri" panose="020F0502020204030204" pitchFamily="34" charset="0"/>
                <a:cs typeface="Times New Roman" panose="02020603050405020304" pitchFamily="18" charset="0"/>
              </a:rPr>
              <a:t>[</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11</a:t>
            </a:r>
            <a:r>
              <a:rPr lang="en-US" sz="1600" dirty="0">
                <a:latin typeface="Times New Roman" panose="02020603050405020304" pitchFamily="18" charset="0"/>
                <a:ea typeface="Calibri" panose="020F0502020204030204" pitchFamily="34" charset="0"/>
                <a:cs typeface="Times New Roman" panose="02020603050405020304" pitchFamily="18" charset="0"/>
              </a:rPr>
              <a:t>]. Robert C. Martin (2016), “Clean Code: A Handbook of Agile Software Craftsmanship” Prentice Hall</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600"/>
              </a:spcAft>
            </a:pPr>
            <a:r>
              <a:rPr lang="en-US" sz="1600" dirty="0" smtClean="0">
                <a:latin typeface="Times New Roman" panose="02020603050405020304" pitchFamily="18" charset="0"/>
                <a:ea typeface="Calibri" panose="020F0502020204030204" pitchFamily="34" charset="0"/>
                <a:cs typeface="Times New Roman" panose="02020603050405020304" pitchFamily="18" charset="0"/>
              </a:rPr>
              <a:t>[12</a:t>
            </a:r>
            <a:r>
              <a:rPr lang="en-US" sz="1600" dirty="0">
                <a:latin typeface="Times New Roman" panose="02020603050405020304" pitchFamily="18" charset="0"/>
                <a:ea typeface="Calibri" panose="020F0502020204030204" pitchFamily="34" charset="0"/>
                <a:cs typeface="Times New Roman" panose="02020603050405020304" pitchFamily="18" charset="0"/>
              </a:rPr>
              <a:t>]. Clifford Stein (2019), “Introduction to Algorithms” The MIT Press</a:t>
            </a:r>
            <a:r>
              <a:rPr lang="en-US" sz="1600" dirty="0" smtClean="0">
                <a:latin typeface="Times New Roman" panose="02020603050405020304" pitchFamily="18" charset="0"/>
                <a:ea typeface="Calibri" panose="020F0502020204030204" pitchFamily="34" charset="0"/>
                <a:cs typeface="Times New Roman" panose="02020603050405020304" pitchFamily="18" charset="0"/>
              </a:rPr>
              <a:t>.</a:t>
            </a:r>
          </a:p>
          <a:p>
            <a:pPr algn="just">
              <a:spcAft>
                <a:spcPts val="600"/>
              </a:spcAft>
            </a:pPr>
            <a:r>
              <a:rPr lang="en-US" sz="1600" dirty="0" smtClean="0">
                <a:effectLst/>
                <a:latin typeface="Times New Roman" panose="02020603050405020304" pitchFamily="18" charset="0"/>
                <a:ea typeface="Calibri" panose="020F0502020204030204" pitchFamily="34" charset="0"/>
              </a:rPr>
              <a:t>[</a:t>
            </a:r>
            <a:r>
              <a:rPr lang="en-US" sz="1600" dirty="0" smtClean="0">
                <a:latin typeface="Times New Roman" panose="02020603050405020304" pitchFamily="18" charset="0"/>
                <a:ea typeface="Calibri" panose="020F0502020204030204" pitchFamily="34" charset="0"/>
              </a:rPr>
              <a:t>13</a:t>
            </a:r>
            <a:r>
              <a:rPr lang="en-US" sz="1600" dirty="0">
                <a:latin typeface="Times New Roman" panose="02020603050405020304" pitchFamily="18" charset="0"/>
                <a:ea typeface="Calibri" panose="020F0502020204030204" pitchFamily="34" charset="0"/>
              </a:rPr>
              <a:t>]. Harold Abelson, Gerald Jay </a:t>
            </a:r>
            <a:r>
              <a:rPr lang="en-US" sz="1600" dirty="0" err="1">
                <a:latin typeface="Times New Roman" panose="02020603050405020304" pitchFamily="18" charset="0"/>
                <a:ea typeface="Calibri" panose="020F0502020204030204" pitchFamily="34" charset="0"/>
              </a:rPr>
              <a:t>Sussman</a:t>
            </a:r>
            <a:r>
              <a:rPr lang="en-US" sz="1600" dirty="0">
                <a:latin typeface="Times New Roman" panose="02020603050405020304" pitchFamily="18" charset="0"/>
                <a:ea typeface="Calibri" panose="020F0502020204030204" pitchFamily="34" charset="0"/>
              </a:rPr>
              <a:t>, Julie </a:t>
            </a:r>
            <a:r>
              <a:rPr lang="en-US" sz="1600" dirty="0" err="1">
                <a:latin typeface="Times New Roman" panose="02020603050405020304" pitchFamily="18" charset="0"/>
                <a:ea typeface="Calibri" panose="020F0502020204030204" pitchFamily="34" charset="0"/>
              </a:rPr>
              <a:t>Sussman</a:t>
            </a:r>
            <a:r>
              <a:rPr lang="en-US" sz="1600" dirty="0">
                <a:latin typeface="Times New Roman" panose="02020603050405020304" pitchFamily="18" charset="0"/>
                <a:ea typeface="Calibri" panose="020F0502020204030204" pitchFamily="34" charset="0"/>
              </a:rPr>
              <a:t> (2006), “Structure and Interpretation of Computer Programs (SICP)” The MIT Press</a:t>
            </a:r>
            <a:r>
              <a:rPr lang="en-US" sz="1600" dirty="0" smtClean="0">
                <a:latin typeface="Times New Roman" panose="02020603050405020304" pitchFamily="18" charset="0"/>
                <a:ea typeface="Calibri" panose="020F0502020204030204" pitchFamily="34" charset="0"/>
              </a:rPr>
              <a:t>.</a:t>
            </a:r>
          </a:p>
          <a:p>
            <a:pPr algn="just">
              <a:spcAft>
                <a:spcPts val="600"/>
              </a:spcAft>
            </a:pPr>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[14]. Robert C. Martin (2010), “The Clean Coder: A Code of Conduct for Professional Programmers” Prentice Hall</a:t>
            </a:r>
            <a:r>
              <a:rPr lang="en-US" sz="1600" dirty="0" smtClean="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a:t>
            </a:r>
          </a:p>
          <a:p>
            <a:pPr algn="just">
              <a:spcAft>
                <a:spcPts val="600"/>
              </a:spcAft>
            </a:pPr>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[15]. Steve McConnell (2010), “Code Complete: A Practical Handbook of Software Construction” Microsoft Press</a:t>
            </a:r>
            <a:r>
              <a:rPr lang="en-US" sz="1600" dirty="0" smtClean="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a:t>
            </a:r>
          </a:p>
          <a:p>
            <a:pPr algn="just">
              <a:spcAft>
                <a:spcPts val="600"/>
              </a:spcAft>
            </a:pPr>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[16]. Erich Gamma (2009), “Design Patterns: Elements of Reusable Object-Oriented Software” Addison-Wesley Professional</a:t>
            </a:r>
            <a:r>
              <a:rPr lang="en-US" sz="1600" dirty="0" smtClean="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a:t>
            </a:r>
          </a:p>
          <a:p>
            <a:pPr algn="just">
              <a:spcAft>
                <a:spcPts val="600"/>
              </a:spcAft>
            </a:pPr>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[17]. David Thomas (2021) “The Pragmatic Programmer” Addison-Wesley Professional</a:t>
            </a:r>
            <a:r>
              <a:rPr lang="en-US" sz="1600" dirty="0" smtClean="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a:t>
            </a:r>
          </a:p>
          <a:p>
            <a:pPr algn="just">
              <a:spcAft>
                <a:spcPts val="600"/>
              </a:spcAft>
            </a:pPr>
            <a:r>
              <a:rPr lang="en-US" sz="1600" dirty="0">
                <a:solidFill>
                  <a:schemeClr val="dk1"/>
                </a:solidFill>
                <a:latin typeface="Times New Roman" panose="02020603050405020304" pitchFamily="18" charset="0"/>
                <a:ea typeface="Calibri" panose="020F0502020204030204" pitchFamily="34" charset="0"/>
                <a:cs typeface="Times New Roman" panose="02020603050405020304" pitchFamily="18" charset="0"/>
                <a:sym typeface="Merriweather Sans"/>
              </a:rPr>
              <a:t>[18]. Eric Freeman (2020), “A Brain-Friendly Guide” O’Reilly Media.</a:t>
            </a:r>
            <a:endParaRPr lang="en-US" sz="1600" dirty="0">
              <a:solidFill>
                <a:schemeClr val="dk1"/>
              </a:solidFill>
              <a:latin typeface="Times New Roman" panose="02020603050405020304" pitchFamily="18" charset="0"/>
              <a:ea typeface="Merriweather Sans"/>
              <a:cs typeface="Times New Roman" panose="02020603050405020304" pitchFamily="18" charset="0"/>
              <a:sym typeface="Merriweather Sans"/>
            </a:endParaRPr>
          </a:p>
        </p:txBody>
      </p:sp>
      <p:sp>
        <p:nvSpPr>
          <p:cNvPr id="197" name="Google Shape;197;p18"/>
          <p:cNvSpPr txBox="1"/>
          <p:nvPr/>
        </p:nvSpPr>
        <p:spPr>
          <a:xfrm>
            <a:off x="419042" y="137530"/>
            <a:ext cx="6817800" cy="7017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800" b="1" dirty="0">
                <a:solidFill>
                  <a:schemeClr val="dk2"/>
                </a:solidFill>
                <a:latin typeface="Times New Roman" panose="02020603050405020304" pitchFamily="18" charset="0"/>
                <a:ea typeface="Merriweather"/>
                <a:cs typeface="Times New Roman" panose="02020603050405020304" pitchFamily="18" charset="0"/>
                <a:sym typeface="Merriweather"/>
              </a:rPr>
              <a:t>6. TÀI LIỆU THAM KHẢO</a:t>
            </a:r>
            <a:endParaRPr sz="3800" b="1" dirty="0">
              <a:solidFill>
                <a:schemeClr val="dk2"/>
              </a:solidFill>
              <a:latin typeface="Times New Roman" panose="02020603050405020304" pitchFamily="18" charset="0"/>
              <a:ea typeface="Merriweather"/>
              <a:cs typeface="Times New Roman" panose="02020603050405020304" pitchFamily="18" charset="0"/>
              <a:sym typeface="Merriweather"/>
            </a:endParaRPr>
          </a:p>
        </p:txBody>
      </p:sp>
    </p:spTree>
    <p:extLst>
      <p:ext uri="{BB962C8B-B14F-4D97-AF65-F5344CB8AC3E}">
        <p14:creationId xmlns:p14="http://schemas.microsoft.com/office/powerpoint/2010/main" val="23840426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587B69"/>
        </a:solidFill>
        <a:effectLst/>
      </p:bgPr>
    </p:bg>
    <p:spTree>
      <p:nvGrpSpPr>
        <p:cNvPr id="1" name="Shape 345"/>
        <p:cNvGrpSpPr/>
        <p:nvPr/>
      </p:nvGrpSpPr>
      <p:grpSpPr>
        <a:xfrm>
          <a:off x="0" y="0"/>
          <a:ext cx="0" cy="0"/>
          <a:chOff x="0" y="0"/>
          <a:chExt cx="0" cy="0"/>
        </a:xfrm>
      </p:grpSpPr>
      <p:sp>
        <p:nvSpPr>
          <p:cNvPr id="346" name="Google Shape;346;p29"/>
          <p:cNvSpPr/>
          <p:nvPr/>
        </p:nvSpPr>
        <p:spPr>
          <a:xfrm>
            <a:off x="0" y="3807212"/>
            <a:ext cx="9144000" cy="1341300"/>
          </a:xfrm>
          <a:prstGeom prst="rect">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7" name="Google Shape;347;p29"/>
          <p:cNvSpPr txBox="1"/>
          <p:nvPr/>
        </p:nvSpPr>
        <p:spPr>
          <a:xfrm>
            <a:off x="314533" y="1603279"/>
            <a:ext cx="8514934" cy="5847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3800" b="1" dirty="0">
                <a:solidFill>
                  <a:srgbClr val="FFFFFF"/>
                </a:solidFill>
                <a:latin typeface="Times New Roman" panose="02020603050405020304" pitchFamily="18" charset="0"/>
                <a:ea typeface="Merriweather"/>
                <a:cs typeface="Times New Roman" panose="02020603050405020304" pitchFamily="18" charset="0"/>
                <a:sym typeface="Merriweather"/>
              </a:rPr>
              <a:t>Cảm ơn quý Thầy Cô đã lắng nghe!</a:t>
            </a:r>
            <a:endParaRPr sz="700" b="1" dirty="0">
              <a:latin typeface="Times New Roman" panose="02020603050405020304" pitchFamily="18" charset="0"/>
              <a:ea typeface="Merriweather"/>
              <a:cs typeface="Times New Roman" panose="02020603050405020304" pitchFamily="18" charset="0"/>
              <a:sym typeface="Merriweather"/>
            </a:endParaRPr>
          </a:p>
        </p:txBody>
      </p:sp>
      <p:sp>
        <p:nvSpPr>
          <p:cNvPr id="2" name="Hộp_Văn_Bản 3">
            <a:extLst>
              <a:ext uri="{FF2B5EF4-FFF2-40B4-BE49-F238E27FC236}">
                <a16:creationId xmlns:a16="http://schemas.microsoft.com/office/drawing/2014/main" id="{284EF8C9-4C62-BCF2-12F8-C42FDB9CEB45}"/>
              </a:ext>
            </a:extLst>
          </p:cNvPr>
          <p:cNvSpPr txBox="1"/>
          <p:nvPr/>
        </p:nvSpPr>
        <p:spPr>
          <a:xfrm>
            <a:off x="5273750" y="4012218"/>
            <a:ext cx="2874178" cy="338554"/>
          </a:xfrm>
          <a:prstGeom prst="rect">
            <a:avLst/>
          </a:prstGeom>
          <a:noFill/>
        </p:spPr>
        <p:txBody>
          <a:bodyPr wrap="square">
            <a:spAutoFit/>
          </a:bodyPr>
          <a:lstStyle/>
          <a:p>
            <a:pPr eaLnBrk="1" hangingPunct="1">
              <a:defRPr/>
            </a:pPr>
            <a:r>
              <a:rPr lang="en-US" sz="1600" b="1" dirty="0" err="1"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Sinh</a:t>
            </a:r>
            <a:r>
              <a:rPr lang="en-US" sz="1600" b="1" dirty="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 viên: Trương Đăng Quý</a:t>
            </a:r>
            <a:endParaRPr lang="en-US" sz="1600" b="1" dirty="0">
              <a:solidFill>
                <a:schemeClr val="tx1"/>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Hộp_Văn_Bản 3">
            <a:extLst>
              <a:ext uri="{FF2B5EF4-FFF2-40B4-BE49-F238E27FC236}">
                <a16:creationId xmlns:a16="http://schemas.microsoft.com/office/drawing/2014/main" id="{A057EF38-32D0-53F5-E794-54236A2BDF70}"/>
              </a:ext>
            </a:extLst>
          </p:cNvPr>
          <p:cNvSpPr txBox="1"/>
          <p:nvPr/>
        </p:nvSpPr>
        <p:spPr>
          <a:xfrm>
            <a:off x="5273750" y="4350772"/>
            <a:ext cx="3555718" cy="338554"/>
          </a:xfrm>
          <a:prstGeom prst="rect">
            <a:avLst/>
          </a:prstGeom>
          <a:noFill/>
        </p:spPr>
        <p:txBody>
          <a:bodyPr wrap="square">
            <a:spAutoFit/>
          </a:bodyPr>
          <a:lstStyle/>
          <a:p>
            <a:pPr eaLnBrk="1" hangingPunct="1">
              <a:defRPr/>
            </a:pPr>
            <a:r>
              <a:rPr lang="en-US" sz="1600" b="1" dirty="0">
                <a:solidFill>
                  <a:schemeClr val="tx1"/>
                </a:solidFill>
                <a:latin typeface="Times New Roman" panose="02020603050405020304" pitchFamily="18" charset="0"/>
                <a:ea typeface="Verdana" panose="020B0604030504040204" pitchFamily="34" charset="0"/>
                <a:cs typeface="Times New Roman" panose="02020603050405020304" pitchFamily="18" charset="0"/>
              </a:rPr>
              <a:t>Email: </a:t>
            </a:r>
            <a:r>
              <a:rPr lang="en-US" sz="1600" b="1" dirty="0" smtClean="0">
                <a:solidFill>
                  <a:schemeClr val="tx1"/>
                </a:solidFill>
                <a:latin typeface="Times New Roman" panose="02020603050405020304" pitchFamily="18" charset="0"/>
                <a:ea typeface="Verdana" panose="020B0604030504040204" pitchFamily="34" charset="0"/>
                <a:cs typeface="Times New Roman" panose="02020603050405020304" pitchFamily="18" charset="0"/>
              </a:rPr>
              <a:t>0850080039@hcmunre.edu.vn</a:t>
            </a:r>
            <a:endParaRPr lang="en-US" sz="1600" b="1" dirty="0">
              <a:solidFill>
                <a:schemeClr val="tx1"/>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igh school math presentation">
  <a:themeElements>
    <a:clrScheme name="Custom 347">
      <a:dk1>
        <a:srgbClr val="000000"/>
      </a:dk1>
      <a:lt1>
        <a:srgbClr val="EDECED"/>
      </a:lt1>
      <a:dk2>
        <a:srgbClr val="FFFFFF"/>
      </a:dk2>
      <a:lt2>
        <a:srgbClr val="587B69"/>
      </a:lt2>
      <a:accent1>
        <a:srgbClr val="D75B3F"/>
      </a:accent1>
      <a:accent2>
        <a:srgbClr val="CBD4C5"/>
      </a:accent2>
      <a:accent3>
        <a:srgbClr val="EDECED"/>
      </a:accent3>
      <a:accent4>
        <a:srgbClr val="FFFFFF"/>
      </a:accent4>
      <a:accent5>
        <a:srgbClr val="587B69"/>
      </a:accent5>
      <a:accent6>
        <a:srgbClr val="D75B3F"/>
      </a:accent6>
      <a:hlink>
        <a:srgbClr val="0000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1042</TotalTime>
  <Words>1952</Words>
  <Application>Microsoft Office PowerPoint</Application>
  <PresentationFormat>On-screen Show (16:9)</PresentationFormat>
  <Paragraphs>148</Paragraphs>
  <Slides>23</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Merriweather</vt:lpstr>
      <vt:lpstr>Wingdings</vt:lpstr>
      <vt:lpstr>Verdana</vt:lpstr>
      <vt:lpstr>Times New Roman</vt:lpstr>
      <vt:lpstr>Calibri Light</vt:lpstr>
      <vt:lpstr>Merriweather Sans</vt:lpstr>
      <vt:lpstr>Calibri</vt:lpstr>
      <vt:lpstr>High school math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Quý Trương Đăng</dc:creator>
  <cp:lastModifiedBy>MSI</cp:lastModifiedBy>
  <cp:revision>60</cp:revision>
  <dcterms:modified xsi:type="dcterms:W3CDTF">2023-12-25T11:45:44Z</dcterms:modified>
</cp:coreProperties>
</file>